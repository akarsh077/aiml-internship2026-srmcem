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1"/>
  </p:notesMasterIdLst>
  <p:sldIdLst>
    <p:sldId id="256" r:id="rId2"/>
    <p:sldId id="354" r:id="rId3"/>
    <p:sldId id="355" r:id="rId4"/>
    <p:sldId id="257" r:id="rId5"/>
    <p:sldId id="258" r:id="rId6"/>
    <p:sldId id="259" r:id="rId7"/>
    <p:sldId id="349" r:id="rId8"/>
    <p:sldId id="356" r:id="rId9"/>
    <p:sldId id="364" r:id="rId10"/>
    <p:sldId id="357" r:id="rId11"/>
    <p:sldId id="363" r:id="rId12"/>
    <p:sldId id="359" r:id="rId13"/>
    <p:sldId id="360" r:id="rId14"/>
    <p:sldId id="361" r:id="rId15"/>
    <p:sldId id="350" r:id="rId16"/>
    <p:sldId id="351" r:id="rId17"/>
    <p:sldId id="352" r:id="rId18"/>
    <p:sldId id="348" r:id="rId19"/>
    <p:sldId id="353" r:id="rId20"/>
  </p:sldIdLst>
  <p:sldSz cx="8999538" cy="57594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4660"/>
  </p:normalViewPr>
  <p:slideViewPr>
    <p:cSldViewPr snapToGrid="0">
      <p:cViewPr varScale="1">
        <p:scale>
          <a:sx n="114" d="100"/>
          <a:sy n="114" d="100"/>
        </p:scale>
        <p:origin x="643"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6BCFA6-AEBD-4DD0-86FD-77DD48DA5BD0}" type="datetimeFigureOut">
              <a:rPr lang="en-US" smtClean="0"/>
              <a:t>7/14/2026</a:t>
            </a:fld>
            <a:endParaRPr lang="en-US"/>
          </a:p>
        </p:txBody>
      </p:sp>
      <p:sp>
        <p:nvSpPr>
          <p:cNvPr id="4" name="Slide Image Placeholder 3"/>
          <p:cNvSpPr>
            <a:spLocks noGrp="1" noRot="1" noChangeAspect="1"/>
          </p:cNvSpPr>
          <p:nvPr>
            <p:ph type="sldImg" idx="2"/>
          </p:nvPr>
        </p:nvSpPr>
        <p:spPr>
          <a:xfrm>
            <a:off x="1017588" y="1143000"/>
            <a:ext cx="48228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767BE4-84E3-47A9-BE04-E5C0295E5BF5}" type="slidenum">
              <a:rPr lang="en-US" smtClean="0"/>
              <a:t>‹#›</a:t>
            </a:fld>
            <a:endParaRPr lang="en-US"/>
          </a:p>
        </p:txBody>
      </p:sp>
    </p:spTree>
    <p:extLst>
      <p:ext uri="{BB962C8B-B14F-4D97-AF65-F5344CB8AC3E}">
        <p14:creationId xmlns:p14="http://schemas.microsoft.com/office/powerpoint/2010/main" val="1569545876"/>
      </p:ext>
    </p:extLst>
  </p:cSld>
  <p:clrMap bg1="lt1" tx1="dk1" bg2="lt2" tx2="dk2" accent1="accent1" accent2="accent2" accent3="accent3" accent4="accent4" accent5="accent5" accent6="accent6" hlink="hlink" folHlink="folHlink"/>
  <p:notesStyle>
    <a:lvl1pPr marL="0" algn="l" defTabSz="708225" rtl="0" eaLnBrk="1" latinLnBrk="0" hangingPunct="1">
      <a:defRPr sz="928" kern="1200">
        <a:solidFill>
          <a:schemeClr val="tx1"/>
        </a:solidFill>
        <a:latin typeface="+mn-lt"/>
        <a:ea typeface="+mn-ea"/>
        <a:cs typeface="+mn-cs"/>
      </a:defRPr>
    </a:lvl1pPr>
    <a:lvl2pPr marL="354111" algn="l" defTabSz="708225" rtl="0" eaLnBrk="1" latinLnBrk="0" hangingPunct="1">
      <a:defRPr sz="928" kern="1200">
        <a:solidFill>
          <a:schemeClr val="tx1"/>
        </a:solidFill>
        <a:latin typeface="+mn-lt"/>
        <a:ea typeface="+mn-ea"/>
        <a:cs typeface="+mn-cs"/>
      </a:defRPr>
    </a:lvl2pPr>
    <a:lvl3pPr marL="708225" algn="l" defTabSz="708225" rtl="0" eaLnBrk="1" latinLnBrk="0" hangingPunct="1">
      <a:defRPr sz="928" kern="1200">
        <a:solidFill>
          <a:schemeClr val="tx1"/>
        </a:solidFill>
        <a:latin typeface="+mn-lt"/>
        <a:ea typeface="+mn-ea"/>
        <a:cs typeface="+mn-cs"/>
      </a:defRPr>
    </a:lvl3pPr>
    <a:lvl4pPr marL="1062334" algn="l" defTabSz="708225" rtl="0" eaLnBrk="1" latinLnBrk="0" hangingPunct="1">
      <a:defRPr sz="928" kern="1200">
        <a:solidFill>
          <a:schemeClr val="tx1"/>
        </a:solidFill>
        <a:latin typeface="+mn-lt"/>
        <a:ea typeface="+mn-ea"/>
        <a:cs typeface="+mn-cs"/>
      </a:defRPr>
    </a:lvl4pPr>
    <a:lvl5pPr marL="1416447" algn="l" defTabSz="708225" rtl="0" eaLnBrk="1" latinLnBrk="0" hangingPunct="1">
      <a:defRPr sz="928" kern="1200">
        <a:solidFill>
          <a:schemeClr val="tx1"/>
        </a:solidFill>
        <a:latin typeface="+mn-lt"/>
        <a:ea typeface="+mn-ea"/>
        <a:cs typeface="+mn-cs"/>
      </a:defRPr>
    </a:lvl5pPr>
    <a:lvl6pPr marL="1770558" algn="l" defTabSz="708225" rtl="0" eaLnBrk="1" latinLnBrk="0" hangingPunct="1">
      <a:defRPr sz="928" kern="1200">
        <a:solidFill>
          <a:schemeClr val="tx1"/>
        </a:solidFill>
        <a:latin typeface="+mn-lt"/>
        <a:ea typeface="+mn-ea"/>
        <a:cs typeface="+mn-cs"/>
      </a:defRPr>
    </a:lvl6pPr>
    <a:lvl7pPr marL="2124671" algn="l" defTabSz="708225" rtl="0" eaLnBrk="1" latinLnBrk="0" hangingPunct="1">
      <a:defRPr sz="928" kern="1200">
        <a:solidFill>
          <a:schemeClr val="tx1"/>
        </a:solidFill>
        <a:latin typeface="+mn-lt"/>
        <a:ea typeface="+mn-ea"/>
        <a:cs typeface="+mn-cs"/>
      </a:defRPr>
    </a:lvl7pPr>
    <a:lvl8pPr marL="2478781" algn="l" defTabSz="708225" rtl="0" eaLnBrk="1" latinLnBrk="0" hangingPunct="1">
      <a:defRPr sz="928" kern="1200">
        <a:solidFill>
          <a:schemeClr val="tx1"/>
        </a:solidFill>
        <a:latin typeface="+mn-lt"/>
        <a:ea typeface="+mn-ea"/>
        <a:cs typeface="+mn-cs"/>
      </a:defRPr>
    </a:lvl8pPr>
    <a:lvl9pPr marL="2832894" algn="l" defTabSz="708225" rtl="0" eaLnBrk="1" latinLnBrk="0" hangingPunct="1">
      <a:defRPr sz="92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1017588" y="1143000"/>
            <a:ext cx="4822825" cy="3086100"/>
          </a:xfrm>
          <a:prstGeom prst="rect">
            <a:avLst/>
          </a:prstGeom>
        </p:spPr>
        <p:txBody>
          <a:bodyPr/>
          <a:lstStyle/>
          <a:p>
            <a:endParaRPr lang="en-IN"/>
          </a:p>
        </p:txBody>
      </p:sp>
      <p:sp>
        <p:nvSpPr>
          <p:cNvPr id="380" name="PlaceHolder 2"/>
          <p:cNvSpPr>
            <a:spLocks noGrp="1"/>
          </p:cNvSpPr>
          <p:nvPr>
            <p:ph type="body"/>
          </p:nvPr>
        </p:nvSpPr>
        <p:spPr>
          <a:xfrm>
            <a:off x="685800" y="4400640"/>
            <a:ext cx="5486040" cy="3600000"/>
          </a:xfrm>
          <a:prstGeom prst="rect">
            <a:avLst/>
          </a:prstGeom>
        </p:spPr>
        <p:txBody>
          <a:bodyPr>
            <a:noAutofit/>
          </a:bodyPr>
          <a:lstStyle/>
          <a:p>
            <a:pPr marL="0" indent="0">
              <a:buFont typeface="Arial" panose="020B0604020202020204" pitchFamily="34" charset="0"/>
              <a:buNone/>
              <a:tabLst>
                <a:tab pos="0" algn="l"/>
              </a:tabLst>
            </a:pPr>
            <a:r>
              <a:rPr lang="en-IN" sz="2000" b="0" spc="-1"/>
              <a:t>thank you very much for joining</a:t>
            </a:r>
            <a:r>
              <a:rPr lang="en-IN" b="0"/>
              <a:t> this </a:t>
            </a:r>
            <a:r>
              <a:rPr lang="en-IN"/>
              <a:t>PPT</a:t>
            </a:r>
            <a:r>
              <a:rPr lang="en-IN" b="0"/>
              <a:t>, keep learning.</a:t>
            </a: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t>18</a:t>
            </a:fld>
            <a:endParaRPr lang="en-US" sz="1200" b="0" strike="noStrike" spc="-1">
              <a:latin typeface="Times New Roman"/>
            </a:endParaRPr>
          </a:p>
        </p:txBody>
      </p:sp>
    </p:spTree>
    <p:extLst>
      <p:ext uri="{BB962C8B-B14F-4D97-AF65-F5344CB8AC3E}">
        <p14:creationId xmlns:p14="http://schemas.microsoft.com/office/powerpoint/2010/main" val="2385314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70BAD-9632-6FBF-EE63-9CBDC96CA0A3}"/>
            </a:ext>
          </a:extLst>
        </p:cNvPr>
        <p:cNvGrpSpPr/>
        <p:nvPr/>
      </p:nvGrpSpPr>
      <p:grpSpPr>
        <a:xfrm>
          <a:off x="0" y="0"/>
          <a:ext cx="0" cy="0"/>
          <a:chOff x="0" y="0"/>
          <a:chExt cx="0" cy="0"/>
        </a:xfrm>
      </p:grpSpPr>
      <p:sp>
        <p:nvSpPr>
          <p:cNvPr id="379" name="PlaceHolder 1">
            <a:extLst>
              <a:ext uri="{FF2B5EF4-FFF2-40B4-BE49-F238E27FC236}">
                <a16:creationId xmlns:a16="http://schemas.microsoft.com/office/drawing/2014/main" id="{602523D1-654E-9612-C63D-15F140DEFC65}"/>
              </a:ext>
            </a:extLst>
          </p:cNvPr>
          <p:cNvSpPr>
            <a:spLocks noGrp="1" noRot="1" noChangeAspect="1"/>
          </p:cNvSpPr>
          <p:nvPr>
            <p:ph type="sldImg"/>
          </p:nvPr>
        </p:nvSpPr>
        <p:spPr>
          <a:xfrm>
            <a:off x="1017588" y="1143000"/>
            <a:ext cx="4822825" cy="3086100"/>
          </a:xfrm>
          <a:prstGeom prst="rect">
            <a:avLst/>
          </a:prstGeom>
        </p:spPr>
        <p:txBody>
          <a:bodyPr/>
          <a:lstStyle/>
          <a:p>
            <a:endParaRPr lang="en-IN"/>
          </a:p>
        </p:txBody>
      </p:sp>
      <p:sp>
        <p:nvSpPr>
          <p:cNvPr id="380" name="PlaceHolder 2">
            <a:extLst>
              <a:ext uri="{FF2B5EF4-FFF2-40B4-BE49-F238E27FC236}">
                <a16:creationId xmlns:a16="http://schemas.microsoft.com/office/drawing/2014/main" id="{DB424D0E-F4C9-C92D-C2E0-B4C0B5637E97}"/>
              </a:ext>
            </a:extLst>
          </p:cNvPr>
          <p:cNvSpPr>
            <a:spLocks noGrp="1"/>
          </p:cNvSpPr>
          <p:nvPr>
            <p:ph type="body"/>
          </p:nvPr>
        </p:nvSpPr>
        <p:spPr>
          <a:xfrm>
            <a:off x="685800" y="4400640"/>
            <a:ext cx="5486040" cy="3600000"/>
          </a:xfrm>
          <a:prstGeom prst="rect">
            <a:avLst/>
          </a:prstGeom>
        </p:spPr>
        <p:txBody>
          <a:bodyPr>
            <a:noAutofit/>
          </a:bodyPr>
          <a:lstStyle/>
          <a:p>
            <a:pPr marL="0" indent="0">
              <a:buFont typeface="Arial" panose="020B0604020202020204" pitchFamily="34" charset="0"/>
              <a:buNone/>
              <a:tabLst>
                <a:tab pos="0" algn="l"/>
              </a:tabLst>
            </a:pPr>
            <a:r>
              <a:rPr lang="en-IN" sz="2000" b="0" spc="-1"/>
              <a:t>thank you very much for joining</a:t>
            </a:r>
            <a:r>
              <a:rPr lang="en-IN" b="0"/>
              <a:t> this </a:t>
            </a:r>
            <a:r>
              <a:rPr lang="en-IN"/>
              <a:t>PPT</a:t>
            </a:r>
            <a:r>
              <a:rPr lang="en-IN" b="0"/>
              <a:t>, keep learning.</a:t>
            </a:r>
          </a:p>
        </p:txBody>
      </p:sp>
      <p:sp>
        <p:nvSpPr>
          <p:cNvPr id="381" name="TextShape 3">
            <a:extLst>
              <a:ext uri="{FF2B5EF4-FFF2-40B4-BE49-F238E27FC236}">
                <a16:creationId xmlns:a16="http://schemas.microsoft.com/office/drawing/2014/main" id="{FE8F4DFE-AB3D-3393-696E-0ABD383C6443}"/>
              </a:ext>
            </a:extLst>
          </p:cNvPr>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t>19</a:t>
            </a:fld>
            <a:endParaRPr lang="en-US" sz="1200" b="0" strike="noStrike" spc="-1">
              <a:latin typeface="Times New Roman"/>
            </a:endParaRPr>
          </a:p>
        </p:txBody>
      </p:sp>
    </p:spTree>
    <p:extLst>
      <p:ext uri="{BB962C8B-B14F-4D97-AF65-F5344CB8AC3E}">
        <p14:creationId xmlns:p14="http://schemas.microsoft.com/office/powerpoint/2010/main" val="2414829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4942" y="942577"/>
            <a:ext cx="6749654" cy="2005142"/>
          </a:xfrm>
        </p:spPr>
        <p:txBody>
          <a:bodyPr anchor="b"/>
          <a:lstStyle>
            <a:lvl1pPr algn="ctr">
              <a:defRPr sz="4429"/>
            </a:lvl1pPr>
          </a:lstStyle>
          <a:p>
            <a:r>
              <a:rPr lang="en-US" dirty="0"/>
              <a:t>Click to edit Master title style</a:t>
            </a:r>
          </a:p>
        </p:txBody>
      </p:sp>
      <p:sp>
        <p:nvSpPr>
          <p:cNvPr id="3" name="Subtitle 2"/>
          <p:cNvSpPr>
            <a:spLocks noGrp="1"/>
          </p:cNvSpPr>
          <p:nvPr>
            <p:ph type="subTitle" idx="1"/>
          </p:nvPr>
        </p:nvSpPr>
        <p:spPr>
          <a:xfrm>
            <a:off x="1124942" y="3025045"/>
            <a:ext cx="6749654" cy="1390533"/>
          </a:xfrm>
        </p:spPr>
        <p:txBody>
          <a:bodyPr/>
          <a:lstStyle>
            <a:lvl1pPr marL="0" indent="0" algn="ctr">
              <a:buNone/>
              <a:defRPr sz="1772"/>
            </a:lvl1pPr>
            <a:lvl2pPr marL="337505" indent="0" algn="ctr">
              <a:buNone/>
              <a:defRPr sz="1476"/>
            </a:lvl2pPr>
            <a:lvl3pPr marL="675010" indent="0" algn="ctr">
              <a:buNone/>
              <a:defRPr sz="1329"/>
            </a:lvl3pPr>
            <a:lvl4pPr marL="1012515" indent="0" algn="ctr">
              <a:buNone/>
              <a:defRPr sz="1181"/>
            </a:lvl4pPr>
            <a:lvl5pPr marL="1350020" indent="0" algn="ctr">
              <a:buNone/>
              <a:defRPr sz="1181"/>
            </a:lvl5pPr>
            <a:lvl6pPr marL="1687525" indent="0" algn="ctr">
              <a:buNone/>
              <a:defRPr sz="1181"/>
            </a:lvl6pPr>
            <a:lvl7pPr marL="2025030" indent="0" algn="ctr">
              <a:buNone/>
              <a:defRPr sz="1181"/>
            </a:lvl7pPr>
            <a:lvl8pPr marL="2362535" indent="0" algn="ctr">
              <a:buNone/>
              <a:defRPr sz="1181"/>
            </a:lvl8pPr>
            <a:lvl9pPr marL="2700040" indent="0" algn="ctr">
              <a:buNone/>
              <a:defRPr sz="1181"/>
            </a:lvl9pPr>
          </a:lstStyle>
          <a:p>
            <a:r>
              <a:rPr lang="en-US" dirty="0"/>
              <a:t>Click to edit Master subtitle style</a:t>
            </a:r>
          </a:p>
        </p:txBody>
      </p:sp>
      <p:sp>
        <p:nvSpPr>
          <p:cNvPr id="4" name="Date Placeholder 3"/>
          <p:cNvSpPr>
            <a:spLocks noGrp="1"/>
          </p:cNvSpPr>
          <p:nvPr>
            <p:ph type="dt" sz="half" idx="10"/>
          </p:nvPr>
        </p:nvSpPr>
        <p:spPr/>
        <p:txBody>
          <a:bodyPr/>
          <a:lstStyle/>
          <a:p>
            <a:fld id="{9A627D40-C749-418C-A4F5-C4EE69FA3AD0}"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281511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627D40-C749-418C-A4F5-C4EE69FA3AD0}"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1977498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1435864"/>
            <a:ext cx="7762102" cy="2395771"/>
          </a:xfrm>
        </p:spPr>
        <p:txBody>
          <a:bodyPr anchor="b"/>
          <a:lstStyle>
            <a:lvl1pPr>
              <a:defRPr sz="4429"/>
            </a:lvl1pPr>
          </a:lstStyle>
          <a:p>
            <a:r>
              <a:rPr lang="en-US"/>
              <a:t>Click to edit Master title style</a:t>
            </a:r>
            <a:endParaRPr lang="en-US" dirty="0"/>
          </a:p>
        </p:txBody>
      </p:sp>
      <p:sp>
        <p:nvSpPr>
          <p:cNvPr id="3" name="Text Placeholder 2"/>
          <p:cNvSpPr>
            <a:spLocks noGrp="1"/>
          </p:cNvSpPr>
          <p:nvPr>
            <p:ph type="body" idx="1"/>
          </p:nvPr>
        </p:nvSpPr>
        <p:spPr>
          <a:xfrm>
            <a:off x="614031" y="3854300"/>
            <a:ext cx="7762102" cy="1259879"/>
          </a:xfrm>
        </p:spPr>
        <p:txBody>
          <a:bodyPr/>
          <a:lstStyle>
            <a:lvl1pPr marL="0" indent="0">
              <a:buNone/>
              <a:defRPr sz="1772">
                <a:solidFill>
                  <a:schemeClr val="tx1">
                    <a:tint val="75000"/>
                  </a:schemeClr>
                </a:solidFill>
              </a:defRPr>
            </a:lvl1pPr>
            <a:lvl2pPr marL="337505" indent="0">
              <a:buNone/>
              <a:defRPr sz="1476">
                <a:solidFill>
                  <a:schemeClr val="tx1">
                    <a:tint val="75000"/>
                  </a:schemeClr>
                </a:solidFill>
              </a:defRPr>
            </a:lvl2pPr>
            <a:lvl3pPr marL="675010" indent="0">
              <a:buNone/>
              <a:defRPr sz="1329">
                <a:solidFill>
                  <a:schemeClr val="tx1">
                    <a:tint val="75000"/>
                  </a:schemeClr>
                </a:solidFill>
              </a:defRPr>
            </a:lvl3pPr>
            <a:lvl4pPr marL="1012515" indent="0">
              <a:buNone/>
              <a:defRPr sz="1181">
                <a:solidFill>
                  <a:schemeClr val="tx1">
                    <a:tint val="75000"/>
                  </a:schemeClr>
                </a:solidFill>
              </a:defRPr>
            </a:lvl4pPr>
            <a:lvl5pPr marL="1350020" indent="0">
              <a:buNone/>
              <a:defRPr sz="1181">
                <a:solidFill>
                  <a:schemeClr val="tx1">
                    <a:tint val="75000"/>
                  </a:schemeClr>
                </a:solidFill>
              </a:defRPr>
            </a:lvl5pPr>
            <a:lvl6pPr marL="1687525" indent="0">
              <a:buNone/>
              <a:defRPr sz="1181">
                <a:solidFill>
                  <a:schemeClr val="tx1">
                    <a:tint val="75000"/>
                  </a:schemeClr>
                </a:solidFill>
              </a:defRPr>
            </a:lvl6pPr>
            <a:lvl7pPr marL="2025030" indent="0">
              <a:buNone/>
              <a:defRPr sz="1181">
                <a:solidFill>
                  <a:schemeClr val="tx1">
                    <a:tint val="75000"/>
                  </a:schemeClr>
                </a:solidFill>
              </a:defRPr>
            </a:lvl7pPr>
            <a:lvl8pPr marL="2362535" indent="0">
              <a:buNone/>
              <a:defRPr sz="1181">
                <a:solidFill>
                  <a:schemeClr val="tx1">
                    <a:tint val="75000"/>
                  </a:schemeClr>
                </a:solidFill>
              </a:defRPr>
            </a:lvl8pPr>
            <a:lvl9pPr marL="2700040" indent="0">
              <a:buNone/>
              <a:defRPr sz="118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627D40-C749-418C-A4F5-C4EE69FA3AD0}"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3800840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1533187"/>
            <a:ext cx="3824804" cy="3654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1533187"/>
            <a:ext cx="3824804" cy="3654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627D40-C749-418C-A4F5-C4EE69FA3AD0}"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446173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306638"/>
            <a:ext cx="7762102" cy="111322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1411865"/>
            <a:ext cx="3807226" cy="691934"/>
          </a:xfrm>
        </p:spPr>
        <p:txBody>
          <a:bodyPr anchor="b"/>
          <a:lstStyle>
            <a:lvl1pPr marL="0" indent="0">
              <a:buNone/>
              <a:defRPr sz="1772" b="1"/>
            </a:lvl1pPr>
            <a:lvl2pPr marL="337505" indent="0">
              <a:buNone/>
              <a:defRPr sz="1476" b="1"/>
            </a:lvl2pPr>
            <a:lvl3pPr marL="675010" indent="0">
              <a:buNone/>
              <a:defRPr sz="1329" b="1"/>
            </a:lvl3pPr>
            <a:lvl4pPr marL="1012515" indent="0">
              <a:buNone/>
              <a:defRPr sz="1181" b="1"/>
            </a:lvl4pPr>
            <a:lvl5pPr marL="1350020" indent="0">
              <a:buNone/>
              <a:defRPr sz="1181" b="1"/>
            </a:lvl5pPr>
            <a:lvl6pPr marL="1687525" indent="0">
              <a:buNone/>
              <a:defRPr sz="1181" b="1"/>
            </a:lvl6pPr>
            <a:lvl7pPr marL="2025030" indent="0">
              <a:buNone/>
              <a:defRPr sz="1181" b="1"/>
            </a:lvl7pPr>
            <a:lvl8pPr marL="2362535" indent="0">
              <a:buNone/>
              <a:defRPr sz="1181" b="1"/>
            </a:lvl8pPr>
            <a:lvl9pPr marL="2700040" indent="0">
              <a:buNone/>
              <a:defRPr sz="1181" b="1"/>
            </a:lvl9pPr>
          </a:lstStyle>
          <a:p>
            <a:pPr lvl="0"/>
            <a:r>
              <a:rPr lang="en-US"/>
              <a:t>Click to edit Master text styles</a:t>
            </a:r>
          </a:p>
        </p:txBody>
      </p:sp>
      <p:sp>
        <p:nvSpPr>
          <p:cNvPr id="4" name="Content Placeholder 3"/>
          <p:cNvSpPr>
            <a:spLocks noGrp="1"/>
          </p:cNvSpPr>
          <p:nvPr>
            <p:ph sz="half" idx="2"/>
          </p:nvPr>
        </p:nvSpPr>
        <p:spPr>
          <a:xfrm>
            <a:off x="619891" y="2103799"/>
            <a:ext cx="3807226" cy="309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6" y="1411865"/>
            <a:ext cx="3825976" cy="691934"/>
          </a:xfrm>
        </p:spPr>
        <p:txBody>
          <a:bodyPr anchor="b"/>
          <a:lstStyle>
            <a:lvl1pPr marL="0" indent="0">
              <a:buNone/>
              <a:defRPr sz="1772" b="1"/>
            </a:lvl1pPr>
            <a:lvl2pPr marL="337505" indent="0">
              <a:buNone/>
              <a:defRPr sz="1476" b="1"/>
            </a:lvl2pPr>
            <a:lvl3pPr marL="675010" indent="0">
              <a:buNone/>
              <a:defRPr sz="1329" b="1"/>
            </a:lvl3pPr>
            <a:lvl4pPr marL="1012515" indent="0">
              <a:buNone/>
              <a:defRPr sz="1181" b="1"/>
            </a:lvl4pPr>
            <a:lvl5pPr marL="1350020" indent="0">
              <a:buNone/>
              <a:defRPr sz="1181" b="1"/>
            </a:lvl5pPr>
            <a:lvl6pPr marL="1687525" indent="0">
              <a:buNone/>
              <a:defRPr sz="1181" b="1"/>
            </a:lvl6pPr>
            <a:lvl7pPr marL="2025030" indent="0">
              <a:buNone/>
              <a:defRPr sz="1181" b="1"/>
            </a:lvl7pPr>
            <a:lvl8pPr marL="2362535" indent="0">
              <a:buNone/>
              <a:defRPr sz="1181" b="1"/>
            </a:lvl8pPr>
            <a:lvl9pPr marL="2700040" indent="0">
              <a:buNone/>
              <a:defRPr sz="1181" b="1"/>
            </a:lvl9pPr>
          </a:lstStyle>
          <a:p>
            <a:pPr lvl="0"/>
            <a:r>
              <a:rPr lang="en-US"/>
              <a:t>Click to edit Master text styles</a:t>
            </a:r>
          </a:p>
        </p:txBody>
      </p:sp>
      <p:sp>
        <p:nvSpPr>
          <p:cNvPr id="6" name="Content Placeholder 5"/>
          <p:cNvSpPr>
            <a:spLocks noGrp="1"/>
          </p:cNvSpPr>
          <p:nvPr>
            <p:ph sz="quarter" idx="4"/>
          </p:nvPr>
        </p:nvSpPr>
        <p:spPr>
          <a:xfrm>
            <a:off x="4556016" y="2103799"/>
            <a:ext cx="3825976" cy="309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627D40-C749-418C-A4F5-C4EE69FA3AD0}"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1862881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627D40-C749-418C-A4F5-C4EE69FA3AD0}"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1526210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27D40-C749-418C-A4F5-C4EE69FA3AD0}"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3105771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383963"/>
            <a:ext cx="2902585" cy="1343872"/>
          </a:xfrm>
        </p:spPr>
        <p:txBody>
          <a:bodyPr anchor="b"/>
          <a:lstStyle>
            <a:lvl1pPr>
              <a:defRPr sz="2362"/>
            </a:lvl1pPr>
          </a:lstStyle>
          <a:p>
            <a:r>
              <a:rPr lang="en-US"/>
              <a:t>Click to edit Master title style</a:t>
            </a:r>
            <a:endParaRPr lang="en-US" dirty="0"/>
          </a:p>
        </p:txBody>
      </p:sp>
      <p:sp>
        <p:nvSpPr>
          <p:cNvPr id="3" name="Content Placeholder 2"/>
          <p:cNvSpPr>
            <a:spLocks noGrp="1"/>
          </p:cNvSpPr>
          <p:nvPr>
            <p:ph idx="1"/>
          </p:nvPr>
        </p:nvSpPr>
        <p:spPr>
          <a:xfrm>
            <a:off x="3825976" y="829255"/>
            <a:ext cx="4556016" cy="4092942"/>
          </a:xfrm>
        </p:spPr>
        <p:txBody>
          <a:bodyPr/>
          <a:lstStyle>
            <a:lvl1pPr>
              <a:defRPr sz="2362"/>
            </a:lvl1pPr>
            <a:lvl2pPr>
              <a:defRPr sz="2067"/>
            </a:lvl2pPr>
            <a:lvl3pPr>
              <a:defRPr sz="1772"/>
            </a:lvl3pPr>
            <a:lvl4pPr>
              <a:defRPr sz="1476"/>
            </a:lvl4pPr>
            <a:lvl5pPr>
              <a:defRPr sz="1476"/>
            </a:lvl5pPr>
            <a:lvl6pPr>
              <a:defRPr sz="1476"/>
            </a:lvl6pPr>
            <a:lvl7pPr>
              <a:defRPr sz="1476"/>
            </a:lvl7pPr>
            <a:lvl8pPr>
              <a:defRPr sz="1476"/>
            </a:lvl8pPr>
            <a:lvl9pPr>
              <a:defRPr sz="14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727835"/>
            <a:ext cx="2902585" cy="3201028"/>
          </a:xfrm>
        </p:spPr>
        <p:txBody>
          <a:bodyPr/>
          <a:lstStyle>
            <a:lvl1pPr marL="0" indent="0">
              <a:buNone/>
              <a:defRPr sz="1181"/>
            </a:lvl1pPr>
            <a:lvl2pPr marL="337505" indent="0">
              <a:buNone/>
              <a:defRPr sz="1033"/>
            </a:lvl2pPr>
            <a:lvl3pPr marL="675010" indent="0">
              <a:buNone/>
              <a:defRPr sz="886"/>
            </a:lvl3pPr>
            <a:lvl4pPr marL="1012515" indent="0">
              <a:buNone/>
              <a:defRPr sz="738"/>
            </a:lvl4pPr>
            <a:lvl5pPr marL="1350020" indent="0">
              <a:buNone/>
              <a:defRPr sz="738"/>
            </a:lvl5pPr>
            <a:lvl6pPr marL="1687525" indent="0">
              <a:buNone/>
              <a:defRPr sz="738"/>
            </a:lvl6pPr>
            <a:lvl7pPr marL="2025030" indent="0">
              <a:buNone/>
              <a:defRPr sz="738"/>
            </a:lvl7pPr>
            <a:lvl8pPr marL="2362535" indent="0">
              <a:buNone/>
              <a:defRPr sz="738"/>
            </a:lvl8pPr>
            <a:lvl9pPr marL="2700040" indent="0">
              <a:buNone/>
              <a:defRPr sz="738"/>
            </a:lvl9pPr>
          </a:lstStyle>
          <a:p>
            <a:pPr lvl="0"/>
            <a:r>
              <a:rPr lang="en-US"/>
              <a:t>Click to edit Master text styles</a:t>
            </a:r>
          </a:p>
        </p:txBody>
      </p:sp>
      <p:sp>
        <p:nvSpPr>
          <p:cNvPr id="5" name="Date Placeholder 4"/>
          <p:cNvSpPr>
            <a:spLocks noGrp="1"/>
          </p:cNvSpPr>
          <p:nvPr>
            <p:ph type="dt" sz="half" idx="10"/>
          </p:nvPr>
        </p:nvSpPr>
        <p:spPr/>
        <p:txBody>
          <a:bodyPr/>
          <a:lstStyle/>
          <a:p>
            <a:fld id="{9A627D40-C749-418C-A4F5-C4EE69FA3AD0}"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415191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383963"/>
            <a:ext cx="2902585" cy="1343872"/>
          </a:xfrm>
        </p:spPr>
        <p:txBody>
          <a:bodyPr anchor="b"/>
          <a:lstStyle>
            <a:lvl1pPr>
              <a:defRPr sz="2362"/>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829255"/>
            <a:ext cx="4556016" cy="4092942"/>
          </a:xfrm>
        </p:spPr>
        <p:txBody>
          <a:bodyPr anchor="t"/>
          <a:lstStyle>
            <a:lvl1pPr marL="0" indent="0">
              <a:buNone/>
              <a:defRPr sz="2362"/>
            </a:lvl1pPr>
            <a:lvl2pPr marL="337505" indent="0">
              <a:buNone/>
              <a:defRPr sz="2067"/>
            </a:lvl2pPr>
            <a:lvl3pPr marL="675010" indent="0">
              <a:buNone/>
              <a:defRPr sz="1772"/>
            </a:lvl3pPr>
            <a:lvl4pPr marL="1012515" indent="0">
              <a:buNone/>
              <a:defRPr sz="1476"/>
            </a:lvl4pPr>
            <a:lvl5pPr marL="1350020" indent="0">
              <a:buNone/>
              <a:defRPr sz="1476"/>
            </a:lvl5pPr>
            <a:lvl6pPr marL="1687525" indent="0">
              <a:buNone/>
              <a:defRPr sz="1476"/>
            </a:lvl6pPr>
            <a:lvl7pPr marL="2025030" indent="0">
              <a:buNone/>
              <a:defRPr sz="1476"/>
            </a:lvl7pPr>
            <a:lvl8pPr marL="2362535" indent="0">
              <a:buNone/>
              <a:defRPr sz="1476"/>
            </a:lvl8pPr>
            <a:lvl9pPr marL="2700040" indent="0">
              <a:buNone/>
              <a:defRPr sz="1476"/>
            </a:lvl9pPr>
          </a:lstStyle>
          <a:p>
            <a:r>
              <a:rPr lang="en-US"/>
              <a:t>Click icon to add picture</a:t>
            </a:r>
            <a:endParaRPr lang="en-US" dirty="0"/>
          </a:p>
        </p:txBody>
      </p:sp>
      <p:sp>
        <p:nvSpPr>
          <p:cNvPr id="4" name="Text Placeholder 3"/>
          <p:cNvSpPr>
            <a:spLocks noGrp="1"/>
          </p:cNvSpPr>
          <p:nvPr>
            <p:ph type="body" sz="half" idx="2"/>
          </p:nvPr>
        </p:nvSpPr>
        <p:spPr>
          <a:xfrm>
            <a:off x="619891" y="1727835"/>
            <a:ext cx="2902585" cy="3201028"/>
          </a:xfrm>
        </p:spPr>
        <p:txBody>
          <a:bodyPr/>
          <a:lstStyle>
            <a:lvl1pPr marL="0" indent="0">
              <a:buNone/>
              <a:defRPr sz="1181"/>
            </a:lvl1pPr>
            <a:lvl2pPr marL="337505" indent="0">
              <a:buNone/>
              <a:defRPr sz="1033"/>
            </a:lvl2pPr>
            <a:lvl3pPr marL="675010" indent="0">
              <a:buNone/>
              <a:defRPr sz="886"/>
            </a:lvl3pPr>
            <a:lvl4pPr marL="1012515" indent="0">
              <a:buNone/>
              <a:defRPr sz="738"/>
            </a:lvl4pPr>
            <a:lvl5pPr marL="1350020" indent="0">
              <a:buNone/>
              <a:defRPr sz="738"/>
            </a:lvl5pPr>
            <a:lvl6pPr marL="1687525" indent="0">
              <a:buNone/>
              <a:defRPr sz="738"/>
            </a:lvl6pPr>
            <a:lvl7pPr marL="2025030" indent="0">
              <a:buNone/>
              <a:defRPr sz="738"/>
            </a:lvl7pPr>
            <a:lvl8pPr marL="2362535" indent="0">
              <a:buNone/>
              <a:defRPr sz="738"/>
            </a:lvl8pPr>
            <a:lvl9pPr marL="2700040" indent="0">
              <a:buNone/>
              <a:defRPr sz="738"/>
            </a:lvl9pPr>
          </a:lstStyle>
          <a:p>
            <a:pPr lvl="0"/>
            <a:r>
              <a:rPr lang="en-US"/>
              <a:t>Click to edit Master text styles</a:t>
            </a:r>
          </a:p>
        </p:txBody>
      </p:sp>
      <p:sp>
        <p:nvSpPr>
          <p:cNvPr id="5" name="Date Placeholder 4"/>
          <p:cNvSpPr>
            <a:spLocks noGrp="1"/>
          </p:cNvSpPr>
          <p:nvPr>
            <p:ph type="dt" sz="half" idx="10"/>
          </p:nvPr>
        </p:nvSpPr>
        <p:spPr/>
        <p:txBody>
          <a:bodyPr/>
          <a:lstStyle/>
          <a:p>
            <a:fld id="{9A627D40-C749-418C-A4F5-C4EE69FA3AD0}"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307653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627D40-C749-418C-A4F5-C4EE69FA3AD0}"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2708226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306637"/>
            <a:ext cx="1940525" cy="488086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8" y="306637"/>
            <a:ext cx="5709082" cy="488086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627D40-C749-418C-A4F5-C4EE69FA3AD0}"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0AE32-9C60-4919-BE43-AC885B19FF8C}" type="slidenum">
              <a:rPr lang="en-US" smtClean="0"/>
              <a:t>‹#›</a:t>
            </a:fld>
            <a:endParaRPr lang="en-US"/>
          </a:p>
        </p:txBody>
      </p:sp>
    </p:spTree>
    <p:extLst>
      <p:ext uri="{BB962C8B-B14F-4D97-AF65-F5344CB8AC3E}">
        <p14:creationId xmlns:p14="http://schemas.microsoft.com/office/powerpoint/2010/main" val="1028702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338606" y="5221652"/>
            <a:ext cx="540031" cy="44073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984"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057046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479821B-8B91-0307-FE4E-6789DEBADE69}"/>
              </a:ext>
            </a:extLst>
          </p:cNvPr>
          <p:cNvSpPr>
            <a:spLocks noGrp="1"/>
          </p:cNvSpPr>
          <p:nvPr>
            <p:ph type="dt" sz="half" idx="10"/>
          </p:nvPr>
        </p:nvSpPr>
        <p:spPr/>
        <p:txBody>
          <a:bodyPr/>
          <a:lstStyle/>
          <a:p>
            <a:fld id="{9A627D40-C749-418C-A4F5-C4EE69FA3AD0}" type="datetimeFigureOut">
              <a:rPr lang="en-US" smtClean="0"/>
              <a:t>7/14/2026</a:t>
            </a:fld>
            <a:endParaRPr lang="en-US"/>
          </a:p>
        </p:txBody>
      </p:sp>
      <p:sp>
        <p:nvSpPr>
          <p:cNvPr id="4" name="Footer Placeholder 3">
            <a:extLst>
              <a:ext uri="{FF2B5EF4-FFF2-40B4-BE49-F238E27FC236}">
                <a16:creationId xmlns:a16="http://schemas.microsoft.com/office/drawing/2014/main" id="{B027E81E-A8C9-4273-E639-BAE10DD032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77B5D8-1547-35E8-5E55-9455C43ECAB9}"/>
              </a:ext>
            </a:extLst>
          </p:cNvPr>
          <p:cNvSpPr>
            <a:spLocks noGrp="1"/>
          </p:cNvSpPr>
          <p:nvPr>
            <p:ph type="sldNum" sz="quarter" idx="12"/>
          </p:nvPr>
        </p:nvSpPr>
        <p:spPr/>
        <p:txBody>
          <a:bodyPr/>
          <a:lstStyle/>
          <a:p>
            <a:fld id="{EC60AE32-9C60-4919-BE43-AC885B19FF8C}" type="slidenum">
              <a:rPr lang="en-US" smtClean="0"/>
              <a:t>‹#›</a:t>
            </a:fld>
            <a:endParaRPr lang="en-US"/>
          </a:p>
        </p:txBody>
      </p:sp>
      <p:grpSp>
        <p:nvGrpSpPr>
          <p:cNvPr id="6" name="Group 28">
            <a:extLst>
              <a:ext uri="{FF2B5EF4-FFF2-40B4-BE49-F238E27FC236}">
                <a16:creationId xmlns:a16="http://schemas.microsoft.com/office/drawing/2014/main" id="{FD98A6E6-D0BD-41AD-B759-381AFB97E2B2}"/>
              </a:ext>
            </a:extLst>
          </p:cNvPr>
          <p:cNvGrpSpPr/>
          <p:nvPr userDrawn="1"/>
        </p:nvGrpSpPr>
        <p:grpSpPr>
          <a:xfrm>
            <a:off x="0" y="78191"/>
            <a:ext cx="8999538" cy="598282"/>
            <a:chOff x="0" y="-38100"/>
            <a:chExt cx="4355842" cy="444500"/>
          </a:xfrm>
        </p:grpSpPr>
        <p:sp>
          <p:nvSpPr>
            <p:cNvPr id="7" name="Freeform 29">
              <a:extLst>
                <a:ext uri="{FF2B5EF4-FFF2-40B4-BE49-F238E27FC236}">
                  <a16:creationId xmlns:a16="http://schemas.microsoft.com/office/drawing/2014/main" id="{BEF6B272-1A7F-3C3A-675C-ACEA0C22AE0B}"/>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PROBLEM STATEMENT</a:t>
              </a: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8" name="TextBox 30">
              <a:extLst>
                <a:ext uri="{FF2B5EF4-FFF2-40B4-BE49-F238E27FC236}">
                  <a16:creationId xmlns:a16="http://schemas.microsoft.com/office/drawing/2014/main" id="{4AA8F3B5-0E02-1AFB-60B5-B2CD06035960}"/>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Tree>
    <p:extLst>
      <p:ext uri="{BB962C8B-B14F-4D97-AF65-F5344CB8AC3E}">
        <p14:creationId xmlns:p14="http://schemas.microsoft.com/office/powerpoint/2010/main" val="2616375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306638"/>
            <a:ext cx="7762102" cy="111322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1533187"/>
            <a:ext cx="7762102" cy="36543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5338158"/>
            <a:ext cx="2024896" cy="306637"/>
          </a:xfrm>
          <a:prstGeom prst="rect">
            <a:avLst/>
          </a:prstGeom>
        </p:spPr>
        <p:txBody>
          <a:bodyPr vert="horz" lIns="91440" tIns="45720" rIns="91440" bIns="45720" rtlCol="0" anchor="ctr"/>
          <a:lstStyle>
            <a:lvl1pPr algn="l">
              <a:defRPr sz="886">
                <a:solidFill>
                  <a:schemeClr val="tx1">
                    <a:tint val="75000"/>
                  </a:schemeClr>
                </a:solidFill>
              </a:defRPr>
            </a:lvl1pPr>
          </a:lstStyle>
          <a:p>
            <a:fld id="{9A627D40-C749-418C-A4F5-C4EE69FA3AD0}" type="datetimeFigureOut">
              <a:rPr lang="en-US" smtClean="0"/>
              <a:t>7/14/2026</a:t>
            </a:fld>
            <a:endParaRPr lang="en-US"/>
          </a:p>
        </p:txBody>
      </p:sp>
      <p:sp>
        <p:nvSpPr>
          <p:cNvPr id="5" name="Footer Placeholder 4"/>
          <p:cNvSpPr>
            <a:spLocks noGrp="1"/>
          </p:cNvSpPr>
          <p:nvPr>
            <p:ph type="ftr" sz="quarter" idx="3"/>
          </p:nvPr>
        </p:nvSpPr>
        <p:spPr>
          <a:xfrm>
            <a:off x="2981097" y="5338158"/>
            <a:ext cx="3037344" cy="306637"/>
          </a:xfrm>
          <a:prstGeom prst="rect">
            <a:avLst/>
          </a:prstGeom>
        </p:spPr>
        <p:txBody>
          <a:bodyPr vert="horz" lIns="91440" tIns="45720" rIns="91440" bIns="45720" rtlCol="0" anchor="ctr"/>
          <a:lstStyle>
            <a:lvl1pPr algn="ctr">
              <a:defRPr sz="88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355924" y="5338158"/>
            <a:ext cx="2024896" cy="306637"/>
          </a:xfrm>
          <a:prstGeom prst="rect">
            <a:avLst/>
          </a:prstGeom>
        </p:spPr>
        <p:txBody>
          <a:bodyPr vert="horz" lIns="91440" tIns="45720" rIns="91440" bIns="45720" rtlCol="0" anchor="ctr"/>
          <a:lstStyle>
            <a:lvl1pPr algn="r">
              <a:defRPr sz="886">
                <a:solidFill>
                  <a:schemeClr val="tx1">
                    <a:tint val="75000"/>
                  </a:schemeClr>
                </a:solidFill>
              </a:defRPr>
            </a:lvl1pPr>
          </a:lstStyle>
          <a:p>
            <a:fld id="{EC60AE32-9C60-4919-BE43-AC885B19FF8C}" type="slidenum">
              <a:rPr lang="en-US" smtClean="0"/>
              <a:t>‹#›</a:t>
            </a:fld>
            <a:endParaRPr lang="en-US"/>
          </a:p>
        </p:txBody>
      </p:sp>
    </p:spTree>
    <p:extLst>
      <p:ext uri="{BB962C8B-B14F-4D97-AF65-F5344CB8AC3E}">
        <p14:creationId xmlns:p14="http://schemas.microsoft.com/office/powerpoint/2010/main" val="37266982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Lst>
  <p:txStyles>
    <p:titleStyle>
      <a:lvl1pPr algn="l" defTabSz="675010" rtl="0" eaLnBrk="1" latinLnBrk="0" hangingPunct="1">
        <a:lnSpc>
          <a:spcPct val="90000"/>
        </a:lnSpc>
        <a:spcBef>
          <a:spcPct val="0"/>
        </a:spcBef>
        <a:buNone/>
        <a:defRPr sz="3248" kern="1200">
          <a:solidFill>
            <a:schemeClr val="tx1"/>
          </a:solidFill>
          <a:latin typeface="+mj-lt"/>
          <a:ea typeface="+mj-ea"/>
          <a:cs typeface="+mj-cs"/>
        </a:defRPr>
      </a:lvl1pPr>
    </p:titleStyle>
    <p:bodyStyle>
      <a:lvl1pPr marL="168753" indent="-168753" algn="l" defTabSz="675010" rtl="0" eaLnBrk="1" latinLnBrk="0" hangingPunct="1">
        <a:lnSpc>
          <a:spcPct val="90000"/>
        </a:lnSpc>
        <a:spcBef>
          <a:spcPts val="738"/>
        </a:spcBef>
        <a:buFont typeface="Arial" panose="020B0604020202020204" pitchFamily="34" charset="0"/>
        <a:buChar char="•"/>
        <a:defRPr sz="2067" kern="1200">
          <a:solidFill>
            <a:schemeClr val="tx1"/>
          </a:solidFill>
          <a:latin typeface="+mn-lt"/>
          <a:ea typeface="+mn-ea"/>
          <a:cs typeface="+mn-cs"/>
        </a:defRPr>
      </a:lvl1pPr>
      <a:lvl2pPr marL="506258" indent="-168753" algn="l" defTabSz="675010" rtl="0" eaLnBrk="1" latinLnBrk="0" hangingPunct="1">
        <a:lnSpc>
          <a:spcPct val="90000"/>
        </a:lnSpc>
        <a:spcBef>
          <a:spcPts val="369"/>
        </a:spcBef>
        <a:buFont typeface="Arial" panose="020B0604020202020204" pitchFamily="34" charset="0"/>
        <a:buChar char="•"/>
        <a:defRPr sz="1772" kern="1200">
          <a:solidFill>
            <a:schemeClr val="tx1"/>
          </a:solidFill>
          <a:latin typeface="+mn-lt"/>
          <a:ea typeface="+mn-ea"/>
          <a:cs typeface="+mn-cs"/>
        </a:defRPr>
      </a:lvl2pPr>
      <a:lvl3pPr marL="843763" indent="-168753" algn="l" defTabSz="675010" rtl="0" eaLnBrk="1" latinLnBrk="0" hangingPunct="1">
        <a:lnSpc>
          <a:spcPct val="90000"/>
        </a:lnSpc>
        <a:spcBef>
          <a:spcPts val="369"/>
        </a:spcBef>
        <a:buFont typeface="Arial" panose="020B0604020202020204" pitchFamily="34" charset="0"/>
        <a:buChar char="•"/>
        <a:defRPr sz="1476" kern="1200">
          <a:solidFill>
            <a:schemeClr val="tx1"/>
          </a:solidFill>
          <a:latin typeface="+mn-lt"/>
          <a:ea typeface="+mn-ea"/>
          <a:cs typeface="+mn-cs"/>
        </a:defRPr>
      </a:lvl3pPr>
      <a:lvl4pPr marL="1181268" indent="-168753" algn="l" defTabSz="675010" rtl="0" eaLnBrk="1" latinLnBrk="0" hangingPunct="1">
        <a:lnSpc>
          <a:spcPct val="90000"/>
        </a:lnSpc>
        <a:spcBef>
          <a:spcPts val="369"/>
        </a:spcBef>
        <a:buFont typeface="Arial" panose="020B0604020202020204" pitchFamily="34" charset="0"/>
        <a:buChar char="•"/>
        <a:defRPr sz="1329" kern="1200">
          <a:solidFill>
            <a:schemeClr val="tx1"/>
          </a:solidFill>
          <a:latin typeface="+mn-lt"/>
          <a:ea typeface="+mn-ea"/>
          <a:cs typeface="+mn-cs"/>
        </a:defRPr>
      </a:lvl4pPr>
      <a:lvl5pPr marL="1518773" indent="-168753" algn="l" defTabSz="675010" rtl="0" eaLnBrk="1" latinLnBrk="0" hangingPunct="1">
        <a:lnSpc>
          <a:spcPct val="90000"/>
        </a:lnSpc>
        <a:spcBef>
          <a:spcPts val="369"/>
        </a:spcBef>
        <a:buFont typeface="Arial" panose="020B0604020202020204" pitchFamily="34" charset="0"/>
        <a:buChar char="•"/>
        <a:defRPr sz="1329" kern="1200">
          <a:solidFill>
            <a:schemeClr val="tx1"/>
          </a:solidFill>
          <a:latin typeface="+mn-lt"/>
          <a:ea typeface="+mn-ea"/>
          <a:cs typeface="+mn-cs"/>
        </a:defRPr>
      </a:lvl5pPr>
      <a:lvl6pPr marL="1856278" indent="-168753" algn="l" defTabSz="675010" rtl="0" eaLnBrk="1" latinLnBrk="0" hangingPunct="1">
        <a:lnSpc>
          <a:spcPct val="90000"/>
        </a:lnSpc>
        <a:spcBef>
          <a:spcPts val="369"/>
        </a:spcBef>
        <a:buFont typeface="Arial" panose="020B0604020202020204" pitchFamily="34" charset="0"/>
        <a:buChar char="•"/>
        <a:defRPr sz="1329" kern="1200">
          <a:solidFill>
            <a:schemeClr val="tx1"/>
          </a:solidFill>
          <a:latin typeface="+mn-lt"/>
          <a:ea typeface="+mn-ea"/>
          <a:cs typeface="+mn-cs"/>
        </a:defRPr>
      </a:lvl6pPr>
      <a:lvl7pPr marL="2193783" indent="-168753" algn="l" defTabSz="675010" rtl="0" eaLnBrk="1" latinLnBrk="0" hangingPunct="1">
        <a:lnSpc>
          <a:spcPct val="90000"/>
        </a:lnSpc>
        <a:spcBef>
          <a:spcPts val="369"/>
        </a:spcBef>
        <a:buFont typeface="Arial" panose="020B0604020202020204" pitchFamily="34" charset="0"/>
        <a:buChar char="•"/>
        <a:defRPr sz="1329" kern="1200">
          <a:solidFill>
            <a:schemeClr val="tx1"/>
          </a:solidFill>
          <a:latin typeface="+mn-lt"/>
          <a:ea typeface="+mn-ea"/>
          <a:cs typeface="+mn-cs"/>
        </a:defRPr>
      </a:lvl7pPr>
      <a:lvl8pPr marL="2531288" indent="-168753" algn="l" defTabSz="675010" rtl="0" eaLnBrk="1" latinLnBrk="0" hangingPunct="1">
        <a:lnSpc>
          <a:spcPct val="90000"/>
        </a:lnSpc>
        <a:spcBef>
          <a:spcPts val="369"/>
        </a:spcBef>
        <a:buFont typeface="Arial" panose="020B0604020202020204" pitchFamily="34" charset="0"/>
        <a:buChar char="•"/>
        <a:defRPr sz="1329" kern="1200">
          <a:solidFill>
            <a:schemeClr val="tx1"/>
          </a:solidFill>
          <a:latin typeface="+mn-lt"/>
          <a:ea typeface="+mn-ea"/>
          <a:cs typeface="+mn-cs"/>
        </a:defRPr>
      </a:lvl8pPr>
      <a:lvl9pPr marL="2868793" indent="-168753" algn="l" defTabSz="675010" rtl="0" eaLnBrk="1" latinLnBrk="0" hangingPunct="1">
        <a:lnSpc>
          <a:spcPct val="90000"/>
        </a:lnSpc>
        <a:spcBef>
          <a:spcPts val="369"/>
        </a:spcBef>
        <a:buFont typeface="Arial" panose="020B0604020202020204" pitchFamily="34" charset="0"/>
        <a:buChar char="•"/>
        <a:defRPr sz="1329" kern="1200">
          <a:solidFill>
            <a:schemeClr val="tx1"/>
          </a:solidFill>
          <a:latin typeface="+mn-lt"/>
          <a:ea typeface="+mn-ea"/>
          <a:cs typeface="+mn-cs"/>
        </a:defRPr>
      </a:lvl9pPr>
    </p:bodyStyle>
    <p:otherStyle>
      <a:defPPr>
        <a:defRPr lang="en-US"/>
      </a:defPPr>
      <a:lvl1pPr marL="0" algn="l" defTabSz="675010" rtl="0" eaLnBrk="1" latinLnBrk="0" hangingPunct="1">
        <a:defRPr sz="1329" kern="1200">
          <a:solidFill>
            <a:schemeClr val="tx1"/>
          </a:solidFill>
          <a:latin typeface="+mn-lt"/>
          <a:ea typeface="+mn-ea"/>
          <a:cs typeface="+mn-cs"/>
        </a:defRPr>
      </a:lvl1pPr>
      <a:lvl2pPr marL="337505" algn="l" defTabSz="675010" rtl="0" eaLnBrk="1" latinLnBrk="0" hangingPunct="1">
        <a:defRPr sz="1329" kern="1200">
          <a:solidFill>
            <a:schemeClr val="tx1"/>
          </a:solidFill>
          <a:latin typeface="+mn-lt"/>
          <a:ea typeface="+mn-ea"/>
          <a:cs typeface="+mn-cs"/>
        </a:defRPr>
      </a:lvl2pPr>
      <a:lvl3pPr marL="675010" algn="l" defTabSz="675010" rtl="0" eaLnBrk="1" latinLnBrk="0" hangingPunct="1">
        <a:defRPr sz="1329" kern="1200">
          <a:solidFill>
            <a:schemeClr val="tx1"/>
          </a:solidFill>
          <a:latin typeface="+mn-lt"/>
          <a:ea typeface="+mn-ea"/>
          <a:cs typeface="+mn-cs"/>
        </a:defRPr>
      </a:lvl3pPr>
      <a:lvl4pPr marL="1012515" algn="l" defTabSz="675010" rtl="0" eaLnBrk="1" latinLnBrk="0" hangingPunct="1">
        <a:defRPr sz="1329" kern="1200">
          <a:solidFill>
            <a:schemeClr val="tx1"/>
          </a:solidFill>
          <a:latin typeface="+mn-lt"/>
          <a:ea typeface="+mn-ea"/>
          <a:cs typeface="+mn-cs"/>
        </a:defRPr>
      </a:lvl4pPr>
      <a:lvl5pPr marL="1350020" algn="l" defTabSz="675010" rtl="0" eaLnBrk="1" latinLnBrk="0" hangingPunct="1">
        <a:defRPr sz="1329" kern="1200">
          <a:solidFill>
            <a:schemeClr val="tx1"/>
          </a:solidFill>
          <a:latin typeface="+mn-lt"/>
          <a:ea typeface="+mn-ea"/>
          <a:cs typeface="+mn-cs"/>
        </a:defRPr>
      </a:lvl5pPr>
      <a:lvl6pPr marL="1687525" algn="l" defTabSz="675010" rtl="0" eaLnBrk="1" latinLnBrk="0" hangingPunct="1">
        <a:defRPr sz="1329" kern="1200">
          <a:solidFill>
            <a:schemeClr val="tx1"/>
          </a:solidFill>
          <a:latin typeface="+mn-lt"/>
          <a:ea typeface="+mn-ea"/>
          <a:cs typeface="+mn-cs"/>
        </a:defRPr>
      </a:lvl6pPr>
      <a:lvl7pPr marL="2025030" algn="l" defTabSz="675010" rtl="0" eaLnBrk="1" latinLnBrk="0" hangingPunct="1">
        <a:defRPr sz="1329" kern="1200">
          <a:solidFill>
            <a:schemeClr val="tx1"/>
          </a:solidFill>
          <a:latin typeface="+mn-lt"/>
          <a:ea typeface="+mn-ea"/>
          <a:cs typeface="+mn-cs"/>
        </a:defRPr>
      </a:lvl7pPr>
      <a:lvl8pPr marL="2362535" algn="l" defTabSz="675010" rtl="0" eaLnBrk="1" latinLnBrk="0" hangingPunct="1">
        <a:defRPr sz="1329" kern="1200">
          <a:solidFill>
            <a:schemeClr val="tx1"/>
          </a:solidFill>
          <a:latin typeface="+mn-lt"/>
          <a:ea typeface="+mn-ea"/>
          <a:cs typeface="+mn-cs"/>
        </a:defRPr>
      </a:lvl8pPr>
      <a:lvl9pPr marL="2700040" algn="l" defTabSz="675010" rtl="0" eaLnBrk="1" latinLnBrk="0" hangingPunct="1">
        <a:defRPr sz="132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team7phd.streamlit.ap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arallelogram 8">
            <a:extLst>
              <a:ext uri="{FF2B5EF4-FFF2-40B4-BE49-F238E27FC236}">
                <a16:creationId xmlns:a16="http://schemas.microsoft.com/office/drawing/2014/main" id="{BB4CAB2B-D744-A25F-5002-39DAC998D723}"/>
              </a:ext>
            </a:extLst>
          </p:cNvPr>
          <p:cNvSpPr/>
          <p:nvPr/>
        </p:nvSpPr>
        <p:spPr>
          <a:xfrm rot="5400000">
            <a:off x="3712314" y="1895373"/>
            <a:ext cx="137028" cy="7561669"/>
          </a:xfrm>
          <a:prstGeom prst="parallelogram">
            <a:avLst>
              <a:gd name="adj" fmla="val 3283"/>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48" name="Group 2">
            <a:extLst>
              <a:ext uri="{FF2B5EF4-FFF2-40B4-BE49-F238E27FC236}">
                <a16:creationId xmlns:a16="http://schemas.microsoft.com/office/drawing/2014/main" id="{4DBE08B3-CF05-1FDA-6B83-2FAC048A1507}"/>
              </a:ext>
            </a:extLst>
          </p:cNvPr>
          <p:cNvGrpSpPr/>
          <p:nvPr/>
        </p:nvGrpSpPr>
        <p:grpSpPr>
          <a:xfrm>
            <a:off x="0" y="0"/>
            <a:ext cx="4153368" cy="126178"/>
            <a:chOff x="0" y="0"/>
            <a:chExt cx="2187782" cy="66464"/>
          </a:xfrm>
        </p:grpSpPr>
        <p:sp>
          <p:nvSpPr>
            <p:cNvPr id="49" name="Freeform 3">
              <a:extLst>
                <a:ext uri="{FF2B5EF4-FFF2-40B4-BE49-F238E27FC236}">
                  <a16:creationId xmlns:a16="http://schemas.microsoft.com/office/drawing/2014/main" id="{6D1C2A0F-580C-E120-8376-D1DE1B05F488}"/>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50" name="TextBox 4">
              <a:extLst>
                <a:ext uri="{FF2B5EF4-FFF2-40B4-BE49-F238E27FC236}">
                  <a16:creationId xmlns:a16="http://schemas.microsoft.com/office/drawing/2014/main" id="{F4DA03C8-E874-8D78-ED8D-C18662FFC687}"/>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1" name="Group 5">
            <a:extLst>
              <a:ext uri="{FF2B5EF4-FFF2-40B4-BE49-F238E27FC236}">
                <a16:creationId xmlns:a16="http://schemas.microsoft.com/office/drawing/2014/main" id="{D0018C3B-DBB6-B4BE-E3DC-6087BF1D3058}"/>
              </a:ext>
            </a:extLst>
          </p:cNvPr>
          <p:cNvGrpSpPr/>
          <p:nvPr/>
        </p:nvGrpSpPr>
        <p:grpSpPr>
          <a:xfrm>
            <a:off x="-6" y="5655062"/>
            <a:ext cx="7589520" cy="87100"/>
            <a:chOff x="0" y="0"/>
            <a:chExt cx="3988171" cy="66464"/>
          </a:xfrm>
          <a:gradFill flip="none" rotWithShape="1">
            <a:gsLst>
              <a:gs pos="0">
                <a:schemeClr val="accent1">
                  <a:lumMod val="89000"/>
                </a:schemeClr>
              </a:gs>
              <a:gs pos="41000">
                <a:schemeClr val="accent1">
                  <a:lumMod val="89000"/>
                </a:schemeClr>
              </a:gs>
              <a:gs pos="69000">
                <a:schemeClr val="accent1">
                  <a:lumMod val="75000"/>
                </a:schemeClr>
              </a:gs>
              <a:gs pos="97000">
                <a:schemeClr val="accent1">
                  <a:lumMod val="70000"/>
                </a:schemeClr>
              </a:gs>
            </a:gsLst>
            <a:path path="circle">
              <a:fillToRect l="100000" b="100000"/>
            </a:path>
            <a:tileRect t="-100000" r="-100000"/>
          </a:gradFill>
        </p:grpSpPr>
        <p:sp>
          <p:nvSpPr>
            <p:cNvPr id="52" name="Freeform 6">
              <a:extLst>
                <a:ext uri="{FF2B5EF4-FFF2-40B4-BE49-F238E27FC236}">
                  <a16:creationId xmlns:a16="http://schemas.microsoft.com/office/drawing/2014/main" id="{DBAB0A7C-E6EF-5478-B882-ACF15840A3F5}"/>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pFill/>
          </p:spPr>
          <p:txBody>
            <a:bodyPr/>
            <a:lstStyle/>
            <a:p>
              <a:endParaRPr lang="en-IN" sz="700"/>
            </a:p>
          </p:txBody>
        </p:sp>
        <p:sp>
          <p:nvSpPr>
            <p:cNvPr id="53" name="TextBox 7">
              <a:extLst>
                <a:ext uri="{FF2B5EF4-FFF2-40B4-BE49-F238E27FC236}">
                  <a16:creationId xmlns:a16="http://schemas.microsoft.com/office/drawing/2014/main" id="{05E86AFB-2BEC-CFAB-69EF-8A66ECD7CD3A}"/>
                </a:ext>
              </a:extLst>
            </p:cNvPr>
            <p:cNvSpPr txBox="1"/>
            <p:nvPr/>
          </p:nvSpPr>
          <p:spPr>
            <a:xfrm>
              <a:off x="0" y="-38100"/>
              <a:ext cx="3988171" cy="104564"/>
            </a:xfrm>
            <a:prstGeom prst="rect">
              <a:avLst/>
            </a:prstGeom>
            <a:grpFill/>
          </p:spPr>
          <p:txBody>
            <a:bodyPr lIns="25400" tIns="25400" rIns="25400" bIns="25400" rtlCol="0" anchor="ctr"/>
            <a:lstStyle/>
            <a:p>
              <a:pPr algn="ctr">
                <a:lnSpc>
                  <a:spcPts val="1330"/>
                </a:lnSpc>
              </a:pPr>
              <a:endParaRPr sz="700"/>
            </a:p>
          </p:txBody>
        </p:sp>
      </p:grpSp>
      <p:grpSp>
        <p:nvGrpSpPr>
          <p:cNvPr id="54" name="Group 28">
            <a:extLst>
              <a:ext uri="{FF2B5EF4-FFF2-40B4-BE49-F238E27FC236}">
                <a16:creationId xmlns:a16="http://schemas.microsoft.com/office/drawing/2014/main" id="{58D8B1CD-A803-30E7-ABFF-6FBDCEF2758B}"/>
              </a:ext>
            </a:extLst>
          </p:cNvPr>
          <p:cNvGrpSpPr/>
          <p:nvPr/>
        </p:nvGrpSpPr>
        <p:grpSpPr>
          <a:xfrm>
            <a:off x="2" y="3022797"/>
            <a:ext cx="4350604" cy="547001"/>
            <a:chOff x="0" y="0"/>
            <a:chExt cx="4355842" cy="406400"/>
          </a:xfrm>
        </p:grpSpPr>
        <p:sp>
          <p:nvSpPr>
            <p:cNvPr id="55" name="Freeform 29">
              <a:extLst>
                <a:ext uri="{FF2B5EF4-FFF2-40B4-BE49-F238E27FC236}">
                  <a16:creationId xmlns:a16="http://schemas.microsoft.com/office/drawing/2014/main" id="{33F28DF2-1614-B809-1A87-831D927E1D28}"/>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56" name="TextBox 30">
              <a:extLst>
                <a:ext uri="{FF2B5EF4-FFF2-40B4-BE49-F238E27FC236}">
                  <a16:creationId xmlns:a16="http://schemas.microsoft.com/office/drawing/2014/main" id="{7F574A66-AAC9-5B2B-9CA2-6DD61E496597}"/>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57" name="TextBox 37">
            <a:extLst>
              <a:ext uri="{FF2B5EF4-FFF2-40B4-BE49-F238E27FC236}">
                <a16:creationId xmlns:a16="http://schemas.microsoft.com/office/drawing/2014/main" id="{D668BE20-CDCF-B93A-FCD4-52BF39976238}"/>
              </a:ext>
            </a:extLst>
          </p:cNvPr>
          <p:cNvSpPr txBox="1"/>
          <p:nvPr/>
        </p:nvSpPr>
        <p:spPr>
          <a:xfrm>
            <a:off x="134470" y="1037104"/>
            <a:ext cx="5103159" cy="1023485"/>
          </a:xfrm>
          <a:prstGeom prst="rect">
            <a:avLst/>
          </a:prstGeom>
        </p:spPr>
        <p:txBody>
          <a:bodyPr wrap="square" lIns="0" tIns="0" rIns="0" bIns="0" rtlCol="0" anchor="ctr">
            <a:spAutoFit/>
          </a:bodyPr>
          <a:lstStyle/>
          <a:p>
            <a:pPr algn="ctr">
              <a:lnSpc>
                <a:spcPct val="200000"/>
              </a:lnSpc>
            </a:pPr>
            <a:r>
              <a:rPr lang="en-IN" b="1" dirty="0">
                <a:solidFill>
                  <a:schemeClr val="accent1">
                    <a:lumMod val="75000"/>
                  </a:schemeClr>
                </a:solidFill>
                <a:latin typeface="Engravers MT" panose="02090707080505020304" pitchFamily="18" charset="0"/>
              </a:rPr>
              <a:t>Real-Time Pothole Detection </a:t>
            </a:r>
          </a:p>
          <a:p>
            <a:pPr algn="ctr">
              <a:lnSpc>
                <a:spcPct val="200000"/>
              </a:lnSpc>
            </a:pPr>
            <a:r>
              <a:rPr lang="en-IN" b="1" dirty="0">
                <a:solidFill>
                  <a:schemeClr val="accent1">
                    <a:lumMod val="75000"/>
                  </a:schemeClr>
                </a:solidFill>
                <a:latin typeface="Engravers MT" panose="02090707080505020304" pitchFamily="18" charset="0"/>
              </a:rPr>
              <a:t>Using yolo</a:t>
            </a:r>
          </a:p>
        </p:txBody>
      </p:sp>
      <p:sp>
        <p:nvSpPr>
          <p:cNvPr id="58" name="TextBox 44">
            <a:extLst>
              <a:ext uri="{FF2B5EF4-FFF2-40B4-BE49-F238E27FC236}">
                <a16:creationId xmlns:a16="http://schemas.microsoft.com/office/drawing/2014/main" id="{54FDCFCE-D150-6B76-A703-70BB88AFDFD7}"/>
              </a:ext>
            </a:extLst>
          </p:cNvPr>
          <p:cNvSpPr txBox="1"/>
          <p:nvPr/>
        </p:nvSpPr>
        <p:spPr>
          <a:xfrm>
            <a:off x="466727" y="3100839"/>
            <a:ext cx="3809409" cy="243656"/>
          </a:xfrm>
          <a:prstGeom prst="rect">
            <a:avLst/>
          </a:prstGeom>
        </p:spPr>
        <p:txBody>
          <a:bodyPr lIns="0" tIns="0" rIns="0" bIns="0" rtlCol="0" anchor="t">
            <a:spAutoFit/>
          </a:bodyPr>
          <a:lstStyle/>
          <a:p>
            <a:pPr>
              <a:lnSpc>
                <a:spcPts val="1943"/>
              </a:lnSpc>
            </a:pPr>
            <a:r>
              <a:rPr lang="en-US" sz="1618" b="1" spc="583">
                <a:solidFill>
                  <a:srgbClr val="FFFFFF"/>
                </a:solidFill>
                <a:latin typeface="+mj-lt"/>
                <a:ea typeface="Aileron Bold"/>
                <a:cs typeface="Aileron Bold"/>
                <a:sym typeface="Aileron Bold"/>
              </a:rPr>
              <a:t>PRESENTATION 2026</a:t>
            </a:r>
          </a:p>
        </p:txBody>
      </p:sp>
      <p:sp>
        <p:nvSpPr>
          <p:cNvPr id="60" name="TextBox 40">
            <a:extLst>
              <a:ext uri="{FF2B5EF4-FFF2-40B4-BE49-F238E27FC236}">
                <a16:creationId xmlns:a16="http://schemas.microsoft.com/office/drawing/2014/main" id="{9538A62E-7C26-6C75-23C1-992862B76F3D}"/>
              </a:ext>
            </a:extLst>
          </p:cNvPr>
          <p:cNvSpPr txBox="1"/>
          <p:nvPr/>
        </p:nvSpPr>
        <p:spPr>
          <a:xfrm>
            <a:off x="641033" y="4283416"/>
            <a:ext cx="1633432"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Team Members</a:t>
            </a:r>
          </a:p>
        </p:txBody>
      </p:sp>
      <p:sp>
        <p:nvSpPr>
          <p:cNvPr id="61" name="TextBox 42">
            <a:extLst>
              <a:ext uri="{FF2B5EF4-FFF2-40B4-BE49-F238E27FC236}">
                <a16:creationId xmlns:a16="http://schemas.microsoft.com/office/drawing/2014/main" id="{82AB10A2-58B9-EDBE-7446-81F7289B5561}"/>
              </a:ext>
            </a:extLst>
          </p:cNvPr>
          <p:cNvSpPr txBox="1"/>
          <p:nvPr/>
        </p:nvSpPr>
        <p:spPr>
          <a:xfrm>
            <a:off x="282755" y="4508009"/>
            <a:ext cx="1835467" cy="1025922"/>
          </a:xfrm>
          <a:prstGeom prst="rect">
            <a:avLst/>
          </a:prstGeom>
        </p:spPr>
        <p:txBody>
          <a:bodyPr wrap="square" lIns="0" tIns="0" rIns="0" bIns="0" rtlCol="0" anchor="t">
            <a:spAutoFit/>
          </a:bodyPr>
          <a:lstStyle/>
          <a:p>
            <a:pPr lvl="1">
              <a:lnSpc>
                <a:spcPts val="2038"/>
              </a:lnSpc>
            </a:pPr>
            <a:r>
              <a:rPr lang="en-US" b="1" dirty="0">
                <a:solidFill>
                  <a:schemeClr val="accent1">
                    <a:lumMod val="75000"/>
                  </a:schemeClr>
                </a:solidFill>
                <a:latin typeface="+mj-lt"/>
                <a:ea typeface="Aileron Bold"/>
                <a:cs typeface="Aileron Bold"/>
                <a:sym typeface="Aileron Bold"/>
              </a:rPr>
              <a:t>Shalini Tiwari</a:t>
            </a:r>
          </a:p>
          <a:p>
            <a:pPr lvl="1">
              <a:lnSpc>
                <a:spcPts val="2038"/>
              </a:lnSpc>
            </a:pPr>
            <a:r>
              <a:rPr lang="en-US" b="1" dirty="0">
                <a:solidFill>
                  <a:schemeClr val="accent1">
                    <a:lumMod val="75000"/>
                  </a:schemeClr>
                </a:solidFill>
                <a:latin typeface="+mj-lt"/>
                <a:ea typeface="Aileron Bold"/>
                <a:cs typeface="Aileron Bold"/>
                <a:sym typeface="Aileron Bold"/>
              </a:rPr>
              <a:t>Rajan Sharma</a:t>
            </a:r>
          </a:p>
          <a:p>
            <a:pPr lvl="1">
              <a:lnSpc>
                <a:spcPts val="2038"/>
              </a:lnSpc>
            </a:pPr>
            <a:r>
              <a:rPr lang="en-US" b="1" dirty="0">
                <a:solidFill>
                  <a:schemeClr val="accent1">
                    <a:lumMod val="75000"/>
                  </a:schemeClr>
                </a:solidFill>
                <a:latin typeface="+mj-lt"/>
                <a:ea typeface="Aileron Bold"/>
                <a:cs typeface="Aileron Bold"/>
                <a:sym typeface="Aileron Bold"/>
              </a:rPr>
              <a:t>Dhruv Rai</a:t>
            </a:r>
          </a:p>
          <a:p>
            <a:pPr lvl="1">
              <a:lnSpc>
                <a:spcPts val="2038"/>
              </a:lnSpc>
            </a:pPr>
            <a:r>
              <a:rPr lang="en-US" b="1" dirty="0">
                <a:solidFill>
                  <a:schemeClr val="accent1">
                    <a:lumMod val="75000"/>
                  </a:schemeClr>
                </a:solidFill>
                <a:latin typeface="+mj-lt"/>
                <a:ea typeface="Aileron Bold"/>
                <a:cs typeface="Aileron Bold"/>
                <a:sym typeface="Aileron Bold"/>
              </a:rPr>
              <a:t>Akarsh Singh </a:t>
            </a:r>
          </a:p>
        </p:txBody>
      </p:sp>
      <p:grpSp>
        <p:nvGrpSpPr>
          <p:cNvPr id="63" name="Group 62">
            <a:extLst>
              <a:ext uri="{FF2B5EF4-FFF2-40B4-BE49-F238E27FC236}">
                <a16:creationId xmlns:a16="http://schemas.microsoft.com/office/drawing/2014/main" id="{29F28229-8BBD-C8D2-6C74-CB2A7C45864F}"/>
              </a:ext>
            </a:extLst>
          </p:cNvPr>
          <p:cNvGrpSpPr/>
          <p:nvPr/>
        </p:nvGrpSpPr>
        <p:grpSpPr>
          <a:xfrm>
            <a:off x="3231351" y="4286968"/>
            <a:ext cx="2391390" cy="646332"/>
            <a:chOff x="3139699" y="4295282"/>
            <a:chExt cx="2391390" cy="646332"/>
          </a:xfrm>
        </p:grpSpPr>
        <p:sp>
          <p:nvSpPr>
            <p:cNvPr id="64" name="TextBox 41">
              <a:extLst>
                <a:ext uri="{FF2B5EF4-FFF2-40B4-BE49-F238E27FC236}">
                  <a16:creationId xmlns:a16="http://schemas.microsoft.com/office/drawing/2014/main" id="{221543F8-AFA6-45E1-BE97-852747A4D71D}"/>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GitHub Repository</a:t>
              </a:r>
            </a:p>
          </p:txBody>
        </p:sp>
        <p:sp>
          <p:nvSpPr>
            <p:cNvPr id="65" name="TextBox 43">
              <a:extLst>
                <a:ext uri="{FF2B5EF4-FFF2-40B4-BE49-F238E27FC236}">
                  <a16:creationId xmlns:a16="http://schemas.microsoft.com/office/drawing/2014/main" id="{9C3F196A-3B17-7EBA-9034-936E2BCD796C}"/>
                </a:ext>
              </a:extLst>
            </p:cNvPr>
            <p:cNvSpPr txBox="1"/>
            <p:nvPr/>
          </p:nvSpPr>
          <p:spPr>
            <a:xfrm>
              <a:off x="3139699" y="4456866"/>
              <a:ext cx="2391390" cy="484748"/>
            </a:xfrm>
            <a:prstGeom prst="rect">
              <a:avLst/>
            </a:prstGeom>
          </p:spPr>
          <p:txBody>
            <a:bodyPr wrap="square" lIns="0" tIns="0" rIns="0" bIns="0" rtlCol="0" anchor="t">
              <a:spAutoFit/>
            </a:bodyPr>
            <a:lstStyle/>
            <a:p>
              <a:pPr algn="ctr"/>
              <a:endParaRPr lang="en-US" sz="1050" b="1" dirty="0">
                <a:solidFill>
                  <a:srgbClr val="0D358D"/>
                </a:solidFill>
                <a:latin typeface="+mj-lt"/>
                <a:ea typeface="Aileron Bold"/>
                <a:cs typeface="Aileron Bold"/>
                <a:sym typeface="Aileron Bold"/>
              </a:endParaRPr>
            </a:p>
            <a:p>
              <a:pPr algn="ctr"/>
              <a:r>
                <a:rPr lang="en-US" sz="1050" b="1" dirty="0">
                  <a:solidFill>
                    <a:srgbClr val="0D358D"/>
                  </a:solidFill>
                  <a:latin typeface="+mj-lt"/>
                  <a:ea typeface="Aileron Bold"/>
                  <a:cs typeface="Aileron Bold"/>
                  <a:sym typeface="Aileron Bold"/>
                </a:rPr>
                <a:t>https://github.com/Akarsh077/FinalProject7.git</a:t>
              </a:r>
            </a:p>
          </p:txBody>
        </p:sp>
      </p:grpSp>
      <p:grpSp>
        <p:nvGrpSpPr>
          <p:cNvPr id="67" name="Group 66">
            <a:extLst>
              <a:ext uri="{FF2B5EF4-FFF2-40B4-BE49-F238E27FC236}">
                <a16:creationId xmlns:a16="http://schemas.microsoft.com/office/drawing/2014/main" id="{459B05C6-2D1B-7844-80FF-6350CA856813}"/>
              </a:ext>
            </a:extLst>
          </p:cNvPr>
          <p:cNvGrpSpPr/>
          <p:nvPr/>
        </p:nvGrpSpPr>
        <p:grpSpPr>
          <a:xfrm>
            <a:off x="6085634" y="4308278"/>
            <a:ext cx="2272871" cy="424413"/>
            <a:chOff x="3139699" y="4295282"/>
            <a:chExt cx="2272871" cy="424413"/>
          </a:xfrm>
        </p:grpSpPr>
        <p:sp>
          <p:nvSpPr>
            <p:cNvPr id="68" name="TextBox 41">
              <a:extLst>
                <a:ext uri="{FF2B5EF4-FFF2-40B4-BE49-F238E27FC236}">
                  <a16:creationId xmlns:a16="http://schemas.microsoft.com/office/drawing/2014/main" id="{AE095124-4054-3AB0-C85E-216325B803EB}"/>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Guide</a:t>
              </a:r>
            </a:p>
          </p:txBody>
        </p:sp>
        <p:sp>
          <p:nvSpPr>
            <p:cNvPr id="69" name="TextBox 43">
              <a:extLst>
                <a:ext uri="{FF2B5EF4-FFF2-40B4-BE49-F238E27FC236}">
                  <a16:creationId xmlns:a16="http://schemas.microsoft.com/office/drawing/2014/main" id="{2803552C-0EB2-88BA-842B-FAE6EC204743}"/>
                </a:ext>
              </a:extLst>
            </p:cNvPr>
            <p:cNvSpPr txBox="1"/>
            <p:nvPr/>
          </p:nvSpPr>
          <p:spPr>
            <a:xfrm>
              <a:off x="3139699" y="4456866"/>
              <a:ext cx="2272871" cy="262829"/>
            </a:xfrm>
            <a:prstGeom prst="rect">
              <a:avLst/>
            </a:prstGeom>
          </p:spPr>
          <p:txBody>
            <a:bodyPr lIns="0" tIns="0" rIns="0" bIns="0" rtlCol="0" anchor="t">
              <a:spAutoFit/>
            </a:bodyPr>
            <a:lstStyle/>
            <a:p>
              <a:pPr>
                <a:lnSpc>
                  <a:spcPts val="2038"/>
                </a:lnSpc>
              </a:pPr>
              <a:r>
                <a:rPr lang="en-US" b="1" dirty="0">
                  <a:solidFill>
                    <a:srgbClr val="0D358D"/>
                  </a:solidFill>
                  <a:latin typeface="+mj-lt"/>
                  <a:ea typeface="Aileron Bold"/>
                  <a:cs typeface="Aileron Bold"/>
                  <a:sym typeface="Aileron Bold"/>
                </a:rPr>
                <a:t>Ankit Dixit</a:t>
              </a:r>
            </a:p>
          </p:txBody>
        </p:sp>
      </p:grpSp>
      <p:grpSp>
        <p:nvGrpSpPr>
          <p:cNvPr id="6" name="Group 5">
            <a:extLst>
              <a:ext uri="{FF2B5EF4-FFF2-40B4-BE49-F238E27FC236}">
                <a16:creationId xmlns:a16="http://schemas.microsoft.com/office/drawing/2014/main" id="{AE79A9DA-16D6-A3DC-A1C0-5960A84AD4DA}"/>
              </a:ext>
            </a:extLst>
          </p:cNvPr>
          <p:cNvGrpSpPr/>
          <p:nvPr/>
        </p:nvGrpSpPr>
        <p:grpSpPr>
          <a:xfrm>
            <a:off x="157715" y="4283416"/>
            <a:ext cx="459568" cy="452812"/>
            <a:chOff x="181465" y="3722203"/>
            <a:chExt cx="464124" cy="499425"/>
          </a:xfrm>
        </p:grpSpPr>
        <p:pic>
          <p:nvPicPr>
            <p:cNvPr id="3" name="Graphic 2" descr="Group success with solid fill">
              <a:extLst>
                <a:ext uri="{FF2B5EF4-FFF2-40B4-BE49-F238E27FC236}">
                  <a16:creationId xmlns:a16="http://schemas.microsoft.com/office/drawing/2014/main" id="{68C532C9-2449-BF47-EC43-82B37E9BE6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81465" y="3722203"/>
              <a:ext cx="464124" cy="499425"/>
            </a:xfrm>
            <a:prstGeom prst="rect">
              <a:avLst/>
            </a:prstGeom>
          </p:spPr>
        </p:pic>
        <p:sp>
          <p:nvSpPr>
            <p:cNvPr id="4" name="Oval 3">
              <a:extLst>
                <a:ext uri="{FF2B5EF4-FFF2-40B4-BE49-F238E27FC236}">
                  <a16:creationId xmlns:a16="http://schemas.microsoft.com/office/drawing/2014/main" id="{5BD6AB33-FE10-6552-4BC1-BCBD41524A2E}"/>
                </a:ext>
              </a:extLst>
            </p:cNvPr>
            <p:cNvSpPr/>
            <p:nvPr/>
          </p:nvSpPr>
          <p:spPr>
            <a:xfrm>
              <a:off x="181465" y="3725174"/>
              <a:ext cx="464124" cy="487455"/>
            </a:xfrm>
            <a:prstGeom prst="ellipse">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4">
                    <a:lumMod val="60000"/>
                    <a:lumOff val="40000"/>
                  </a:schemeClr>
                </a:solidFill>
              </a:endParaRPr>
            </a:p>
          </p:txBody>
        </p:sp>
      </p:grpSp>
      <p:pic>
        <p:nvPicPr>
          <p:cNvPr id="11" name="Picture 10">
            <a:extLst>
              <a:ext uri="{FF2B5EF4-FFF2-40B4-BE49-F238E27FC236}">
                <a16:creationId xmlns:a16="http://schemas.microsoft.com/office/drawing/2014/main" id="{77F8888D-A2DD-A536-0908-EFEB0B947EDF}"/>
              </a:ext>
            </a:extLst>
          </p:cNvPr>
          <p:cNvPicPr>
            <a:picLocks noChangeAspect="1"/>
          </p:cNvPicPr>
          <p:nvPr/>
        </p:nvPicPr>
        <p:blipFill>
          <a:blip r:embed="rId3"/>
          <a:stretch>
            <a:fillRect/>
          </a:stretch>
        </p:blipFill>
        <p:spPr>
          <a:xfrm>
            <a:off x="2754719" y="4283416"/>
            <a:ext cx="452812" cy="452812"/>
          </a:xfrm>
          <a:prstGeom prst="rect">
            <a:avLst/>
          </a:prstGeom>
        </p:spPr>
      </p:pic>
      <p:sp>
        <p:nvSpPr>
          <p:cNvPr id="12" name="Rectangle: Rounded Corners 11">
            <a:extLst>
              <a:ext uri="{FF2B5EF4-FFF2-40B4-BE49-F238E27FC236}">
                <a16:creationId xmlns:a16="http://schemas.microsoft.com/office/drawing/2014/main" id="{A24F6E2C-B8E5-3CD8-8BE7-569F3ACCAAB3}"/>
              </a:ext>
            </a:extLst>
          </p:cNvPr>
          <p:cNvSpPr/>
          <p:nvPr/>
        </p:nvSpPr>
        <p:spPr>
          <a:xfrm>
            <a:off x="2215" y="0"/>
            <a:ext cx="4148938" cy="116134"/>
          </a:xfrm>
          <a:prstGeom prst="roundRect">
            <a:avLst>
              <a:gd name="adj" fmla="val 10185"/>
            </a:avLst>
          </a:prstGeom>
          <a:gradFill>
            <a:gsLst>
              <a:gs pos="0">
                <a:schemeClr val="accent1">
                  <a:lumMod val="0"/>
                  <a:lumOff val="100000"/>
                </a:schemeClr>
              </a:gs>
              <a:gs pos="30000">
                <a:schemeClr val="accent1">
                  <a:lumMod val="0"/>
                  <a:lumOff val="100000"/>
                  <a:alpha val="8000"/>
                </a:schemeClr>
              </a:gs>
              <a:gs pos="100000">
                <a:schemeClr val="accent1">
                  <a:lumMod val="100000"/>
                </a:schemeClr>
              </a:gs>
            </a:gsLst>
            <a:path path="circle">
              <a:fillToRect l="50000" t="-80000" r="50000" b="18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Freeform: Shape 40">
            <a:extLst>
              <a:ext uri="{FF2B5EF4-FFF2-40B4-BE49-F238E27FC236}">
                <a16:creationId xmlns:a16="http://schemas.microsoft.com/office/drawing/2014/main" id="{D6102148-445E-8399-8846-4FBC996CF722}"/>
              </a:ext>
            </a:extLst>
          </p:cNvPr>
          <p:cNvSpPr/>
          <p:nvPr/>
        </p:nvSpPr>
        <p:spPr>
          <a:xfrm>
            <a:off x="1367408" y="4547387"/>
            <a:ext cx="126432" cy="159868"/>
          </a:xfrm>
          <a:custGeom>
            <a:avLst/>
            <a:gdLst/>
            <a:ahLst/>
            <a:cxnLst/>
            <a:rect l="l" t="t" r="r" b="b"/>
            <a:pathLst>
              <a:path w="428244" h="452323">
                <a:moveTo>
                  <a:pt x="0" y="0"/>
                </a:moveTo>
                <a:lnTo>
                  <a:pt x="427939" y="0"/>
                </a:lnTo>
                <a:lnTo>
                  <a:pt x="428244" y="129845"/>
                </a:lnTo>
                <a:lnTo>
                  <a:pt x="382524" y="129845"/>
                </a:lnTo>
                <a:lnTo>
                  <a:pt x="369723" y="62484"/>
                </a:lnTo>
                <a:cubicBezTo>
                  <a:pt x="368910" y="58623"/>
                  <a:pt x="367183" y="55728"/>
                  <a:pt x="364541" y="53797"/>
                </a:cubicBezTo>
                <a:cubicBezTo>
                  <a:pt x="361899" y="51867"/>
                  <a:pt x="359156" y="50902"/>
                  <a:pt x="356311" y="50902"/>
                </a:cubicBezTo>
                <a:lnTo>
                  <a:pt x="259995" y="50597"/>
                </a:lnTo>
                <a:lnTo>
                  <a:pt x="259995" y="390144"/>
                </a:lnTo>
                <a:cubicBezTo>
                  <a:pt x="260198" y="394614"/>
                  <a:pt x="261468" y="397967"/>
                  <a:pt x="263805" y="400202"/>
                </a:cubicBezTo>
                <a:cubicBezTo>
                  <a:pt x="266141" y="402438"/>
                  <a:pt x="268732" y="404063"/>
                  <a:pt x="271577" y="405079"/>
                </a:cubicBezTo>
                <a:lnTo>
                  <a:pt x="324307" y="424586"/>
                </a:lnTo>
                <a:lnTo>
                  <a:pt x="324307" y="452323"/>
                </a:lnTo>
                <a:lnTo>
                  <a:pt x="103937" y="452323"/>
                </a:lnTo>
                <a:lnTo>
                  <a:pt x="103632" y="424586"/>
                </a:lnTo>
                <a:lnTo>
                  <a:pt x="156667" y="405079"/>
                </a:lnTo>
                <a:cubicBezTo>
                  <a:pt x="160325" y="403860"/>
                  <a:pt x="163170" y="402184"/>
                  <a:pt x="165202" y="400050"/>
                </a:cubicBezTo>
                <a:cubicBezTo>
                  <a:pt x="167234" y="397916"/>
                  <a:pt x="168148" y="394614"/>
                  <a:pt x="167945" y="390144"/>
                </a:cubicBezTo>
                <a:lnTo>
                  <a:pt x="168250" y="50597"/>
                </a:lnTo>
                <a:lnTo>
                  <a:pt x="71933" y="50597"/>
                </a:lnTo>
                <a:cubicBezTo>
                  <a:pt x="68479" y="50597"/>
                  <a:pt x="65583" y="51562"/>
                  <a:pt x="63246" y="53492"/>
                </a:cubicBezTo>
                <a:cubicBezTo>
                  <a:pt x="60909" y="55423"/>
                  <a:pt x="59335" y="58522"/>
                  <a:pt x="58522" y="62789"/>
                </a:cubicBezTo>
                <a:lnTo>
                  <a:pt x="45415" y="129845"/>
                </a:lnTo>
                <a:lnTo>
                  <a:pt x="305" y="12954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5" name="Freeform: Shape 44">
            <a:extLst>
              <a:ext uri="{FF2B5EF4-FFF2-40B4-BE49-F238E27FC236}">
                <a16:creationId xmlns:a16="http://schemas.microsoft.com/office/drawing/2014/main" id="{81DF7098-A6EF-EDD2-2C66-B2AB09DD76B3}"/>
              </a:ext>
            </a:extLst>
          </p:cNvPr>
          <p:cNvSpPr/>
          <p:nvPr/>
        </p:nvSpPr>
        <p:spPr>
          <a:xfrm>
            <a:off x="1695771" y="4842756"/>
            <a:ext cx="176844" cy="113627"/>
          </a:xfrm>
          <a:custGeom>
            <a:avLst/>
            <a:gdLst/>
            <a:ahLst/>
            <a:cxnLst/>
            <a:rect l="l" t="t" r="r" b="b"/>
            <a:pathLst>
              <a:path w="623011" h="354482">
                <a:moveTo>
                  <a:pt x="247802" y="0"/>
                </a:moveTo>
                <a:cubicBezTo>
                  <a:pt x="264261" y="0"/>
                  <a:pt x="279400" y="2540"/>
                  <a:pt x="293217" y="7620"/>
                </a:cubicBezTo>
                <a:cubicBezTo>
                  <a:pt x="307035" y="12700"/>
                  <a:pt x="318973" y="20574"/>
                  <a:pt x="329031" y="31242"/>
                </a:cubicBezTo>
                <a:cubicBezTo>
                  <a:pt x="334061" y="36576"/>
                  <a:pt x="338417" y="42684"/>
                  <a:pt x="342100" y="49568"/>
                </a:cubicBezTo>
                <a:lnTo>
                  <a:pt x="348306" y="65358"/>
                </a:lnTo>
                <a:lnTo>
                  <a:pt x="356197" y="55416"/>
                </a:lnTo>
                <a:cubicBezTo>
                  <a:pt x="368313" y="40976"/>
                  <a:pt x="379628" y="30022"/>
                  <a:pt x="390144" y="22555"/>
                </a:cubicBezTo>
                <a:cubicBezTo>
                  <a:pt x="404165" y="12598"/>
                  <a:pt x="417322" y="6350"/>
                  <a:pt x="429616" y="3810"/>
                </a:cubicBezTo>
                <a:cubicBezTo>
                  <a:pt x="441909" y="1270"/>
                  <a:pt x="453745" y="0"/>
                  <a:pt x="465125" y="0"/>
                </a:cubicBezTo>
                <a:cubicBezTo>
                  <a:pt x="485038" y="0"/>
                  <a:pt x="503377" y="3962"/>
                  <a:pt x="520141" y="11887"/>
                </a:cubicBezTo>
                <a:cubicBezTo>
                  <a:pt x="536905" y="19812"/>
                  <a:pt x="550418" y="32258"/>
                  <a:pt x="560679" y="49225"/>
                </a:cubicBezTo>
                <a:cubicBezTo>
                  <a:pt x="570941" y="66192"/>
                  <a:pt x="576072" y="88188"/>
                  <a:pt x="576072" y="115214"/>
                </a:cubicBezTo>
                <a:lnTo>
                  <a:pt x="576072" y="295656"/>
                </a:lnTo>
                <a:cubicBezTo>
                  <a:pt x="576072" y="300533"/>
                  <a:pt x="577189" y="303987"/>
                  <a:pt x="579425" y="306019"/>
                </a:cubicBezTo>
                <a:cubicBezTo>
                  <a:pt x="581660" y="308051"/>
                  <a:pt x="584505" y="309880"/>
                  <a:pt x="587959" y="311505"/>
                </a:cubicBezTo>
                <a:lnTo>
                  <a:pt x="623011" y="327050"/>
                </a:lnTo>
                <a:lnTo>
                  <a:pt x="623011" y="354482"/>
                </a:lnTo>
                <a:lnTo>
                  <a:pt x="444094" y="354482"/>
                </a:lnTo>
                <a:lnTo>
                  <a:pt x="444094" y="327050"/>
                </a:lnTo>
                <a:lnTo>
                  <a:pt x="475793" y="311505"/>
                </a:lnTo>
                <a:cubicBezTo>
                  <a:pt x="479247" y="309677"/>
                  <a:pt x="482143" y="307797"/>
                  <a:pt x="484479" y="305866"/>
                </a:cubicBezTo>
                <a:cubicBezTo>
                  <a:pt x="486816" y="303936"/>
                  <a:pt x="487985" y="300533"/>
                  <a:pt x="487985" y="295656"/>
                </a:cubicBezTo>
                <a:lnTo>
                  <a:pt x="487985" y="151485"/>
                </a:lnTo>
                <a:cubicBezTo>
                  <a:pt x="487985" y="131978"/>
                  <a:pt x="486461" y="115519"/>
                  <a:pt x="483413" y="102108"/>
                </a:cubicBezTo>
                <a:cubicBezTo>
                  <a:pt x="480365" y="88696"/>
                  <a:pt x="474319" y="78486"/>
                  <a:pt x="465277" y="71475"/>
                </a:cubicBezTo>
                <a:cubicBezTo>
                  <a:pt x="456235" y="64465"/>
                  <a:pt x="442671" y="60960"/>
                  <a:pt x="424586" y="60960"/>
                </a:cubicBezTo>
                <a:cubicBezTo>
                  <a:pt x="413207" y="60960"/>
                  <a:pt x="400507" y="62992"/>
                  <a:pt x="386486" y="67056"/>
                </a:cubicBezTo>
                <a:cubicBezTo>
                  <a:pt x="375971" y="70104"/>
                  <a:pt x="367055" y="76181"/>
                  <a:pt x="359740" y="85287"/>
                </a:cubicBezTo>
                <a:lnTo>
                  <a:pt x="355701" y="91310"/>
                </a:lnTo>
                <a:lnTo>
                  <a:pt x="355701" y="295656"/>
                </a:lnTo>
                <a:cubicBezTo>
                  <a:pt x="355701" y="300533"/>
                  <a:pt x="356819" y="303885"/>
                  <a:pt x="359054" y="305714"/>
                </a:cubicBezTo>
                <a:cubicBezTo>
                  <a:pt x="361289" y="307543"/>
                  <a:pt x="364134" y="309473"/>
                  <a:pt x="367589" y="311505"/>
                </a:cubicBezTo>
                <a:lnTo>
                  <a:pt x="395325" y="327050"/>
                </a:lnTo>
                <a:lnTo>
                  <a:pt x="395325" y="354482"/>
                </a:lnTo>
                <a:lnTo>
                  <a:pt x="228905" y="354482"/>
                </a:lnTo>
                <a:lnTo>
                  <a:pt x="228905" y="327050"/>
                </a:lnTo>
                <a:lnTo>
                  <a:pt x="259080" y="311505"/>
                </a:lnTo>
                <a:cubicBezTo>
                  <a:pt x="262534" y="309677"/>
                  <a:pt x="265430" y="307797"/>
                  <a:pt x="267767" y="305866"/>
                </a:cubicBezTo>
                <a:cubicBezTo>
                  <a:pt x="270103" y="303936"/>
                  <a:pt x="271272" y="300533"/>
                  <a:pt x="271272" y="295656"/>
                </a:cubicBezTo>
                <a:lnTo>
                  <a:pt x="271272" y="151485"/>
                </a:lnTo>
                <a:cubicBezTo>
                  <a:pt x="271272" y="131978"/>
                  <a:pt x="269748" y="115519"/>
                  <a:pt x="266700" y="102108"/>
                </a:cubicBezTo>
                <a:cubicBezTo>
                  <a:pt x="263652" y="88696"/>
                  <a:pt x="257657" y="78486"/>
                  <a:pt x="248717" y="71475"/>
                </a:cubicBezTo>
                <a:cubicBezTo>
                  <a:pt x="239776" y="64465"/>
                  <a:pt x="226568" y="60960"/>
                  <a:pt x="209093" y="60960"/>
                </a:cubicBezTo>
                <a:cubicBezTo>
                  <a:pt x="197104" y="60960"/>
                  <a:pt x="184505" y="62738"/>
                  <a:pt x="171297" y="66294"/>
                </a:cubicBezTo>
                <a:cubicBezTo>
                  <a:pt x="158089" y="69850"/>
                  <a:pt x="147320" y="77724"/>
                  <a:pt x="138989" y="89916"/>
                </a:cubicBezTo>
                <a:lnTo>
                  <a:pt x="138989" y="297180"/>
                </a:lnTo>
                <a:cubicBezTo>
                  <a:pt x="138989" y="301244"/>
                  <a:pt x="140157" y="304190"/>
                  <a:pt x="142494" y="306019"/>
                </a:cubicBezTo>
                <a:cubicBezTo>
                  <a:pt x="144831" y="307848"/>
                  <a:pt x="147625" y="309677"/>
                  <a:pt x="150876" y="311505"/>
                </a:cubicBezTo>
                <a:lnTo>
                  <a:pt x="179527" y="327050"/>
                </a:lnTo>
                <a:lnTo>
                  <a:pt x="179527" y="354482"/>
                </a:lnTo>
                <a:lnTo>
                  <a:pt x="0" y="354482"/>
                </a:lnTo>
                <a:lnTo>
                  <a:pt x="0" y="327050"/>
                </a:lnTo>
                <a:lnTo>
                  <a:pt x="39319" y="311505"/>
                </a:lnTo>
                <a:cubicBezTo>
                  <a:pt x="42367" y="310083"/>
                  <a:pt x="45110" y="308356"/>
                  <a:pt x="47549" y="306324"/>
                </a:cubicBezTo>
                <a:cubicBezTo>
                  <a:pt x="49987" y="304292"/>
                  <a:pt x="51206" y="301244"/>
                  <a:pt x="51206" y="297180"/>
                </a:cubicBezTo>
                <a:lnTo>
                  <a:pt x="51206" y="78028"/>
                </a:lnTo>
                <a:cubicBezTo>
                  <a:pt x="51206" y="73761"/>
                  <a:pt x="49987" y="70612"/>
                  <a:pt x="47549" y="68580"/>
                </a:cubicBezTo>
                <a:cubicBezTo>
                  <a:pt x="45110" y="66548"/>
                  <a:pt x="42367" y="64922"/>
                  <a:pt x="39319" y="63703"/>
                </a:cubicBezTo>
                <a:lnTo>
                  <a:pt x="0" y="46939"/>
                </a:lnTo>
                <a:lnTo>
                  <a:pt x="0" y="18592"/>
                </a:lnTo>
                <a:lnTo>
                  <a:pt x="131978" y="2743"/>
                </a:lnTo>
                <a:lnTo>
                  <a:pt x="131978" y="56692"/>
                </a:lnTo>
                <a:lnTo>
                  <a:pt x="137160" y="56692"/>
                </a:lnTo>
                <a:cubicBezTo>
                  <a:pt x="156464" y="31902"/>
                  <a:pt x="175514" y="16256"/>
                  <a:pt x="194310" y="9753"/>
                </a:cubicBezTo>
                <a:cubicBezTo>
                  <a:pt x="213106" y="3251"/>
                  <a:pt x="230937" y="0"/>
                  <a:pt x="247802"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6" name="Freeform: Shape 45">
            <a:extLst>
              <a:ext uri="{FF2B5EF4-FFF2-40B4-BE49-F238E27FC236}">
                <a16:creationId xmlns:a16="http://schemas.microsoft.com/office/drawing/2014/main" id="{58BDB899-D5A8-A41C-2AB4-B386C2021D14}"/>
              </a:ext>
            </a:extLst>
          </p:cNvPr>
          <p:cNvSpPr/>
          <p:nvPr/>
        </p:nvSpPr>
        <p:spPr>
          <a:xfrm>
            <a:off x="966754" y="5357209"/>
            <a:ext cx="113381" cy="108263"/>
          </a:xfrm>
          <a:custGeom>
            <a:avLst/>
            <a:gdLst/>
            <a:ahLst/>
            <a:cxnLst/>
            <a:rect l="l" t="t" r="r" b="b"/>
            <a:pathLst>
              <a:path w="376428" h="361188">
                <a:moveTo>
                  <a:pt x="220675" y="184099"/>
                </a:moveTo>
                <a:cubicBezTo>
                  <a:pt x="195072" y="184099"/>
                  <a:pt x="172567" y="185877"/>
                  <a:pt x="153162" y="189433"/>
                </a:cubicBezTo>
                <a:cubicBezTo>
                  <a:pt x="133756" y="192989"/>
                  <a:pt x="118668" y="199492"/>
                  <a:pt x="107899" y="208940"/>
                </a:cubicBezTo>
                <a:cubicBezTo>
                  <a:pt x="97129" y="218389"/>
                  <a:pt x="91744" y="232156"/>
                  <a:pt x="91744" y="250241"/>
                </a:cubicBezTo>
                <a:cubicBezTo>
                  <a:pt x="91744" y="264871"/>
                  <a:pt x="94640" y="276149"/>
                  <a:pt x="100431" y="284073"/>
                </a:cubicBezTo>
                <a:cubicBezTo>
                  <a:pt x="106222" y="291998"/>
                  <a:pt x="113436" y="297586"/>
                  <a:pt x="122072" y="300838"/>
                </a:cubicBezTo>
                <a:cubicBezTo>
                  <a:pt x="130708" y="304089"/>
                  <a:pt x="138988" y="305714"/>
                  <a:pt x="146913" y="305714"/>
                </a:cubicBezTo>
                <a:cubicBezTo>
                  <a:pt x="158902" y="305714"/>
                  <a:pt x="172161" y="303073"/>
                  <a:pt x="186690" y="297790"/>
                </a:cubicBezTo>
                <a:cubicBezTo>
                  <a:pt x="201218" y="292506"/>
                  <a:pt x="212547" y="283769"/>
                  <a:pt x="220675" y="271577"/>
                </a:cubicBezTo>
                <a:close/>
                <a:moveTo>
                  <a:pt x="174345" y="0"/>
                </a:moveTo>
                <a:cubicBezTo>
                  <a:pt x="197307" y="0"/>
                  <a:pt x="218998" y="2895"/>
                  <a:pt x="239420" y="8687"/>
                </a:cubicBezTo>
                <a:cubicBezTo>
                  <a:pt x="259842" y="14478"/>
                  <a:pt x="276555" y="25349"/>
                  <a:pt x="289560" y="41300"/>
                </a:cubicBezTo>
                <a:cubicBezTo>
                  <a:pt x="302564" y="57251"/>
                  <a:pt x="309067" y="80365"/>
                  <a:pt x="309067" y="110642"/>
                </a:cubicBezTo>
                <a:lnTo>
                  <a:pt x="309067" y="281025"/>
                </a:lnTo>
                <a:cubicBezTo>
                  <a:pt x="309067" y="289357"/>
                  <a:pt x="311912" y="296113"/>
                  <a:pt x="317601" y="301295"/>
                </a:cubicBezTo>
                <a:cubicBezTo>
                  <a:pt x="323291" y="306476"/>
                  <a:pt x="329387" y="309067"/>
                  <a:pt x="335889" y="309067"/>
                </a:cubicBezTo>
                <a:cubicBezTo>
                  <a:pt x="340766" y="309067"/>
                  <a:pt x="345897" y="308356"/>
                  <a:pt x="351282" y="306934"/>
                </a:cubicBezTo>
                <a:cubicBezTo>
                  <a:pt x="356666" y="305511"/>
                  <a:pt x="361797" y="303886"/>
                  <a:pt x="366674" y="302057"/>
                </a:cubicBezTo>
                <a:lnTo>
                  <a:pt x="376428" y="302057"/>
                </a:lnTo>
                <a:lnTo>
                  <a:pt x="376428" y="333451"/>
                </a:lnTo>
                <a:cubicBezTo>
                  <a:pt x="371348" y="336906"/>
                  <a:pt x="364236" y="340817"/>
                  <a:pt x="355092" y="345186"/>
                </a:cubicBezTo>
                <a:cubicBezTo>
                  <a:pt x="345948" y="349555"/>
                  <a:pt x="336448" y="353314"/>
                  <a:pt x="326593" y="356463"/>
                </a:cubicBezTo>
                <a:cubicBezTo>
                  <a:pt x="316738" y="359613"/>
                  <a:pt x="307949" y="361188"/>
                  <a:pt x="300228" y="361188"/>
                </a:cubicBezTo>
                <a:cubicBezTo>
                  <a:pt x="275844" y="361188"/>
                  <a:pt x="257657" y="356362"/>
                  <a:pt x="245668" y="346710"/>
                </a:cubicBezTo>
                <a:cubicBezTo>
                  <a:pt x="233680" y="337058"/>
                  <a:pt x="227685" y="322377"/>
                  <a:pt x="227685" y="302666"/>
                </a:cubicBezTo>
                <a:lnTo>
                  <a:pt x="222808" y="302666"/>
                </a:lnTo>
                <a:cubicBezTo>
                  <a:pt x="211226" y="319532"/>
                  <a:pt x="198323" y="332181"/>
                  <a:pt x="184099" y="340614"/>
                </a:cubicBezTo>
                <a:cubicBezTo>
                  <a:pt x="169875" y="349047"/>
                  <a:pt x="155600" y="354584"/>
                  <a:pt x="141274" y="357225"/>
                </a:cubicBezTo>
                <a:cubicBezTo>
                  <a:pt x="126949" y="359867"/>
                  <a:pt x="113893" y="361188"/>
                  <a:pt x="102108" y="361188"/>
                </a:cubicBezTo>
                <a:cubicBezTo>
                  <a:pt x="80568" y="361188"/>
                  <a:pt x="62179" y="356463"/>
                  <a:pt x="46939" y="347015"/>
                </a:cubicBezTo>
                <a:cubicBezTo>
                  <a:pt x="31699" y="337566"/>
                  <a:pt x="20066" y="325272"/>
                  <a:pt x="12039" y="310134"/>
                </a:cubicBezTo>
                <a:cubicBezTo>
                  <a:pt x="4013" y="294995"/>
                  <a:pt x="0" y="278993"/>
                  <a:pt x="0" y="262128"/>
                </a:cubicBezTo>
                <a:cubicBezTo>
                  <a:pt x="0" y="240182"/>
                  <a:pt x="5334" y="221437"/>
                  <a:pt x="16002" y="205892"/>
                </a:cubicBezTo>
                <a:cubicBezTo>
                  <a:pt x="26670" y="190347"/>
                  <a:pt x="40436" y="177800"/>
                  <a:pt x="57302" y="168249"/>
                </a:cubicBezTo>
                <a:cubicBezTo>
                  <a:pt x="74168" y="158699"/>
                  <a:pt x="92100" y="151689"/>
                  <a:pt x="111099" y="147218"/>
                </a:cubicBezTo>
                <a:cubicBezTo>
                  <a:pt x="130098" y="142748"/>
                  <a:pt x="147828" y="140513"/>
                  <a:pt x="164287" y="140513"/>
                </a:cubicBezTo>
                <a:cubicBezTo>
                  <a:pt x="167538" y="140513"/>
                  <a:pt x="173075" y="140868"/>
                  <a:pt x="180898" y="141579"/>
                </a:cubicBezTo>
                <a:cubicBezTo>
                  <a:pt x="188722" y="142291"/>
                  <a:pt x="196596" y="143103"/>
                  <a:pt x="204520" y="144018"/>
                </a:cubicBezTo>
                <a:cubicBezTo>
                  <a:pt x="212445" y="144932"/>
                  <a:pt x="217830" y="145593"/>
                  <a:pt x="220675" y="145999"/>
                </a:cubicBezTo>
                <a:lnTo>
                  <a:pt x="220675" y="113385"/>
                </a:lnTo>
                <a:cubicBezTo>
                  <a:pt x="220675" y="90017"/>
                  <a:pt x="215849" y="72898"/>
                  <a:pt x="206197" y="62027"/>
                </a:cubicBezTo>
                <a:cubicBezTo>
                  <a:pt x="196545" y="51155"/>
                  <a:pt x="181965" y="45720"/>
                  <a:pt x="162458" y="45720"/>
                </a:cubicBezTo>
                <a:cubicBezTo>
                  <a:pt x="152908" y="45720"/>
                  <a:pt x="142646" y="48006"/>
                  <a:pt x="131673" y="52578"/>
                </a:cubicBezTo>
                <a:cubicBezTo>
                  <a:pt x="120700" y="57150"/>
                  <a:pt x="109778" y="62687"/>
                  <a:pt x="98907" y="69189"/>
                </a:cubicBezTo>
                <a:cubicBezTo>
                  <a:pt x="88036" y="75692"/>
                  <a:pt x="77978" y="82143"/>
                  <a:pt x="68732" y="88544"/>
                </a:cubicBezTo>
                <a:cubicBezTo>
                  <a:pt x="59486" y="94945"/>
                  <a:pt x="51917" y="99974"/>
                  <a:pt x="46024" y="103632"/>
                </a:cubicBezTo>
                <a:lnTo>
                  <a:pt x="25908" y="103632"/>
                </a:lnTo>
                <a:lnTo>
                  <a:pt x="25908" y="27737"/>
                </a:lnTo>
                <a:cubicBezTo>
                  <a:pt x="40538" y="23266"/>
                  <a:pt x="55016" y="18897"/>
                  <a:pt x="69342" y="14630"/>
                </a:cubicBezTo>
                <a:cubicBezTo>
                  <a:pt x="83667" y="10363"/>
                  <a:pt x="99212" y="6858"/>
                  <a:pt x="115976" y="4115"/>
                </a:cubicBezTo>
                <a:cubicBezTo>
                  <a:pt x="132740" y="1371"/>
                  <a:pt x="152196" y="0"/>
                  <a:pt x="174345"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7" name="Freeform: Shape 46">
            <a:extLst>
              <a:ext uri="{FF2B5EF4-FFF2-40B4-BE49-F238E27FC236}">
                <a16:creationId xmlns:a16="http://schemas.microsoft.com/office/drawing/2014/main" id="{7884690B-457B-DA40-8768-F4ED16C90FDA}"/>
              </a:ext>
            </a:extLst>
          </p:cNvPr>
          <p:cNvSpPr/>
          <p:nvPr/>
        </p:nvSpPr>
        <p:spPr>
          <a:xfrm rot="10800000">
            <a:off x="1470659" y="5097023"/>
            <a:ext cx="74935" cy="113992"/>
          </a:xfrm>
          <a:custGeom>
            <a:avLst/>
            <a:gdLst/>
            <a:ahLst/>
            <a:cxnLst/>
            <a:rect l="l" t="t" r="r" b="b"/>
            <a:pathLst>
              <a:path w="333451" h="362407">
                <a:moveTo>
                  <a:pt x="170992" y="43891"/>
                </a:moveTo>
                <a:cubicBezTo>
                  <a:pt x="156972" y="43891"/>
                  <a:pt x="144830" y="46787"/>
                  <a:pt x="134569" y="52578"/>
                </a:cubicBezTo>
                <a:cubicBezTo>
                  <a:pt x="124307" y="58369"/>
                  <a:pt x="115773" y="66700"/>
                  <a:pt x="108966" y="77571"/>
                </a:cubicBezTo>
                <a:cubicBezTo>
                  <a:pt x="102158" y="88443"/>
                  <a:pt x="97129" y="101397"/>
                  <a:pt x="93878" y="116433"/>
                </a:cubicBezTo>
                <a:lnTo>
                  <a:pt x="90710" y="137160"/>
                </a:lnTo>
                <a:lnTo>
                  <a:pt x="242316" y="137160"/>
                </a:lnTo>
                <a:cubicBezTo>
                  <a:pt x="242316" y="117449"/>
                  <a:pt x="240030" y="100685"/>
                  <a:pt x="235458" y="86868"/>
                </a:cubicBezTo>
                <a:cubicBezTo>
                  <a:pt x="230886" y="73050"/>
                  <a:pt x="223367" y="62433"/>
                  <a:pt x="212902" y="55016"/>
                </a:cubicBezTo>
                <a:cubicBezTo>
                  <a:pt x="202438" y="47599"/>
                  <a:pt x="188468" y="43891"/>
                  <a:pt x="170992" y="43891"/>
                </a:cubicBezTo>
                <a:close/>
                <a:moveTo>
                  <a:pt x="176479" y="0"/>
                </a:moveTo>
                <a:cubicBezTo>
                  <a:pt x="209397" y="0"/>
                  <a:pt x="237591" y="6248"/>
                  <a:pt x="261061" y="18745"/>
                </a:cubicBezTo>
                <a:cubicBezTo>
                  <a:pt x="284530" y="31242"/>
                  <a:pt x="302463" y="47853"/>
                  <a:pt x="314858" y="68580"/>
                </a:cubicBezTo>
                <a:cubicBezTo>
                  <a:pt x="327253" y="89306"/>
                  <a:pt x="333451" y="112166"/>
                  <a:pt x="333451" y="137160"/>
                </a:cubicBezTo>
                <a:cubicBezTo>
                  <a:pt x="333451" y="140005"/>
                  <a:pt x="333298" y="144475"/>
                  <a:pt x="332994" y="150571"/>
                </a:cubicBezTo>
                <a:cubicBezTo>
                  <a:pt x="332689" y="156667"/>
                  <a:pt x="332333" y="162763"/>
                  <a:pt x="331927" y="168859"/>
                </a:cubicBezTo>
                <a:cubicBezTo>
                  <a:pt x="331520" y="174955"/>
                  <a:pt x="331012" y="179425"/>
                  <a:pt x="330403" y="182270"/>
                </a:cubicBezTo>
                <a:lnTo>
                  <a:pt x="90111" y="182270"/>
                </a:lnTo>
                <a:lnTo>
                  <a:pt x="91744" y="204711"/>
                </a:lnTo>
                <a:cubicBezTo>
                  <a:pt x="93573" y="216421"/>
                  <a:pt x="96316" y="227279"/>
                  <a:pt x="99974" y="237287"/>
                </a:cubicBezTo>
                <a:cubicBezTo>
                  <a:pt x="107289" y="257302"/>
                  <a:pt x="119735" y="272847"/>
                  <a:pt x="137312" y="283921"/>
                </a:cubicBezTo>
                <a:cubicBezTo>
                  <a:pt x="154889" y="294995"/>
                  <a:pt x="178917" y="300533"/>
                  <a:pt x="209397" y="300533"/>
                </a:cubicBezTo>
                <a:cubicBezTo>
                  <a:pt x="225247" y="300533"/>
                  <a:pt x="239979" y="298755"/>
                  <a:pt x="253593" y="295199"/>
                </a:cubicBezTo>
                <a:cubicBezTo>
                  <a:pt x="267208" y="291643"/>
                  <a:pt x="279501" y="287325"/>
                  <a:pt x="290474" y="282245"/>
                </a:cubicBezTo>
                <a:cubicBezTo>
                  <a:pt x="301447" y="277165"/>
                  <a:pt x="310692" y="272389"/>
                  <a:pt x="318211" y="267919"/>
                </a:cubicBezTo>
                <a:lnTo>
                  <a:pt x="332536" y="267919"/>
                </a:lnTo>
                <a:lnTo>
                  <a:pt x="332536" y="308762"/>
                </a:lnTo>
                <a:cubicBezTo>
                  <a:pt x="314858" y="321564"/>
                  <a:pt x="292201" y="333705"/>
                  <a:pt x="264566" y="345186"/>
                </a:cubicBezTo>
                <a:cubicBezTo>
                  <a:pt x="236931" y="356667"/>
                  <a:pt x="207568" y="362407"/>
                  <a:pt x="176479" y="362407"/>
                </a:cubicBezTo>
                <a:cubicBezTo>
                  <a:pt x="143154" y="362407"/>
                  <a:pt x="113182" y="355600"/>
                  <a:pt x="86563" y="341986"/>
                </a:cubicBezTo>
                <a:cubicBezTo>
                  <a:pt x="59944" y="328371"/>
                  <a:pt x="38862" y="308254"/>
                  <a:pt x="23317" y="281635"/>
                </a:cubicBezTo>
                <a:cubicBezTo>
                  <a:pt x="7772" y="255016"/>
                  <a:pt x="0" y="222605"/>
                  <a:pt x="0" y="184404"/>
                </a:cubicBezTo>
                <a:cubicBezTo>
                  <a:pt x="0" y="149250"/>
                  <a:pt x="7416" y="117805"/>
                  <a:pt x="22250" y="90068"/>
                </a:cubicBezTo>
                <a:cubicBezTo>
                  <a:pt x="37084" y="62331"/>
                  <a:pt x="57759" y="40386"/>
                  <a:pt x="84277" y="24231"/>
                </a:cubicBezTo>
                <a:cubicBezTo>
                  <a:pt x="110794" y="8077"/>
                  <a:pt x="141528" y="0"/>
                  <a:pt x="176479"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3105277297"/>
      </p:ext>
    </p:extLst>
  </p:cSld>
  <p:clrMapOvr>
    <a:masterClrMapping/>
  </p:clrMapOvr>
  <mc:AlternateContent xmlns:mc="http://schemas.openxmlformats.org/markup-compatibility/2006" xmlns:p14="http://schemas.microsoft.com/office/powerpoint/2010/main">
    <mc:Choice Requires="p14">
      <p:transition p14:dur="10" advClick="0" advTm="2000"/>
    </mc:Choice>
    <mc:Fallback xmlns="">
      <p:transition advClick="0"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F36F1-9E2B-23BE-2AB4-1ABA56C27052}"/>
            </a:ext>
          </a:extLst>
        </p:cNvPr>
        <p:cNvGrpSpPr/>
        <p:nvPr/>
      </p:nvGrpSpPr>
      <p:grpSpPr>
        <a:xfrm>
          <a:off x="0" y="0"/>
          <a:ext cx="0" cy="0"/>
          <a:chOff x="0" y="0"/>
          <a:chExt cx="0" cy="0"/>
        </a:xfrm>
      </p:grpSpPr>
      <p:grpSp>
        <p:nvGrpSpPr>
          <p:cNvPr id="48" name="Group 2">
            <a:extLst>
              <a:ext uri="{FF2B5EF4-FFF2-40B4-BE49-F238E27FC236}">
                <a16:creationId xmlns:a16="http://schemas.microsoft.com/office/drawing/2014/main" id="{18B519EB-33D6-4EE6-1FC2-D4889E4EDA38}"/>
              </a:ext>
            </a:extLst>
          </p:cNvPr>
          <p:cNvGrpSpPr/>
          <p:nvPr/>
        </p:nvGrpSpPr>
        <p:grpSpPr>
          <a:xfrm>
            <a:off x="0" y="0"/>
            <a:ext cx="4153368" cy="126178"/>
            <a:chOff x="0" y="0"/>
            <a:chExt cx="2187782" cy="66464"/>
          </a:xfrm>
        </p:grpSpPr>
        <p:sp>
          <p:nvSpPr>
            <p:cNvPr id="49" name="Freeform 3">
              <a:extLst>
                <a:ext uri="{FF2B5EF4-FFF2-40B4-BE49-F238E27FC236}">
                  <a16:creationId xmlns:a16="http://schemas.microsoft.com/office/drawing/2014/main" id="{6DEAD078-3A08-250C-265D-97618185DABA}"/>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50" name="TextBox 4">
              <a:extLst>
                <a:ext uri="{FF2B5EF4-FFF2-40B4-BE49-F238E27FC236}">
                  <a16:creationId xmlns:a16="http://schemas.microsoft.com/office/drawing/2014/main" id="{E55795F7-9868-2205-B9D3-764A6E15D37D}"/>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1" name="Group 5">
            <a:extLst>
              <a:ext uri="{FF2B5EF4-FFF2-40B4-BE49-F238E27FC236}">
                <a16:creationId xmlns:a16="http://schemas.microsoft.com/office/drawing/2014/main" id="{13A8D4DF-2DEF-13C9-096F-8FED5C24C7B6}"/>
              </a:ext>
            </a:extLst>
          </p:cNvPr>
          <p:cNvGrpSpPr/>
          <p:nvPr/>
        </p:nvGrpSpPr>
        <p:grpSpPr>
          <a:xfrm>
            <a:off x="0" y="5614421"/>
            <a:ext cx="7571294" cy="126178"/>
            <a:chOff x="0" y="0"/>
            <a:chExt cx="3988171" cy="66464"/>
          </a:xfrm>
        </p:grpSpPr>
        <p:sp>
          <p:nvSpPr>
            <p:cNvPr id="52" name="Freeform 6">
              <a:extLst>
                <a:ext uri="{FF2B5EF4-FFF2-40B4-BE49-F238E27FC236}">
                  <a16:creationId xmlns:a16="http://schemas.microsoft.com/office/drawing/2014/main" id="{1F08530C-417F-2BEF-A78F-DC41F9297BF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53" name="TextBox 7">
              <a:extLst>
                <a:ext uri="{FF2B5EF4-FFF2-40B4-BE49-F238E27FC236}">
                  <a16:creationId xmlns:a16="http://schemas.microsoft.com/office/drawing/2014/main" id="{44A5B4D3-4916-6426-CBF3-694DE590A696}"/>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54" name="Group 28">
            <a:extLst>
              <a:ext uri="{FF2B5EF4-FFF2-40B4-BE49-F238E27FC236}">
                <a16:creationId xmlns:a16="http://schemas.microsoft.com/office/drawing/2014/main" id="{B3FAE898-E3DA-EBD8-9D0B-4DA5C588EA06}"/>
              </a:ext>
            </a:extLst>
          </p:cNvPr>
          <p:cNvGrpSpPr/>
          <p:nvPr/>
        </p:nvGrpSpPr>
        <p:grpSpPr>
          <a:xfrm>
            <a:off x="2" y="3022797"/>
            <a:ext cx="4350604" cy="547001"/>
            <a:chOff x="0" y="0"/>
            <a:chExt cx="4355842" cy="406400"/>
          </a:xfrm>
        </p:grpSpPr>
        <p:sp>
          <p:nvSpPr>
            <p:cNvPr id="55" name="Freeform 29">
              <a:extLst>
                <a:ext uri="{FF2B5EF4-FFF2-40B4-BE49-F238E27FC236}">
                  <a16:creationId xmlns:a16="http://schemas.microsoft.com/office/drawing/2014/main" id="{469F5CA2-967E-76A4-C16A-AC99F53A387F}"/>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56" name="TextBox 30">
              <a:extLst>
                <a:ext uri="{FF2B5EF4-FFF2-40B4-BE49-F238E27FC236}">
                  <a16:creationId xmlns:a16="http://schemas.microsoft.com/office/drawing/2014/main" id="{1A95DF8B-A452-E887-F25F-AE74625AC200}"/>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57" name="TextBox 37">
            <a:extLst>
              <a:ext uri="{FF2B5EF4-FFF2-40B4-BE49-F238E27FC236}">
                <a16:creationId xmlns:a16="http://schemas.microsoft.com/office/drawing/2014/main" id="{D662AF49-4EC3-FB3A-BC64-B00ED89CF2D1}"/>
              </a:ext>
            </a:extLst>
          </p:cNvPr>
          <p:cNvSpPr txBox="1"/>
          <p:nvPr/>
        </p:nvSpPr>
        <p:spPr>
          <a:xfrm>
            <a:off x="134470" y="1037104"/>
            <a:ext cx="5103159" cy="1023485"/>
          </a:xfrm>
          <a:prstGeom prst="rect">
            <a:avLst/>
          </a:prstGeom>
        </p:spPr>
        <p:txBody>
          <a:bodyPr wrap="square" lIns="0" tIns="0" rIns="0" bIns="0" rtlCol="0" anchor="ctr">
            <a:spAutoFit/>
          </a:bodyPr>
          <a:lstStyle/>
          <a:p>
            <a:pPr algn="ctr">
              <a:lnSpc>
                <a:spcPct val="200000"/>
              </a:lnSpc>
            </a:pPr>
            <a:r>
              <a:rPr lang="en-IN" b="1" dirty="0">
                <a:solidFill>
                  <a:schemeClr val="accent1">
                    <a:lumMod val="75000"/>
                  </a:schemeClr>
                </a:solidFill>
                <a:latin typeface="Engravers MT" panose="02090707080505020304" pitchFamily="18" charset="0"/>
              </a:rPr>
              <a:t>Real-Time Pothole Detection Using YOLO</a:t>
            </a:r>
            <a:endParaRPr lang="en-US" sz="3600" b="1" dirty="0">
              <a:solidFill>
                <a:schemeClr val="accent1">
                  <a:lumMod val="75000"/>
                </a:schemeClr>
              </a:solidFill>
              <a:latin typeface="Engravers MT" panose="02090707080505020304" pitchFamily="18" charset="0"/>
              <a:ea typeface="Aileron Ultra-Bold"/>
              <a:cs typeface="Aileron Ultra-Bold"/>
              <a:sym typeface="Aileron Ultra-Bold"/>
            </a:endParaRPr>
          </a:p>
        </p:txBody>
      </p:sp>
      <p:sp>
        <p:nvSpPr>
          <p:cNvPr id="58" name="TextBox 44">
            <a:extLst>
              <a:ext uri="{FF2B5EF4-FFF2-40B4-BE49-F238E27FC236}">
                <a16:creationId xmlns:a16="http://schemas.microsoft.com/office/drawing/2014/main" id="{FE80BEFC-962A-1BBC-35B1-0B710136027A}"/>
              </a:ext>
            </a:extLst>
          </p:cNvPr>
          <p:cNvSpPr txBox="1"/>
          <p:nvPr/>
        </p:nvSpPr>
        <p:spPr>
          <a:xfrm>
            <a:off x="466727" y="3100839"/>
            <a:ext cx="3809409" cy="243656"/>
          </a:xfrm>
          <a:prstGeom prst="rect">
            <a:avLst/>
          </a:prstGeom>
        </p:spPr>
        <p:txBody>
          <a:bodyPr lIns="0" tIns="0" rIns="0" bIns="0" rtlCol="0" anchor="t">
            <a:spAutoFit/>
          </a:bodyPr>
          <a:lstStyle/>
          <a:p>
            <a:pPr>
              <a:lnSpc>
                <a:spcPts val="1943"/>
              </a:lnSpc>
            </a:pPr>
            <a:r>
              <a:rPr lang="en-US" sz="1618" b="1" spc="583">
                <a:solidFill>
                  <a:srgbClr val="FFFFFF"/>
                </a:solidFill>
                <a:latin typeface="+mj-lt"/>
                <a:ea typeface="Aileron Bold"/>
                <a:cs typeface="Aileron Bold"/>
                <a:sym typeface="Aileron Bold"/>
              </a:rPr>
              <a:t>PRESENTATION 2026</a:t>
            </a:r>
          </a:p>
        </p:txBody>
      </p:sp>
      <p:sp>
        <p:nvSpPr>
          <p:cNvPr id="60" name="TextBox 40">
            <a:extLst>
              <a:ext uri="{FF2B5EF4-FFF2-40B4-BE49-F238E27FC236}">
                <a16:creationId xmlns:a16="http://schemas.microsoft.com/office/drawing/2014/main" id="{9DEC43DB-303C-E9B1-CB0A-4CFC55ADCDE8}"/>
              </a:ext>
            </a:extLst>
          </p:cNvPr>
          <p:cNvSpPr txBox="1"/>
          <p:nvPr/>
        </p:nvSpPr>
        <p:spPr>
          <a:xfrm>
            <a:off x="641033" y="4283416"/>
            <a:ext cx="1633432"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Team Members</a:t>
            </a:r>
          </a:p>
        </p:txBody>
      </p:sp>
      <p:grpSp>
        <p:nvGrpSpPr>
          <p:cNvPr id="63" name="Group 62">
            <a:extLst>
              <a:ext uri="{FF2B5EF4-FFF2-40B4-BE49-F238E27FC236}">
                <a16:creationId xmlns:a16="http://schemas.microsoft.com/office/drawing/2014/main" id="{5B3603CD-5984-6002-20B3-B339758F31EB}"/>
              </a:ext>
            </a:extLst>
          </p:cNvPr>
          <p:cNvGrpSpPr/>
          <p:nvPr/>
        </p:nvGrpSpPr>
        <p:grpSpPr>
          <a:xfrm>
            <a:off x="3231351" y="4286968"/>
            <a:ext cx="2391390" cy="669415"/>
            <a:chOff x="3139699" y="4295282"/>
            <a:chExt cx="2391390" cy="669415"/>
          </a:xfrm>
        </p:grpSpPr>
        <p:sp>
          <p:nvSpPr>
            <p:cNvPr id="64" name="TextBox 41">
              <a:extLst>
                <a:ext uri="{FF2B5EF4-FFF2-40B4-BE49-F238E27FC236}">
                  <a16:creationId xmlns:a16="http://schemas.microsoft.com/office/drawing/2014/main" id="{5B435244-C3FC-36C5-0D52-AD560BD42168}"/>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GitHub Repository</a:t>
              </a:r>
            </a:p>
          </p:txBody>
        </p:sp>
        <p:sp>
          <p:nvSpPr>
            <p:cNvPr id="65" name="TextBox 43">
              <a:extLst>
                <a:ext uri="{FF2B5EF4-FFF2-40B4-BE49-F238E27FC236}">
                  <a16:creationId xmlns:a16="http://schemas.microsoft.com/office/drawing/2014/main" id="{499F3A15-76DD-686A-4095-1898560A6E67}"/>
                </a:ext>
              </a:extLst>
            </p:cNvPr>
            <p:cNvSpPr txBox="1"/>
            <p:nvPr/>
          </p:nvSpPr>
          <p:spPr>
            <a:xfrm>
              <a:off x="3139699" y="4456866"/>
              <a:ext cx="2391390" cy="507831"/>
            </a:xfrm>
            <a:prstGeom prst="rect">
              <a:avLst/>
            </a:prstGeom>
          </p:spPr>
          <p:txBody>
            <a:bodyPr wrap="square" lIns="0" tIns="0" rIns="0" bIns="0" rtlCol="0" anchor="t">
              <a:spAutoFit/>
            </a:bodyPr>
            <a:lstStyle/>
            <a:p>
              <a:pPr algn="ctr"/>
              <a:endParaRPr lang="en-US" sz="1050" b="1" dirty="0">
                <a:solidFill>
                  <a:srgbClr val="0D358D"/>
                </a:solidFill>
                <a:latin typeface="+mj-lt"/>
                <a:ea typeface="Aileron Bold"/>
                <a:cs typeface="Aileron Bold"/>
                <a:sym typeface="Aileron Bold"/>
              </a:endParaRPr>
            </a:p>
            <a:p>
              <a:pPr algn="ctr"/>
              <a:r>
                <a:rPr lang="en-US" sz="1050" b="1" dirty="0">
                  <a:solidFill>
                    <a:srgbClr val="0D358D"/>
                  </a:solidFill>
                  <a:latin typeface="+mj-lt"/>
                  <a:ea typeface="Aileron Bold"/>
                  <a:cs typeface="Aileron Bold"/>
                  <a:sym typeface="Aileron Bold"/>
                </a:rPr>
                <a:t>https://github.com/rajansharma630/</a:t>
              </a:r>
              <a:r>
                <a:rPr lang="en-US" sz="1200" b="1" dirty="0">
                  <a:solidFill>
                    <a:srgbClr val="0D358D"/>
                  </a:solidFill>
                  <a:latin typeface="+mj-lt"/>
                  <a:ea typeface="Aileron Bold"/>
                  <a:cs typeface="Aileron Bold"/>
                  <a:sym typeface="Aileron Bold"/>
                </a:rPr>
                <a:t>project</a:t>
              </a:r>
              <a:r>
                <a:rPr lang="en-US" sz="1050" b="1" dirty="0">
                  <a:solidFill>
                    <a:srgbClr val="0D358D"/>
                  </a:solidFill>
                  <a:latin typeface="+mj-lt"/>
                  <a:ea typeface="Aileron Bold"/>
                  <a:cs typeface="Aileron Bold"/>
                  <a:sym typeface="Aileron Bold"/>
                </a:rPr>
                <a:t>_for_internship.git</a:t>
              </a:r>
            </a:p>
          </p:txBody>
        </p:sp>
      </p:grpSp>
      <p:grpSp>
        <p:nvGrpSpPr>
          <p:cNvPr id="67" name="Group 66">
            <a:extLst>
              <a:ext uri="{FF2B5EF4-FFF2-40B4-BE49-F238E27FC236}">
                <a16:creationId xmlns:a16="http://schemas.microsoft.com/office/drawing/2014/main" id="{F890DE0C-06F4-E0B0-2831-F93BCE074A7A}"/>
              </a:ext>
            </a:extLst>
          </p:cNvPr>
          <p:cNvGrpSpPr/>
          <p:nvPr/>
        </p:nvGrpSpPr>
        <p:grpSpPr>
          <a:xfrm>
            <a:off x="6085634" y="4308278"/>
            <a:ext cx="2272871" cy="424413"/>
            <a:chOff x="3139699" y="4295282"/>
            <a:chExt cx="2272871" cy="424413"/>
          </a:xfrm>
        </p:grpSpPr>
        <p:sp>
          <p:nvSpPr>
            <p:cNvPr id="68" name="TextBox 41">
              <a:extLst>
                <a:ext uri="{FF2B5EF4-FFF2-40B4-BE49-F238E27FC236}">
                  <a16:creationId xmlns:a16="http://schemas.microsoft.com/office/drawing/2014/main" id="{4593EF47-3847-7E0B-65CD-24A395C77214}"/>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Guide</a:t>
              </a:r>
            </a:p>
          </p:txBody>
        </p:sp>
        <p:sp>
          <p:nvSpPr>
            <p:cNvPr id="69" name="TextBox 43">
              <a:extLst>
                <a:ext uri="{FF2B5EF4-FFF2-40B4-BE49-F238E27FC236}">
                  <a16:creationId xmlns:a16="http://schemas.microsoft.com/office/drawing/2014/main" id="{CB43FE7F-8F58-A64F-90A9-302528BA4777}"/>
                </a:ext>
              </a:extLst>
            </p:cNvPr>
            <p:cNvSpPr txBox="1"/>
            <p:nvPr/>
          </p:nvSpPr>
          <p:spPr>
            <a:xfrm>
              <a:off x="3139699" y="4456866"/>
              <a:ext cx="2272871" cy="262829"/>
            </a:xfrm>
            <a:prstGeom prst="rect">
              <a:avLst/>
            </a:prstGeom>
          </p:spPr>
          <p:txBody>
            <a:bodyPr lIns="0" tIns="0" rIns="0" bIns="0" rtlCol="0" anchor="t">
              <a:spAutoFit/>
            </a:bodyPr>
            <a:lstStyle/>
            <a:p>
              <a:pPr>
                <a:lnSpc>
                  <a:spcPts val="2038"/>
                </a:lnSpc>
              </a:pPr>
              <a:r>
                <a:rPr lang="en-US" b="1" dirty="0">
                  <a:solidFill>
                    <a:srgbClr val="0D358D"/>
                  </a:solidFill>
                  <a:latin typeface="+mj-lt"/>
                  <a:ea typeface="Aileron Bold"/>
                  <a:cs typeface="Aileron Bold"/>
                  <a:sym typeface="Aileron Bold"/>
                </a:rPr>
                <a:t>Ankit Dixit</a:t>
              </a:r>
            </a:p>
          </p:txBody>
        </p:sp>
      </p:grpSp>
      <p:grpSp>
        <p:nvGrpSpPr>
          <p:cNvPr id="6" name="Group 5">
            <a:extLst>
              <a:ext uri="{FF2B5EF4-FFF2-40B4-BE49-F238E27FC236}">
                <a16:creationId xmlns:a16="http://schemas.microsoft.com/office/drawing/2014/main" id="{B8666F05-E10E-E550-49A7-87E4EAFD4034}"/>
              </a:ext>
            </a:extLst>
          </p:cNvPr>
          <p:cNvGrpSpPr/>
          <p:nvPr/>
        </p:nvGrpSpPr>
        <p:grpSpPr>
          <a:xfrm>
            <a:off x="157715" y="4283416"/>
            <a:ext cx="459568" cy="452812"/>
            <a:chOff x="181465" y="3722203"/>
            <a:chExt cx="464124" cy="499425"/>
          </a:xfrm>
        </p:grpSpPr>
        <p:pic>
          <p:nvPicPr>
            <p:cNvPr id="3" name="Graphic 2" descr="Group success with solid fill">
              <a:extLst>
                <a:ext uri="{FF2B5EF4-FFF2-40B4-BE49-F238E27FC236}">
                  <a16:creationId xmlns:a16="http://schemas.microsoft.com/office/drawing/2014/main" id="{BC88F6F5-6A9D-971F-6E88-FBECD487734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81465" y="3722203"/>
              <a:ext cx="464124" cy="499425"/>
            </a:xfrm>
            <a:prstGeom prst="rect">
              <a:avLst/>
            </a:prstGeom>
          </p:spPr>
        </p:pic>
        <p:sp>
          <p:nvSpPr>
            <p:cNvPr id="4" name="Oval 3">
              <a:extLst>
                <a:ext uri="{FF2B5EF4-FFF2-40B4-BE49-F238E27FC236}">
                  <a16:creationId xmlns:a16="http://schemas.microsoft.com/office/drawing/2014/main" id="{D2ACAE03-FF40-1B38-70F5-C8B41D89DA9C}"/>
                </a:ext>
              </a:extLst>
            </p:cNvPr>
            <p:cNvSpPr/>
            <p:nvPr/>
          </p:nvSpPr>
          <p:spPr>
            <a:xfrm>
              <a:off x="181465" y="3725174"/>
              <a:ext cx="464124" cy="487455"/>
            </a:xfrm>
            <a:prstGeom prst="ellipse">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4">
                    <a:lumMod val="60000"/>
                    <a:lumOff val="40000"/>
                  </a:schemeClr>
                </a:solidFill>
              </a:endParaRPr>
            </a:p>
          </p:txBody>
        </p:sp>
      </p:grpSp>
      <p:pic>
        <p:nvPicPr>
          <p:cNvPr id="11" name="Picture 10">
            <a:extLst>
              <a:ext uri="{FF2B5EF4-FFF2-40B4-BE49-F238E27FC236}">
                <a16:creationId xmlns:a16="http://schemas.microsoft.com/office/drawing/2014/main" id="{06C763AC-9AB8-FCEF-20A0-75189617A973}"/>
              </a:ext>
            </a:extLst>
          </p:cNvPr>
          <p:cNvPicPr>
            <a:picLocks noChangeAspect="1"/>
          </p:cNvPicPr>
          <p:nvPr/>
        </p:nvPicPr>
        <p:blipFill>
          <a:blip r:embed="rId3"/>
          <a:stretch>
            <a:fillRect/>
          </a:stretch>
        </p:blipFill>
        <p:spPr>
          <a:xfrm>
            <a:off x="2754719" y="4283416"/>
            <a:ext cx="452812" cy="452812"/>
          </a:xfrm>
          <a:prstGeom prst="rect">
            <a:avLst/>
          </a:prstGeom>
        </p:spPr>
      </p:pic>
      <p:sp>
        <p:nvSpPr>
          <p:cNvPr id="9" name="Parallelogram 8">
            <a:extLst>
              <a:ext uri="{FF2B5EF4-FFF2-40B4-BE49-F238E27FC236}">
                <a16:creationId xmlns:a16="http://schemas.microsoft.com/office/drawing/2014/main" id="{E05F957F-25BE-5E8E-BE15-4039B0D695C1}"/>
              </a:ext>
            </a:extLst>
          </p:cNvPr>
          <p:cNvSpPr>
            <a:spLocks noChangeAspect="1"/>
          </p:cNvSpPr>
          <p:nvPr/>
        </p:nvSpPr>
        <p:spPr>
          <a:xfrm>
            <a:off x="8270059" y="672999"/>
            <a:ext cx="394485" cy="728210"/>
          </a:xfrm>
          <a:prstGeom prst="parallelogram">
            <a:avLst>
              <a:gd name="adj" fmla="val 4746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4DFB0A35-028E-E94E-396E-A59CAB07F2BF}"/>
              </a:ext>
            </a:extLst>
          </p:cNvPr>
          <p:cNvSpPr>
            <a:spLocks noChangeAspect="1"/>
          </p:cNvSpPr>
          <p:nvPr/>
        </p:nvSpPr>
        <p:spPr>
          <a:xfrm>
            <a:off x="7953345" y="498082"/>
            <a:ext cx="711199" cy="204050"/>
          </a:xfrm>
          <a:prstGeom prst="roundRect">
            <a:avLst>
              <a:gd name="adj" fmla="val 20721"/>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42">
            <a:extLst>
              <a:ext uri="{FF2B5EF4-FFF2-40B4-BE49-F238E27FC236}">
                <a16:creationId xmlns:a16="http://schemas.microsoft.com/office/drawing/2014/main" id="{8B41A9A4-50E5-5B0D-20B7-57293A365A38}"/>
              </a:ext>
            </a:extLst>
          </p:cNvPr>
          <p:cNvSpPr txBox="1"/>
          <p:nvPr/>
        </p:nvSpPr>
        <p:spPr>
          <a:xfrm>
            <a:off x="282755" y="4508009"/>
            <a:ext cx="1835467" cy="1025922"/>
          </a:xfrm>
          <a:prstGeom prst="rect">
            <a:avLst/>
          </a:prstGeom>
        </p:spPr>
        <p:txBody>
          <a:bodyPr wrap="square" lIns="0" tIns="0" rIns="0" bIns="0" rtlCol="0" anchor="t">
            <a:spAutoFit/>
          </a:bodyPr>
          <a:lstStyle/>
          <a:p>
            <a:pPr lvl="1">
              <a:lnSpc>
                <a:spcPts val="2038"/>
              </a:lnSpc>
            </a:pPr>
            <a:r>
              <a:rPr lang="en-US" b="1" dirty="0">
                <a:solidFill>
                  <a:schemeClr val="accent1">
                    <a:lumMod val="75000"/>
                  </a:schemeClr>
                </a:solidFill>
                <a:latin typeface="+mj-lt"/>
                <a:ea typeface="Aileron Bold"/>
                <a:cs typeface="Aileron Bold"/>
                <a:sym typeface="Aileron Bold"/>
              </a:rPr>
              <a:t>Shalini Tiwari</a:t>
            </a:r>
          </a:p>
          <a:p>
            <a:pPr lvl="1">
              <a:lnSpc>
                <a:spcPts val="2038"/>
              </a:lnSpc>
            </a:pPr>
            <a:r>
              <a:rPr lang="en-US" b="1" dirty="0">
                <a:solidFill>
                  <a:schemeClr val="accent1">
                    <a:lumMod val="75000"/>
                  </a:schemeClr>
                </a:solidFill>
                <a:latin typeface="+mj-lt"/>
                <a:ea typeface="Aileron Bold"/>
                <a:cs typeface="Aileron Bold"/>
                <a:sym typeface="Aileron Bold"/>
              </a:rPr>
              <a:t>Rajan Sharma</a:t>
            </a:r>
          </a:p>
          <a:p>
            <a:pPr lvl="1">
              <a:lnSpc>
                <a:spcPts val="2038"/>
              </a:lnSpc>
            </a:pPr>
            <a:r>
              <a:rPr lang="en-US" b="1" dirty="0">
                <a:solidFill>
                  <a:schemeClr val="accent1">
                    <a:lumMod val="75000"/>
                  </a:schemeClr>
                </a:solidFill>
                <a:latin typeface="+mj-lt"/>
                <a:ea typeface="Aileron Bold"/>
                <a:cs typeface="Aileron Bold"/>
                <a:sym typeface="Aileron Bold"/>
              </a:rPr>
              <a:t>Dhruv Rai</a:t>
            </a:r>
          </a:p>
          <a:p>
            <a:pPr lvl="1">
              <a:lnSpc>
                <a:spcPts val="2038"/>
              </a:lnSpc>
            </a:pPr>
            <a:r>
              <a:rPr lang="en-US" b="1" dirty="0">
                <a:solidFill>
                  <a:schemeClr val="accent1">
                    <a:lumMod val="75000"/>
                  </a:schemeClr>
                </a:solidFill>
                <a:latin typeface="+mj-lt"/>
                <a:ea typeface="Aileron Bold"/>
                <a:cs typeface="Aileron Bold"/>
                <a:sym typeface="Aileron Bold"/>
              </a:rPr>
              <a:t>Akarsh Singh </a:t>
            </a:r>
          </a:p>
        </p:txBody>
      </p:sp>
      <p:sp>
        <p:nvSpPr>
          <p:cNvPr id="25" name="Freeform: Shape 24">
            <a:extLst>
              <a:ext uri="{FF2B5EF4-FFF2-40B4-BE49-F238E27FC236}">
                <a16:creationId xmlns:a16="http://schemas.microsoft.com/office/drawing/2014/main" id="{93B2AE23-7039-6D8B-789D-5CE74DA6C368}"/>
              </a:ext>
            </a:extLst>
          </p:cNvPr>
          <p:cNvSpPr/>
          <p:nvPr/>
        </p:nvSpPr>
        <p:spPr>
          <a:xfrm>
            <a:off x="6366094" y="1003872"/>
            <a:ext cx="369531" cy="367189"/>
          </a:xfrm>
          <a:custGeom>
            <a:avLst/>
            <a:gdLst/>
            <a:ahLst/>
            <a:cxnLst/>
            <a:rect l="l" t="t" r="r" b="b"/>
            <a:pathLst>
              <a:path w="428244" h="452323">
                <a:moveTo>
                  <a:pt x="0" y="0"/>
                </a:moveTo>
                <a:lnTo>
                  <a:pt x="427939" y="0"/>
                </a:lnTo>
                <a:lnTo>
                  <a:pt x="428244" y="129845"/>
                </a:lnTo>
                <a:lnTo>
                  <a:pt x="382524" y="129845"/>
                </a:lnTo>
                <a:lnTo>
                  <a:pt x="369723" y="62484"/>
                </a:lnTo>
                <a:cubicBezTo>
                  <a:pt x="368910" y="58623"/>
                  <a:pt x="367183" y="55728"/>
                  <a:pt x="364541" y="53797"/>
                </a:cubicBezTo>
                <a:cubicBezTo>
                  <a:pt x="361899" y="51867"/>
                  <a:pt x="359156" y="50902"/>
                  <a:pt x="356311" y="50902"/>
                </a:cubicBezTo>
                <a:lnTo>
                  <a:pt x="259995" y="50597"/>
                </a:lnTo>
                <a:lnTo>
                  <a:pt x="259995" y="390144"/>
                </a:lnTo>
                <a:cubicBezTo>
                  <a:pt x="260198" y="394614"/>
                  <a:pt x="261468" y="397967"/>
                  <a:pt x="263805" y="400202"/>
                </a:cubicBezTo>
                <a:cubicBezTo>
                  <a:pt x="266141" y="402438"/>
                  <a:pt x="268732" y="404063"/>
                  <a:pt x="271577" y="405079"/>
                </a:cubicBezTo>
                <a:lnTo>
                  <a:pt x="324307" y="424586"/>
                </a:lnTo>
                <a:lnTo>
                  <a:pt x="324307" y="452323"/>
                </a:lnTo>
                <a:lnTo>
                  <a:pt x="103937" y="452323"/>
                </a:lnTo>
                <a:lnTo>
                  <a:pt x="103632" y="424586"/>
                </a:lnTo>
                <a:lnTo>
                  <a:pt x="156667" y="405079"/>
                </a:lnTo>
                <a:cubicBezTo>
                  <a:pt x="160325" y="403860"/>
                  <a:pt x="163170" y="402184"/>
                  <a:pt x="165202" y="400050"/>
                </a:cubicBezTo>
                <a:cubicBezTo>
                  <a:pt x="167234" y="397916"/>
                  <a:pt x="168148" y="394614"/>
                  <a:pt x="167945" y="390144"/>
                </a:cubicBezTo>
                <a:lnTo>
                  <a:pt x="168250" y="50597"/>
                </a:lnTo>
                <a:lnTo>
                  <a:pt x="71933" y="50597"/>
                </a:lnTo>
                <a:cubicBezTo>
                  <a:pt x="68479" y="50597"/>
                  <a:pt x="65583" y="51562"/>
                  <a:pt x="63246" y="53492"/>
                </a:cubicBezTo>
                <a:cubicBezTo>
                  <a:pt x="60909" y="55423"/>
                  <a:pt x="59335" y="58522"/>
                  <a:pt x="58522" y="62789"/>
                </a:cubicBezTo>
                <a:lnTo>
                  <a:pt x="45415" y="129845"/>
                </a:lnTo>
                <a:lnTo>
                  <a:pt x="305" y="12954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7" name="Freeform: Shape 26">
            <a:extLst>
              <a:ext uri="{FF2B5EF4-FFF2-40B4-BE49-F238E27FC236}">
                <a16:creationId xmlns:a16="http://schemas.microsoft.com/office/drawing/2014/main" id="{8A3C3137-4DC7-8D2C-7C8D-A78FC31C7B50}"/>
              </a:ext>
            </a:extLst>
          </p:cNvPr>
          <p:cNvSpPr/>
          <p:nvPr/>
        </p:nvSpPr>
        <p:spPr>
          <a:xfrm>
            <a:off x="7426303" y="1093210"/>
            <a:ext cx="469309" cy="287763"/>
          </a:xfrm>
          <a:custGeom>
            <a:avLst/>
            <a:gdLst/>
            <a:ahLst/>
            <a:cxnLst/>
            <a:rect l="l" t="t" r="r" b="b"/>
            <a:pathLst>
              <a:path w="623011" h="354482">
                <a:moveTo>
                  <a:pt x="247802" y="0"/>
                </a:moveTo>
                <a:cubicBezTo>
                  <a:pt x="264261" y="0"/>
                  <a:pt x="279400" y="2540"/>
                  <a:pt x="293217" y="7620"/>
                </a:cubicBezTo>
                <a:cubicBezTo>
                  <a:pt x="307035" y="12700"/>
                  <a:pt x="318973" y="20574"/>
                  <a:pt x="329031" y="31242"/>
                </a:cubicBezTo>
                <a:cubicBezTo>
                  <a:pt x="334061" y="36576"/>
                  <a:pt x="338417" y="42684"/>
                  <a:pt x="342100" y="49568"/>
                </a:cubicBezTo>
                <a:lnTo>
                  <a:pt x="348306" y="65358"/>
                </a:lnTo>
                <a:lnTo>
                  <a:pt x="356197" y="55416"/>
                </a:lnTo>
                <a:cubicBezTo>
                  <a:pt x="368313" y="40976"/>
                  <a:pt x="379628" y="30022"/>
                  <a:pt x="390144" y="22555"/>
                </a:cubicBezTo>
                <a:cubicBezTo>
                  <a:pt x="404165" y="12598"/>
                  <a:pt x="417322" y="6350"/>
                  <a:pt x="429616" y="3810"/>
                </a:cubicBezTo>
                <a:cubicBezTo>
                  <a:pt x="441909" y="1270"/>
                  <a:pt x="453745" y="0"/>
                  <a:pt x="465125" y="0"/>
                </a:cubicBezTo>
                <a:cubicBezTo>
                  <a:pt x="485038" y="0"/>
                  <a:pt x="503377" y="3962"/>
                  <a:pt x="520141" y="11887"/>
                </a:cubicBezTo>
                <a:cubicBezTo>
                  <a:pt x="536905" y="19812"/>
                  <a:pt x="550418" y="32258"/>
                  <a:pt x="560679" y="49225"/>
                </a:cubicBezTo>
                <a:cubicBezTo>
                  <a:pt x="570941" y="66192"/>
                  <a:pt x="576072" y="88188"/>
                  <a:pt x="576072" y="115214"/>
                </a:cubicBezTo>
                <a:lnTo>
                  <a:pt x="576072" y="295656"/>
                </a:lnTo>
                <a:cubicBezTo>
                  <a:pt x="576072" y="300533"/>
                  <a:pt x="577189" y="303987"/>
                  <a:pt x="579425" y="306019"/>
                </a:cubicBezTo>
                <a:cubicBezTo>
                  <a:pt x="581660" y="308051"/>
                  <a:pt x="584505" y="309880"/>
                  <a:pt x="587959" y="311505"/>
                </a:cubicBezTo>
                <a:lnTo>
                  <a:pt x="623011" y="327050"/>
                </a:lnTo>
                <a:lnTo>
                  <a:pt x="623011" y="354482"/>
                </a:lnTo>
                <a:lnTo>
                  <a:pt x="444094" y="354482"/>
                </a:lnTo>
                <a:lnTo>
                  <a:pt x="444094" y="327050"/>
                </a:lnTo>
                <a:lnTo>
                  <a:pt x="475793" y="311505"/>
                </a:lnTo>
                <a:cubicBezTo>
                  <a:pt x="479247" y="309677"/>
                  <a:pt x="482143" y="307797"/>
                  <a:pt x="484479" y="305866"/>
                </a:cubicBezTo>
                <a:cubicBezTo>
                  <a:pt x="486816" y="303936"/>
                  <a:pt x="487985" y="300533"/>
                  <a:pt x="487985" y="295656"/>
                </a:cubicBezTo>
                <a:lnTo>
                  <a:pt x="487985" y="151485"/>
                </a:lnTo>
                <a:cubicBezTo>
                  <a:pt x="487985" y="131978"/>
                  <a:pt x="486461" y="115519"/>
                  <a:pt x="483413" y="102108"/>
                </a:cubicBezTo>
                <a:cubicBezTo>
                  <a:pt x="480365" y="88696"/>
                  <a:pt x="474319" y="78486"/>
                  <a:pt x="465277" y="71475"/>
                </a:cubicBezTo>
                <a:cubicBezTo>
                  <a:pt x="456235" y="64465"/>
                  <a:pt x="442671" y="60960"/>
                  <a:pt x="424586" y="60960"/>
                </a:cubicBezTo>
                <a:cubicBezTo>
                  <a:pt x="413207" y="60960"/>
                  <a:pt x="400507" y="62992"/>
                  <a:pt x="386486" y="67056"/>
                </a:cubicBezTo>
                <a:cubicBezTo>
                  <a:pt x="375971" y="70104"/>
                  <a:pt x="367055" y="76181"/>
                  <a:pt x="359740" y="85287"/>
                </a:cubicBezTo>
                <a:lnTo>
                  <a:pt x="355701" y="91310"/>
                </a:lnTo>
                <a:lnTo>
                  <a:pt x="355701" y="295656"/>
                </a:lnTo>
                <a:cubicBezTo>
                  <a:pt x="355701" y="300533"/>
                  <a:pt x="356819" y="303885"/>
                  <a:pt x="359054" y="305714"/>
                </a:cubicBezTo>
                <a:cubicBezTo>
                  <a:pt x="361289" y="307543"/>
                  <a:pt x="364134" y="309473"/>
                  <a:pt x="367589" y="311505"/>
                </a:cubicBezTo>
                <a:lnTo>
                  <a:pt x="395325" y="327050"/>
                </a:lnTo>
                <a:lnTo>
                  <a:pt x="395325" y="354482"/>
                </a:lnTo>
                <a:lnTo>
                  <a:pt x="228905" y="354482"/>
                </a:lnTo>
                <a:lnTo>
                  <a:pt x="228905" y="327050"/>
                </a:lnTo>
                <a:lnTo>
                  <a:pt x="259080" y="311505"/>
                </a:lnTo>
                <a:cubicBezTo>
                  <a:pt x="262534" y="309677"/>
                  <a:pt x="265430" y="307797"/>
                  <a:pt x="267767" y="305866"/>
                </a:cubicBezTo>
                <a:cubicBezTo>
                  <a:pt x="270103" y="303936"/>
                  <a:pt x="271272" y="300533"/>
                  <a:pt x="271272" y="295656"/>
                </a:cubicBezTo>
                <a:lnTo>
                  <a:pt x="271272" y="151485"/>
                </a:lnTo>
                <a:cubicBezTo>
                  <a:pt x="271272" y="131978"/>
                  <a:pt x="269748" y="115519"/>
                  <a:pt x="266700" y="102108"/>
                </a:cubicBezTo>
                <a:cubicBezTo>
                  <a:pt x="263652" y="88696"/>
                  <a:pt x="257657" y="78486"/>
                  <a:pt x="248717" y="71475"/>
                </a:cubicBezTo>
                <a:cubicBezTo>
                  <a:pt x="239776" y="64465"/>
                  <a:pt x="226568" y="60960"/>
                  <a:pt x="209093" y="60960"/>
                </a:cubicBezTo>
                <a:cubicBezTo>
                  <a:pt x="197104" y="60960"/>
                  <a:pt x="184505" y="62738"/>
                  <a:pt x="171297" y="66294"/>
                </a:cubicBezTo>
                <a:cubicBezTo>
                  <a:pt x="158089" y="69850"/>
                  <a:pt x="147320" y="77724"/>
                  <a:pt x="138989" y="89916"/>
                </a:cubicBezTo>
                <a:lnTo>
                  <a:pt x="138989" y="297180"/>
                </a:lnTo>
                <a:cubicBezTo>
                  <a:pt x="138989" y="301244"/>
                  <a:pt x="140157" y="304190"/>
                  <a:pt x="142494" y="306019"/>
                </a:cubicBezTo>
                <a:cubicBezTo>
                  <a:pt x="144831" y="307848"/>
                  <a:pt x="147625" y="309677"/>
                  <a:pt x="150876" y="311505"/>
                </a:cubicBezTo>
                <a:lnTo>
                  <a:pt x="179527" y="327050"/>
                </a:lnTo>
                <a:lnTo>
                  <a:pt x="179527" y="354482"/>
                </a:lnTo>
                <a:lnTo>
                  <a:pt x="0" y="354482"/>
                </a:lnTo>
                <a:lnTo>
                  <a:pt x="0" y="327050"/>
                </a:lnTo>
                <a:lnTo>
                  <a:pt x="39319" y="311505"/>
                </a:lnTo>
                <a:cubicBezTo>
                  <a:pt x="42367" y="310083"/>
                  <a:pt x="45110" y="308356"/>
                  <a:pt x="47549" y="306324"/>
                </a:cubicBezTo>
                <a:cubicBezTo>
                  <a:pt x="49987" y="304292"/>
                  <a:pt x="51206" y="301244"/>
                  <a:pt x="51206" y="297180"/>
                </a:cubicBezTo>
                <a:lnTo>
                  <a:pt x="51206" y="78028"/>
                </a:lnTo>
                <a:cubicBezTo>
                  <a:pt x="51206" y="73761"/>
                  <a:pt x="49987" y="70612"/>
                  <a:pt x="47549" y="68580"/>
                </a:cubicBezTo>
                <a:cubicBezTo>
                  <a:pt x="45110" y="66548"/>
                  <a:pt x="42367" y="64922"/>
                  <a:pt x="39319" y="63703"/>
                </a:cubicBezTo>
                <a:lnTo>
                  <a:pt x="0" y="46939"/>
                </a:lnTo>
                <a:lnTo>
                  <a:pt x="0" y="18592"/>
                </a:lnTo>
                <a:lnTo>
                  <a:pt x="131978" y="2743"/>
                </a:lnTo>
                <a:lnTo>
                  <a:pt x="131978" y="56692"/>
                </a:lnTo>
                <a:lnTo>
                  <a:pt x="137160" y="56692"/>
                </a:lnTo>
                <a:cubicBezTo>
                  <a:pt x="156464" y="31902"/>
                  <a:pt x="175514" y="16256"/>
                  <a:pt x="194310" y="9753"/>
                </a:cubicBezTo>
                <a:cubicBezTo>
                  <a:pt x="213106" y="3251"/>
                  <a:pt x="230937" y="0"/>
                  <a:pt x="247802"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9" name="Freeform: Shape 28">
            <a:extLst>
              <a:ext uri="{FF2B5EF4-FFF2-40B4-BE49-F238E27FC236}">
                <a16:creationId xmlns:a16="http://schemas.microsoft.com/office/drawing/2014/main" id="{208237BB-BBD8-7D30-3AEF-617B33760096}"/>
              </a:ext>
            </a:extLst>
          </p:cNvPr>
          <p:cNvSpPr/>
          <p:nvPr/>
        </p:nvSpPr>
        <p:spPr>
          <a:xfrm>
            <a:off x="7087755" y="1109699"/>
            <a:ext cx="306349" cy="291510"/>
          </a:xfrm>
          <a:custGeom>
            <a:avLst/>
            <a:gdLst/>
            <a:ahLst/>
            <a:cxnLst/>
            <a:rect l="l" t="t" r="r" b="b"/>
            <a:pathLst>
              <a:path w="376428" h="361188">
                <a:moveTo>
                  <a:pt x="220675" y="184099"/>
                </a:moveTo>
                <a:cubicBezTo>
                  <a:pt x="195072" y="184099"/>
                  <a:pt x="172567" y="185877"/>
                  <a:pt x="153162" y="189433"/>
                </a:cubicBezTo>
                <a:cubicBezTo>
                  <a:pt x="133756" y="192989"/>
                  <a:pt x="118668" y="199492"/>
                  <a:pt x="107899" y="208940"/>
                </a:cubicBezTo>
                <a:cubicBezTo>
                  <a:pt x="97129" y="218389"/>
                  <a:pt x="91744" y="232156"/>
                  <a:pt x="91744" y="250241"/>
                </a:cubicBezTo>
                <a:cubicBezTo>
                  <a:pt x="91744" y="264871"/>
                  <a:pt x="94640" y="276149"/>
                  <a:pt x="100431" y="284073"/>
                </a:cubicBezTo>
                <a:cubicBezTo>
                  <a:pt x="106222" y="291998"/>
                  <a:pt x="113436" y="297586"/>
                  <a:pt x="122072" y="300838"/>
                </a:cubicBezTo>
                <a:cubicBezTo>
                  <a:pt x="130708" y="304089"/>
                  <a:pt x="138988" y="305714"/>
                  <a:pt x="146913" y="305714"/>
                </a:cubicBezTo>
                <a:cubicBezTo>
                  <a:pt x="158902" y="305714"/>
                  <a:pt x="172161" y="303073"/>
                  <a:pt x="186690" y="297790"/>
                </a:cubicBezTo>
                <a:cubicBezTo>
                  <a:pt x="201218" y="292506"/>
                  <a:pt x="212547" y="283769"/>
                  <a:pt x="220675" y="271577"/>
                </a:cubicBezTo>
                <a:close/>
                <a:moveTo>
                  <a:pt x="174345" y="0"/>
                </a:moveTo>
                <a:cubicBezTo>
                  <a:pt x="197307" y="0"/>
                  <a:pt x="218998" y="2895"/>
                  <a:pt x="239420" y="8687"/>
                </a:cubicBezTo>
                <a:cubicBezTo>
                  <a:pt x="259842" y="14478"/>
                  <a:pt x="276555" y="25349"/>
                  <a:pt x="289560" y="41300"/>
                </a:cubicBezTo>
                <a:cubicBezTo>
                  <a:pt x="302564" y="57251"/>
                  <a:pt x="309067" y="80365"/>
                  <a:pt x="309067" y="110642"/>
                </a:cubicBezTo>
                <a:lnTo>
                  <a:pt x="309067" y="281025"/>
                </a:lnTo>
                <a:cubicBezTo>
                  <a:pt x="309067" y="289357"/>
                  <a:pt x="311912" y="296113"/>
                  <a:pt x="317601" y="301295"/>
                </a:cubicBezTo>
                <a:cubicBezTo>
                  <a:pt x="323291" y="306476"/>
                  <a:pt x="329387" y="309067"/>
                  <a:pt x="335889" y="309067"/>
                </a:cubicBezTo>
                <a:cubicBezTo>
                  <a:pt x="340766" y="309067"/>
                  <a:pt x="345897" y="308356"/>
                  <a:pt x="351282" y="306934"/>
                </a:cubicBezTo>
                <a:cubicBezTo>
                  <a:pt x="356666" y="305511"/>
                  <a:pt x="361797" y="303886"/>
                  <a:pt x="366674" y="302057"/>
                </a:cubicBezTo>
                <a:lnTo>
                  <a:pt x="376428" y="302057"/>
                </a:lnTo>
                <a:lnTo>
                  <a:pt x="376428" y="333451"/>
                </a:lnTo>
                <a:cubicBezTo>
                  <a:pt x="371348" y="336906"/>
                  <a:pt x="364236" y="340817"/>
                  <a:pt x="355092" y="345186"/>
                </a:cubicBezTo>
                <a:cubicBezTo>
                  <a:pt x="345948" y="349555"/>
                  <a:pt x="336448" y="353314"/>
                  <a:pt x="326593" y="356463"/>
                </a:cubicBezTo>
                <a:cubicBezTo>
                  <a:pt x="316738" y="359613"/>
                  <a:pt x="307949" y="361188"/>
                  <a:pt x="300228" y="361188"/>
                </a:cubicBezTo>
                <a:cubicBezTo>
                  <a:pt x="275844" y="361188"/>
                  <a:pt x="257657" y="356362"/>
                  <a:pt x="245668" y="346710"/>
                </a:cubicBezTo>
                <a:cubicBezTo>
                  <a:pt x="233680" y="337058"/>
                  <a:pt x="227685" y="322377"/>
                  <a:pt x="227685" y="302666"/>
                </a:cubicBezTo>
                <a:lnTo>
                  <a:pt x="222808" y="302666"/>
                </a:lnTo>
                <a:cubicBezTo>
                  <a:pt x="211226" y="319532"/>
                  <a:pt x="198323" y="332181"/>
                  <a:pt x="184099" y="340614"/>
                </a:cubicBezTo>
                <a:cubicBezTo>
                  <a:pt x="169875" y="349047"/>
                  <a:pt x="155600" y="354584"/>
                  <a:pt x="141274" y="357225"/>
                </a:cubicBezTo>
                <a:cubicBezTo>
                  <a:pt x="126949" y="359867"/>
                  <a:pt x="113893" y="361188"/>
                  <a:pt x="102108" y="361188"/>
                </a:cubicBezTo>
                <a:cubicBezTo>
                  <a:pt x="80568" y="361188"/>
                  <a:pt x="62179" y="356463"/>
                  <a:pt x="46939" y="347015"/>
                </a:cubicBezTo>
                <a:cubicBezTo>
                  <a:pt x="31699" y="337566"/>
                  <a:pt x="20066" y="325272"/>
                  <a:pt x="12039" y="310134"/>
                </a:cubicBezTo>
                <a:cubicBezTo>
                  <a:pt x="4013" y="294995"/>
                  <a:pt x="0" y="278993"/>
                  <a:pt x="0" y="262128"/>
                </a:cubicBezTo>
                <a:cubicBezTo>
                  <a:pt x="0" y="240182"/>
                  <a:pt x="5334" y="221437"/>
                  <a:pt x="16002" y="205892"/>
                </a:cubicBezTo>
                <a:cubicBezTo>
                  <a:pt x="26670" y="190347"/>
                  <a:pt x="40436" y="177800"/>
                  <a:pt x="57302" y="168249"/>
                </a:cubicBezTo>
                <a:cubicBezTo>
                  <a:pt x="74168" y="158699"/>
                  <a:pt x="92100" y="151689"/>
                  <a:pt x="111099" y="147218"/>
                </a:cubicBezTo>
                <a:cubicBezTo>
                  <a:pt x="130098" y="142748"/>
                  <a:pt x="147828" y="140513"/>
                  <a:pt x="164287" y="140513"/>
                </a:cubicBezTo>
                <a:cubicBezTo>
                  <a:pt x="167538" y="140513"/>
                  <a:pt x="173075" y="140868"/>
                  <a:pt x="180898" y="141579"/>
                </a:cubicBezTo>
                <a:cubicBezTo>
                  <a:pt x="188722" y="142291"/>
                  <a:pt x="196596" y="143103"/>
                  <a:pt x="204520" y="144018"/>
                </a:cubicBezTo>
                <a:cubicBezTo>
                  <a:pt x="212445" y="144932"/>
                  <a:pt x="217830" y="145593"/>
                  <a:pt x="220675" y="145999"/>
                </a:cubicBezTo>
                <a:lnTo>
                  <a:pt x="220675" y="113385"/>
                </a:lnTo>
                <a:cubicBezTo>
                  <a:pt x="220675" y="90017"/>
                  <a:pt x="215849" y="72898"/>
                  <a:pt x="206197" y="62027"/>
                </a:cubicBezTo>
                <a:cubicBezTo>
                  <a:pt x="196545" y="51155"/>
                  <a:pt x="181965" y="45720"/>
                  <a:pt x="162458" y="45720"/>
                </a:cubicBezTo>
                <a:cubicBezTo>
                  <a:pt x="152908" y="45720"/>
                  <a:pt x="142646" y="48006"/>
                  <a:pt x="131673" y="52578"/>
                </a:cubicBezTo>
                <a:cubicBezTo>
                  <a:pt x="120700" y="57150"/>
                  <a:pt x="109778" y="62687"/>
                  <a:pt x="98907" y="69189"/>
                </a:cubicBezTo>
                <a:cubicBezTo>
                  <a:pt x="88036" y="75692"/>
                  <a:pt x="77978" y="82143"/>
                  <a:pt x="68732" y="88544"/>
                </a:cubicBezTo>
                <a:cubicBezTo>
                  <a:pt x="59486" y="94945"/>
                  <a:pt x="51917" y="99974"/>
                  <a:pt x="46024" y="103632"/>
                </a:cubicBezTo>
                <a:lnTo>
                  <a:pt x="25908" y="103632"/>
                </a:lnTo>
                <a:lnTo>
                  <a:pt x="25908" y="27737"/>
                </a:lnTo>
                <a:cubicBezTo>
                  <a:pt x="40538" y="23266"/>
                  <a:pt x="55016" y="18897"/>
                  <a:pt x="69342" y="14630"/>
                </a:cubicBezTo>
                <a:cubicBezTo>
                  <a:pt x="83667" y="10363"/>
                  <a:pt x="99212" y="6858"/>
                  <a:pt x="115976" y="4115"/>
                </a:cubicBezTo>
                <a:cubicBezTo>
                  <a:pt x="132740" y="1371"/>
                  <a:pt x="152196" y="0"/>
                  <a:pt x="174345"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5" name="Freeform: Shape 34">
            <a:extLst>
              <a:ext uri="{FF2B5EF4-FFF2-40B4-BE49-F238E27FC236}">
                <a16:creationId xmlns:a16="http://schemas.microsoft.com/office/drawing/2014/main" id="{2547C83C-8495-C3AF-810A-92DC78AA166C}"/>
              </a:ext>
            </a:extLst>
          </p:cNvPr>
          <p:cNvSpPr/>
          <p:nvPr/>
        </p:nvSpPr>
        <p:spPr>
          <a:xfrm>
            <a:off x="6767823" y="1103122"/>
            <a:ext cx="287734" cy="284427"/>
          </a:xfrm>
          <a:custGeom>
            <a:avLst/>
            <a:gdLst/>
            <a:ahLst/>
            <a:cxnLst/>
            <a:rect l="l" t="t" r="r" b="b"/>
            <a:pathLst>
              <a:path w="333451" h="362407">
                <a:moveTo>
                  <a:pt x="170992" y="43891"/>
                </a:moveTo>
                <a:cubicBezTo>
                  <a:pt x="156972" y="43891"/>
                  <a:pt x="144830" y="46787"/>
                  <a:pt x="134569" y="52578"/>
                </a:cubicBezTo>
                <a:cubicBezTo>
                  <a:pt x="124307" y="58369"/>
                  <a:pt x="115773" y="66700"/>
                  <a:pt x="108966" y="77571"/>
                </a:cubicBezTo>
                <a:cubicBezTo>
                  <a:pt x="102158" y="88443"/>
                  <a:pt x="97129" y="101397"/>
                  <a:pt x="93878" y="116433"/>
                </a:cubicBezTo>
                <a:lnTo>
                  <a:pt x="90710" y="137160"/>
                </a:lnTo>
                <a:lnTo>
                  <a:pt x="242316" y="137160"/>
                </a:lnTo>
                <a:cubicBezTo>
                  <a:pt x="242316" y="117449"/>
                  <a:pt x="240030" y="100685"/>
                  <a:pt x="235458" y="86868"/>
                </a:cubicBezTo>
                <a:cubicBezTo>
                  <a:pt x="230886" y="73050"/>
                  <a:pt x="223367" y="62433"/>
                  <a:pt x="212902" y="55016"/>
                </a:cubicBezTo>
                <a:cubicBezTo>
                  <a:pt x="202438" y="47599"/>
                  <a:pt x="188468" y="43891"/>
                  <a:pt x="170992" y="43891"/>
                </a:cubicBezTo>
                <a:close/>
                <a:moveTo>
                  <a:pt x="176479" y="0"/>
                </a:moveTo>
                <a:cubicBezTo>
                  <a:pt x="209397" y="0"/>
                  <a:pt x="237591" y="6248"/>
                  <a:pt x="261061" y="18745"/>
                </a:cubicBezTo>
                <a:cubicBezTo>
                  <a:pt x="284530" y="31242"/>
                  <a:pt x="302463" y="47853"/>
                  <a:pt x="314858" y="68580"/>
                </a:cubicBezTo>
                <a:cubicBezTo>
                  <a:pt x="327253" y="89306"/>
                  <a:pt x="333451" y="112166"/>
                  <a:pt x="333451" y="137160"/>
                </a:cubicBezTo>
                <a:cubicBezTo>
                  <a:pt x="333451" y="140005"/>
                  <a:pt x="333298" y="144475"/>
                  <a:pt x="332994" y="150571"/>
                </a:cubicBezTo>
                <a:cubicBezTo>
                  <a:pt x="332689" y="156667"/>
                  <a:pt x="332333" y="162763"/>
                  <a:pt x="331927" y="168859"/>
                </a:cubicBezTo>
                <a:cubicBezTo>
                  <a:pt x="331520" y="174955"/>
                  <a:pt x="331012" y="179425"/>
                  <a:pt x="330403" y="182270"/>
                </a:cubicBezTo>
                <a:lnTo>
                  <a:pt x="90111" y="182270"/>
                </a:lnTo>
                <a:lnTo>
                  <a:pt x="91744" y="204711"/>
                </a:lnTo>
                <a:cubicBezTo>
                  <a:pt x="93573" y="216421"/>
                  <a:pt x="96316" y="227279"/>
                  <a:pt x="99974" y="237287"/>
                </a:cubicBezTo>
                <a:cubicBezTo>
                  <a:pt x="107289" y="257302"/>
                  <a:pt x="119735" y="272847"/>
                  <a:pt x="137312" y="283921"/>
                </a:cubicBezTo>
                <a:cubicBezTo>
                  <a:pt x="154889" y="294995"/>
                  <a:pt x="178917" y="300533"/>
                  <a:pt x="209397" y="300533"/>
                </a:cubicBezTo>
                <a:cubicBezTo>
                  <a:pt x="225247" y="300533"/>
                  <a:pt x="239979" y="298755"/>
                  <a:pt x="253593" y="295199"/>
                </a:cubicBezTo>
                <a:cubicBezTo>
                  <a:pt x="267208" y="291643"/>
                  <a:pt x="279501" y="287325"/>
                  <a:pt x="290474" y="282245"/>
                </a:cubicBezTo>
                <a:cubicBezTo>
                  <a:pt x="301447" y="277165"/>
                  <a:pt x="310692" y="272389"/>
                  <a:pt x="318211" y="267919"/>
                </a:cubicBezTo>
                <a:lnTo>
                  <a:pt x="332536" y="267919"/>
                </a:lnTo>
                <a:lnTo>
                  <a:pt x="332536" y="308762"/>
                </a:lnTo>
                <a:cubicBezTo>
                  <a:pt x="314858" y="321564"/>
                  <a:pt x="292201" y="333705"/>
                  <a:pt x="264566" y="345186"/>
                </a:cubicBezTo>
                <a:cubicBezTo>
                  <a:pt x="236931" y="356667"/>
                  <a:pt x="207568" y="362407"/>
                  <a:pt x="176479" y="362407"/>
                </a:cubicBezTo>
                <a:cubicBezTo>
                  <a:pt x="143154" y="362407"/>
                  <a:pt x="113182" y="355600"/>
                  <a:pt x="86563" y="341986"/>
                </a:cubicBezTo>
                <a:cubicBezTo>
                  <a:pt x="59944" y="328371"/>
                  <a:pt x="38862" y="308254"/>
                  <a:pt x="23317" y="281635"/>
                </a:cubicBezTo>
                <a:cubicBezTo>
                  <a:pt x="7772" y="255016"/>
                  <a:pt x="0" y="222605"/>
                  <a:pt x="0" y="184404"/>
                </a:cubicBezTo>
                <a:cubicBezTo>
                  <a:pt x="0" y="149250"/>
                  <a:pt x="7416" y="117805"/>
                  <a:pt x="22250" y="90068"/>
                </a:cubicBezTo>
                <a:cubicBezTo>
                  <a:pt x="37084" y="62331"/>
                  <a:pt x="57759" y="40386"/>
                  <a:pt x="84277" y="24231"/>
                </a:cubicBezTo>
                <a:cubicBezTo>
                  <a:pt x="110794" y="8077"/>
                  <a:pt x="141528" y="0"/>
                  <a:pt x="176479"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3934081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4000" advClick="0" advTm="1000">
        <p159:morph option="byChar"/>
      </p:transition>
    </mc:Choice>
    <mc:Fallback xmlns="">
      <p:transition spd="slow" advClick="0" advTm="1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CB6E3-87AC-8F59-28BA-6349C2F382BE}"/>
            </a:ext>
          </a:extLst>
        </p:cNvPr>
        <p:cNvGrpSpPr/>
        <p:nvPr/>
      </p:nvGrpSpPr>
      <p:grpSpPr>
        <a:xfrm>
          <a:off x="0" y="0"/>
          <a:ext cx="0" cy="0"/>
          <a:chOff x="0" y="0"/>
          <a:chExt cx="0" cy="0"/>
        </a:xfrm>
      </p:grpSpPr>
      <p:grpSp>
        <p:nvGrpSpPr>
          <p:cNvPr id="48" name="Group 2">
            <a:extLst>
              <a:ext uri="{FF2B5EF4-FFF2-40B4-BE49-F238E27FC236}">
                <a16:creationId xmlns:a16="http://schemas.microsoft.com/office/drawing/2014/main" id="{10D0E0E6-42EE-EEF6-A17B-525BA094A470}"/>
              </a:ext>
            </a:extLst>
          </p:cNvPr>
          <p:cNvGrpSpPr/>
          <p:nvPr/>
        </p:nvGrpSpPr>
        <p:grpSpPr>
          <a:xfrm>
            <a:off x="0" y="0"/>
            <a:ext cx="4153368" cy="126178"/>
            <a:chOff x="0" y="0"/>
            <a:chExt cx="2187782" cy="66464"/>
          </a:xfrm>
        </p:grpSpPr>
        <p:sp>
          <p:nvSpPr>
            <p:cNvPr id="49" name="Freeform 3">
              <a:extLst>
                <a:ext uri="{FF2B5EF4-FFF2-40B4-BE49-F238E27FC236}">
                  <a16:creationId xmlns:a16="http://schemas.microsoft.com/office/drawing/2014/main" id="{A7585699-66F4-A3CA-2FD8-D93EF661C25C}"/>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50" name="TextBox 4">
              <a:extLst>
                <a:ext uri="{FF2B5EF4-FFF2-40B4-BE49-F238E27FC236}">
                  <a16:creationId xmlns:a16="http://schemas.microsoft.com/office/drawing/2014/main" id="{46EF6070-8743-DD99-6E2D-80687A2BBD8A}"/>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1" name="Group 5">
            <a:extLst>
              <a:ext uri="{FF2B5EF4-FFF2-40B4-BE49-F238E27FC236}">
                <a16:creationId xmlns:a16="http://schemas.microsoft.com/office/drawing/2014/main" id="{67B42F48-A186-D775-8D5E-5CF233FA5519}"/>
              </a:ext>
            </a:extLst>
          </p:cNvPr>
          <p:cNvGrpSpPr/>
          <p:nvPr/>
        </p:nvGrpSpPr>
        <p:grpSpPr>
          <a:xfrm>
            <a:off x="0" y="5614421"/>
            <a:ext cx="7571294" cy="126178"/>
            <a:chOff x="0" y="0"/>
            <a:chExt cx="3988171" cy="66464"/>
          </a:xfrm>
        </p:grpSpPr>
        <p:sp>
          <p:nvSpPr>
            <p:cNvPr id="52" name="Freeform 6">
              <a:extLst>
                <a:ext uri="{FF2B5EF4-FFF2-40B4-BE49-F238E27FC236}">
                  <a16:creationId xmlns:a16="http://schemas.microsoft.com/office/drawing/2014/main" id="{96B55C76-6494-4CEE-F0D2-4FDEB2197E1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53" name="TextBox 7">
              <a:extLst>
                <a:ext uri="{FF2B5EF4-FFF2-40B4-BE49-F238E27FC236}">
                  <a16:creationId xmlns:a16="http://schemas.microsoft.com/office/drawing/2014/main" id="{287F0FDD-A6C6-FBBE-2959-FC98E5DBBB4F}"/>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54" name="Group 28">
            <a:extLst>
              <a:ext uri="{FF2B5EF4-FFF2-40B4-BE49-F238E27FC236}">
                <a16:creationId xmlns:a16="http://schemas.microsoft.com/office/drawing/2014/main" id="{576D830F-7003-280D-E1EA-9B440C960C37}"/>
              </a:ext>
            </a:extLst>
          </p:cNvPr>
          <p:cNvGrpSpPr/>
          <p:nvPr/>
        </p:nvGrpSpPr>
        <p:grpSpPr>
          <a:xfrm>
            <a:off x="2" y="3022797"/>
            <a:ext cx="4350604" cy="547001"/>
            <a:chOff x="0" y="0"/>
            <a:chExt cx="4355842" cy="406400"/>
          </a:xfrm>
        </p:grpSpPr>
        <p:sp>
          <p:nvSpPr>
            <p:cNvPr id="55" name="Freeform 29">
              <a:extLst>
                <a:ext uri="{FF2B5EF4-FFF2-40B4-BE49-F238E27FC236}">
                  <a16:creationId xmlns:a16="http://schemas.microsoft.com/office/drawing/2014/main" id="{28431068-F8F3-23DF-0C2E-A121ED0C6322}"/>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56" name="TextBox 30">
              <a:extLst>
                <a:ext uri="{FF2B5EF4-FFF2-40B4-BE49-F238E27FC236}">
                  <a16:creationId xmlns:a16="http://schemas.microsoft.com/office/drawing/2014/main" id="{89CE3441-BFB0-5CD8-7BEA-F918001BB260}"/>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57" name="TextBox 37">
            <a:extLst>
              <a:ext uri="{FF2B5EF4-FFF2-40B4-BE49-F238E27FC236}">
                <a16:creationId xmlns:a16="http://schemas.microsoft.com/office/drawing/2014/main" id="{A6D699B9-D42E-8220-7DE4-82A2FAF14C76}"/>
              </a:ext>
            </a:extLst>
          </p:cNvPr>
          <p:cNvSpPr txBox="1"/>
          <p:nvPr/>
        </p:nvSpPr>
        <p:spPr>
          <a:xfrm>
            <a:off x="134470" y="1037104"/>
            <a:ext cx="5103159" cy="1023485"/>
          </a:xfrm>
          <a:prstGeom prst="rect">
            <a:avLst/>
          </a:prstGeom>
        </p:spPr>
        <p:txBody>
          <a:bodyPr wrap="square" lIns="0" tIns="0" rIns="0" bIns="0" rtlCol="0" anchor="ctr">
            <a:spAutoFit/>
          </a:bodyPr>
          <a:lstStyle/>
          <a:p>
            <a:pPr algn="ctr">
              <a:lnSpc>
                <a:spcPct val="200000"/>
              </a:lnSpc>
            </a:pPr>
            <a:r>
              <a:rPr lang="en-IN" b="1" dirty="0">
                <a:solidFill>
                  <a:schemeClr val="accent1">
                    <a:lumMod val="75000"/>
                  </a:schemeClr>
                </a:solidFill>
                <a:latin typeface="Engravers MT" panose="02090707080505020304" pitchFamily="18" charset="0"/>
              </a:rPr>
              <a:t>Real-Time Pothole Detection Using YOLO</a:t>
            </a:r>
            <a:endParaRPr lang="en-US" sz="3600" b="1" dirty="0">
              <a:solidFill>
                <a:schemeClr val="accent1">
                  <a:lumMod val="75000"/>
                </a:schemeClr>
              </a:solidFill>
              <a:latin typeface="Engravers MT" panose="02090707080505020304" pitchFamily="18" charset="0"/>
              <a:ea typeface="Aileron Ultra-Bold"/>
              <a:cs typeface="Aileron Ultra-Bold"/>
              <a:sym typeface="Aileron Ultra-Bold"/>
            </a:endParaRPr>
          </a:p>
        </p:txBody>
      </p:sp>
      <p:sp>
        <p:nvSpPr>
          <p:cNvPr id="58" name="TextBox 44">
            <a:extLst>
              <a:ext uri="{FF2B5EF4-FFF2-40B4-BE49-F238E27FC236}">
                <a16:creationId xmlns:a16="http://schemas.microsoft.com/office/drawing/2014/main" id="{A941A055-4214-807F-3F57-125B9CCC44BC}"/>
              </a:ext>
            </a:extLst>
          </p:cNvPr>
          <p:cNvSpPr txBox="1"/>
          <p:nvPr/>
        </p:nvSpPr>
        <p:spPr>
          <a:xfrm>
            <a:off x="466727" y="3100839"/>
            <a:ext cx="3809409" cy="243656"/>
          </a:xfrm>
          <a:prstGeom prst="rect">
            <a:avLst/>
          </a:prstGeom>
        </p:spPr>
        <p:txBody>
          <a:bodyPr lIns="0" tIns="0" rIns="0" bIns="0" rtlCol="0" anchor="t">
            <a:spAutoFit/>
          </a:bodyPr>
          <a:lstStyle/>
          <a:p>
            <a:pPr>
              <a:lnSpc>
                <a:spcPts val="1943"/>
              </a:lnSpc>
            </a:pPr>
            <a:r>
              <a:rPr lang="en-US" sz="1618" b="1" spc="583">
                <a:solidFill>
                  <a:srgbClr val="FFFFFF"/>
                </a:solidFill>
                <a:latin typeface="+mj-lt"/>
                <a:ea typeface="Aileron Bold"/>
                <a:cs typeface="Aileron Bold"/>
                <a:sym typeface="Aileron Bold"/>
              </a:rPr>
              <a:t>PRESENTATION 2026</a:t>
            </a:r>
          </a:p>
        </p:txBody>
      </p:sp>
      <p:sp>
        <p:nvSpPr>
          <p:cNvPr id="60" name="TextBox 40">
            <a:extLst>
              <a:ext uri="{FF2B5EF4-FFF2-40B4-BE49-F238E27FC236}">
                <a16:creationId xmlns:a16="http://schemas.microsoft.com/office/drawing/2014/main" id="{2B32D3D5-97F5-8CD6-3975-291153412412}"/>
              </a:ext>
            </a:extLst>
          </p:cNvPr>
          <p:cNvSpPr txBox="1"/>
          <p:nvPr/>
        </p:nvSpPr>
        <p:spPr>
          <a:xfrm>
            <a:off x="641033" y="4283416"/>
            <a:ext cx="1633432"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Team Members</a:t>
            </a:r>
          </a:p>
        </p:txBody>
      </p:sp>
      <p:grpSp>
        <p:nvGrpSpPr>
          <p:cNvPr id="63" name="Group 62">
            <a:extLst>
              <a:ext uri="{FF2B5EF4-FFF2-40B4-BE49-F238E27FC236}">
                <a16:creationId xmlns:a16="http://schemas.microsoft.com/office/drawing/2014/main" id="{BBDC51D0-6B2D-25F3-0180-900431457505}"/>
              </a:ext>
            </a:extLst>
          </p:cNvPr>
          <p:cNvGrpSpPr/>
          <p:nvPr/>
        </p:nvGrpSpPr>
        <p:grpSpPr>
          <a:xfrm>
            <a:off x="3231351" y="4286968"/>
            <a:ext cx="2391390" cy="669415"/>
            <a:chOff x="3139699" y="4295282"/>
            <a:chExt cx="2391390" cy="669415"/>
          </a:xfrm>
        </p:grpSpPr>
        <p:sp>
          <p:nvSpPr>
            <p:cNvPr id="64" name="TextBox 41">
              <a:extLst>
                <a:ext uri="{FF2B5EF4-FFF2-40B4-BE49-F238E27FC236}">
                  <a16:creationId xmlns:a16="http://schemas.microsoft.com/office/drawing/2014/main" id="{11CE560D-11FE-1F09-6F14-D6AD9C1CD9D1}"/>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GitHub Repository</a:t>
              </a:r>
            </a:p>
          </p:txBody>
        </p:sp>
        <p:sp>
          <p:nvSpPr>
            <p:cNvPr id="65" name="TextBox 43">
              <a:extLst>
                <a:ext uri="{FF2B5EF4-FFF2-40B4-BE49-F238E27FC236}">
                  <a16:creationId xmlns:a16="http://schemas.microsoft.com/office/drawing/2014/main" id="{A63D420C-4002-65EB-C009-97185FB582B1}"/>
                </a:ext>
              </a:extLst>
            </p:cNvPr>
            <p:cNvSpPr txBox="1"/>
            <p:nvPr/>
          </p:nvSpPr>
          <p:spPr>
            <a:xfrm>
              <a:off x="3139699" y="4456866"/>
              <a:ext cx="2391390" cy="507831"/>
            </a:xfrm>
            <a:prstGeom prst="rect">
              <a:avLst/>
            </a:prstGeom>
          </p:spPr>
          <p:txBody>
            <a:bodyPr wrap="square" lIns="0" tIns="0" rIns="0" bIns="0" rtlCol="0" anchor="t">
              <a:spAutoFit/>
            </a:bodyPr>
            <a:lstStyle/>
            <a:p>
              <a:pPr algn="ctr"/>
              <a:endParaRPr lang="en-US" sz="1050" b="1" dirty="0">
                <a:solidFill>
                  <a:srgbClr val="0D358D"/>
                </a:solidFill>
                <a:latin typeface="+mj-lt"/>
                <a:ea typeface="Aileron Bold"/>
                <a:cs typeface="Aileron Bold"/>
                <a:sym typeface="Aileron Bold"/>
              </a:endParaRPr>
            </a:p>
            <a:p>
              <a:pPr algn="ctr"/>
              <a:r>
                <a:rPr lang="en-US" sz="1050" b="1" dirty="0">
                  <a:solidFill>
                    <a:srgbClr val="0D358D"/>
                  </a:solidFill>
                  <a:latin typeface="+mj-lt"/>
                  <a:ea typeface="Aileron Bold"/>
                  <a:cs typeface="Aileron Bold"/>
                  <a:sym typeface="Aileron Bold"/>
                </a:rPr>
                <a:t>https://github.com/rajansharma630/</a:t>
              </a:r>
              <a:r>
                <a:rPr lang="en-US" sz="1200" b="1" dirty="0">
                  <a:solidFill>
                    <a:srgbClr val="0D358D"/>
                  </a:solidFill>
                  <a:latin typeface="+mj-lt"/>
                  <a:ea typeface="Aileron Bold"/>
                  <a:cs typeface="Aileron Bold"/>
                  <a:sym typeface="Aileron Bold"/>
                </a:rPr>
                <a:t>project</a:t>
              </a:r>
              <a:r>
                <a:rPr lang="en-US" sz="1050" b="1" dirty="0">
                  <a:solidFill>
                    <a:srgbClr val="0D358D"/>
                  </a:solidFill>
                  <a:latin typeface="+mj-lt"/>
                  <a:ea typeface="Aileron Bold"/>
                  <a:cs typeface="Aileron Bold"/>
                  <a:sym typeface="Aileron Bold"/>
                </a:rPr>
                <a:t>_for_internship.git</a:t>
              </a:r>
            </a:p>
          </p:txBody>
        </p:sp>
      </p:grpSp>
      <p:grpSp>
        <p:nvGrpSpPr>
          <p:cNvPr id="67" name="Group 66">
            <a:extLst>
              <a:ext uri="{FF2B5EF4-FFF2-40B4-BE49-F238E27FC236}">
                <a16:creationId xmlns:a16="http://schemas.microsoft.com/office/drawing/2014/main" id="{CD296A85-F516-5076-65C6-90627CED9EB6}"/>
              </a:ext>
            </a:extLst>
          </p:cNvPr>
          <p:cNvGrpSpPr/>
          <p:nvPr/>
        </p:nvGrpSpPr>
        <p:grpSpPr>
          <a:xfrm>
            <a:off x="6085634" y="4308278"/>
            <a:ext cx="2272871" cy="424413"/>
            <a:chOff x="3139699" y="4295282"/>
            <a:chExt cx="2272871" cy="424413"/>
          </a:xfrm>
        </p:grpSpPr>
        <p:sp>
          <p:nvSpPr>
            <p:cNvPr id="68" name="TextBox 41">
              <a:extLst>
                <a:ext uri="{FF2B5EF4-FFF2-40B4-BE49-F238E27FC236}">
                  <a16:creationId xmlns:a16="http://schemas.microsoft.com/office/drawing/2014/main" id="{4F66FA30-9813-3B0C-13CF-078977BA624B}"/>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Guide</a:t>
              </a:r>
            </a:p>
          </p:txBody>
        </p:sp>
        <p:sp>
          <p:nvSpPr>
            <p:cNvPr id="69" name="TextBox 43">
              <a:extLst>
                <a:ext uri="{FF2B5EF4-FFF2-40B4-BE49-F238E27FC236}">
                  <a16:creationId xmlns:a16="http://schemas.microsoft.com/office/drawing/2014/main" id="{DC14D3CF-8DB2-E14C-2C4F-BE105997972B}"/>
                </a:ext>
              </a:extLst>
            </p:cNvPr>
            <p:cNvSpPr txBox="1"/>
            <p:nvPr/>
          </p:nvSpPr>
          <p:spPr>
            <a:xfrm>
              <a:off x="3139699" y="4456866"/>
              <a:ext cx="2272871" cy="262829"/>
            </a:xfrm>
            <a:prstGeom prst="rect">
              <a:avLst/>
            </a:prstGeom>
          </p:spPr>
          <p:txBody>
            <a:bodyPr lIns="0" tIns="0" rIns="0" bIns="0" rtlCol="0" anchor="t">
              <a:spAutoFit/>
            </a:bodyPr>
            <a:lstStyle/>
            <a:p>
              <a:pPr>
                <a:lnSpc>
                  <a:spcPts val="2038"/>
                </a:lnSpc>
              </a:pPr>
              <a:r>
                <a:rPr lang="en-US" b="1" dirty="0">
                  <a:solidFill>
                    <a:srgbClr val="0D358D"/>
                  </a:solidFill>
                  <a:latin typeface="+mj-lt"/>
                  <a:ea typeface="Aileron Bold"/>
                  <a:cs typeface="Aileron Bold"/>
                  <a:sym typeface="Aileron Bold"/>
                </a:rPr>
                <a:t>Ankit Dixit</a:t>
              </a:r>
            </a:p>
          </p:txBody>
        </p:sp>
      </p:grpSp>
      <p:grpSp>
        <p:nvGrpSpPr>
          <p:cNvPr id="6" name="Group 5">
            <a:extLst>
              <a:ext uri="{FF2B5EF4-FFF2-40B4-BE49-F238E27FC236}">
                <a16:creationId xmlns:a16="http://schemas.microsoft.com/office/drawing/2014/main" id="{BC51DF3B-9EFE-FB93-0B38-93916D2FF6FF}"/>
              </a:ext>
            </a:extLst>
          </p:cNvPr>
          <p:cNvGrpSpPr/>
          <p:nvPr/>
        </p:nvGrpSpPr>
        <p:grpSpPr>
          <a:xfrm>
            <a:off x="157715" y="4283416"/>
            <a:ext cx="459568" cy="452812"/>
            <a:chOff x="181465" y="3722203"/>
            <a:chExt cx="464124" cy="499425"/>
          </a:xfrm>
        </p:grpSpPr>
        <p:pic>
          <p:nvPicPr>
            <p:cNvPr id="3" name="Graphic 2" descr="Group success with solid fill">
              <a:extLst>
                <a:ext uri="{FF2B5EF4-FFF2-40B4-BE49-F238E27FC236}">
                  <a16:creationId xmlns:a16="http://schemas.microsoft.com/office/drawing/2014/main" id="{42F19DCF-5BA4-B7B5-CD2D-8701DF3AEC8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81465" y="3722203"/>
              <a:ext cx="464124" cy="499425"/>
            </a:xfrm>
            <a:prstGeom prst="rect">
              <a:avLst/>
            </a:prstGeom>
          </p:spPr>
        </p:pic>
        <p:sp>
          <p:nvSpPr>
            <p:cNvPr id="4" name="Oval 3">
              <a:extLst>
                <a:ext uri="{FF2B5EF4-FFF2-40B4-BE49-F238E27FC236}">
                  <a16:creationId xmlns:a16="http://schemas.microsoft.com/office/drawing/2014/main" id="{B0EF04BC-577C-A117-D76C-F78A98840CF8}"/>
                </a:ext>
              </a:extLst>
            </p:cNvPr>
            <p:cNvSpPr/>
            <p:nvPr/>
          </p:nvSpPr>
          <p:spPr>
            <a:xfrm>
              <a:off x="181465" y="3725174"/>
              <a:ext cx="464124" cy="487455"/>
            </a:xfrm>
            <a:prstGeom prst="ellipse">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4">
                    <a:lumMod val="60000"/>
                    <a:lumOff val="40000"/>
                  </a:schemeClr>
                </a:solidFill>
              </a:endParaRPr>
            </a:p>
          </p:txBody>
        </p:sp>
      </p:grpSp>
      <p:pic>
        <p:nvPicPr>
          <p:cNvPr id="11" name="Picture 10">
            <a:extLst>
              <a:ext uri="{FF2B5EF4-FFF2-40B4-BE49-F238E27FC236}">
                <a16:creationId xmlns:a16="http://schemas.microsoft.com/office/drawing/2014/main" id="{4AB00192-95EB-B8FB-7EBC-75CFF0DDE890}"/>
              </a:ext>
            </a:extLst>
          </p:cNvPr>
          <p:cNvPicPr>
            <a:picLocks noChangeAspect="1"/>
          </p:cNvPicPr>
          <p:nvPr/>
        </p:nvPicPr>
        <p:blipFill>
          <a:blip r:embed="rId3"/>
          <a:stretch>
            <a:fillRect/>
          </a:stretch>
        </p:blipFill>
        <p:spPr>
          <a:xfrm>
            <a:off x="2754719" y="4283416"/>
            <a:ext cx="452812" cy="452812"/>
          </a:xfrm>
          <a:prstGeom prst="rect">
            <a:avLst/>
          </a:prstGeom>
        </p:spPr>
      </p:pic>
      <p:sp>
        <p:nvSpPr>
          <p:cNvPr id="9" name="Parallelogram 8">
            <a:extLst>
              <a:ext uri="{FF2B5EF4-FFF2-40B4-BE49-F238E27FC236}">
                <a16:creationId xmlns:a16="http://schemas.microsoft.com/office/drawing/2014/main" id="{0EB6955C-A049-D97F-9FA3-3EDA6C141483}"/>
              </a:ext>
            </a:extLst>
          </p:cNvPr>
          <p:cNvSpPr>
            <a:spLocks noChangeAspect="1"/>
          </p:cNvSpPr>
          <p:nvPr/>
        </p:nvSpPr>
        <p:spPr>
          <a:xfrm>
            <a:off x="8270059" y="672999"/>
            <a:ext cx="394485" cy="728210"/>
          </a:xfrm>
          <a:prstGeom prst="parallelogram">
            <a:avLst>
              <a:gd name="adj" fmla="val 47460"/>
            </a:avLst>
          </a:prstGeom>
          <a:pattFill prst="dkHorz">
            <a:fgClr>
              <a:schemeClr val="accent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7414CA3E-FFDA-CCFD-5E6E-907271EC59DC}"/>
              </a:ext>
            </a:extLst>
          </p:cNvPr>
          <p:cNvSpPr>
            <a:spLocks noChangeAspect="1"/>
          </p:cNvSpPr>
          <p:nvPr/>
        </p:nvSpPr>
        <p:spPr>
          <a:xfrm>
            <a:off x="7953345" y="498082"/>
            <a:ext cx="711199" cy="204050"/>
          </a:xfrm>
          <a:prstGeom prst="roundRect">
            <a:avLst>
              <a:gd name="adj" fmla="val 20721"/>
            </a:avLst>
          </a:prstGeom>
          <a:pattFill prst="dkHorz">
            <a:fgClr>
              <a:schemeClr val="accent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42">
            <a:extLst>
              <a:ext uri="{FF2B5EF4-FFF2-40B4-BE49-F238E27FC236}">
                <a16:creationId xmlns:a16="http://schemas.microsoft.com/office/drawing/2014/main" id="{40523C12-14D3-2C50-EBA6-3BA1A1D3EF42}"/>
              </a:ext>
            </a:extLst>
          </p:cNvPr>
          <p:cNvSpPr txBox="1"/>
          <p:nvPr/>
        </p:nvSpPr>
        <p:spPr>
          <a:xfrm>
            <a:off x="282755" y="4508009"/>
            <a:ext cx="1835467" cy="1025922"/>
          </a:xfrm>
          <a:prstGeom prst="rect">
            <a:avLst/>
          </a:prstGeom>
        </p:spPr>
        <p:txBody>
          <a:bodyPr wrap="square" lIns="0" tIns="0" rIns="0" bIns="0" rtlCol="0" anchor="t">
            <a:spAutoFit/>
          </a:bodyPr>
          <a:lstStyle/>
          <a:p>
            <a:pPr lvl="1">
              <a:lnSpc>
                <a:spcPts val="2038"/>
              </a:lnSpc>
            </a:pPr>
            <a:r>
              <a:rPr lang="en-US" b="1" dirty="0">
                <a:solidFill>
                  <a:schemeClr val="accent1">
                    <a:lumMod val="75000"/>
                  </a:schemeClr>
                </a:solidFill>
                <a:latin typeface="+mj-lt"/>
                <a:ea typeface="Aileron Bold"/>
                <a:cs typeface="Aileron Bold"/>
                <a:sym typeface="Aileron Bold"/>
              </a:rPr>
              <a:t>Shalini Tiwari</a:t>
            </a:r>
          </a:p>
          <a:p>
            <a:pPr lvl="1">
              <a:lnSpc>
                <a:spcPts val="2038"/>
              </a:lnSpc>
            </a:pPr>
            <a:r>
              <a:rPr lang="en-US" b="1" dirty="0">
                <a:solidFill>
                  <a:schemeClr val="accent1">
                    <a:lumMod val="75000"/>
                  </a:schemeClr>
                </a:solidFill>
                <a:latin typeface="+mj-lt"/>
                <a:ea typeface="Aileron Bold"/>
                <a:cs typeface="Aileron Bold"/>
                <a:sym typeface="Aileron Bold"/>
              </a:rPr>
              <a:t>Rajan Sharma</a:t>
            </a:r>
          </a:p>
          <a:p>
            <a:pPr lvl="1">
              <a:lnSpc>
                <a:spcPts val="2038"/>
              </a:lnSpc>
            </a:pPr>
            <a:r>
              <a:rPr lang="en-US" b="1" dirty="0">
                <a:solidFill>
                  <a:schemeClr val="accent1">
                    <a:lumMod val="75000"/>
                  </a:schemeClr>
                </a:solidFill>
                <a:latin typeface="+mj-lt"/>
                <a:ea typeface="Aileron Bold"/>
                <a:cs typeface="Aileron Bold"/>
                <a:sym typeface="Aileron Bold"/>
              </a:rPr>
              <a:t>Dhruv Rai</a:t>
            </a:r>
          </a:p>
          <a:p>
            <a:pPr lvl="1">
              <a:lnSpc>
                <a:spcPts val="2038"/>
              </a:lnSpc>
            </a:pPr>
            <a:r>
              <a:rPr lang="en-US" b="1" dirty="0">
                <a:solidFill>
                  <a:schemeClr val="accent1">
                    <a:lumMod val="75000"/>
                  </a:schemeClr>
                </a:solidFill>
                <a:latin typeface="+mj-lt"/>
                <a:ea typeface="Aileron Bold"/>
                <a:cs typeface="Aileron Bold"/>
                <a:sym typeface="Aileron Bold"/>
              </a:rPr>
              <a:t>Akarsh Singh </a:t>
            </a:r>
          </a:p>
        </p:txBody>
      </p:sp>
      <p:sp>
        <p:nvSpPr>
          <p:cNvPr id="25" name="Freeform: Shape 24">
            <a:extLst>
              <a:ext uri="{FF2B5EF4-FFF2-40B4-BE49-F238E27FC236}">
                <a16:creationId xmlns:a16="http://schemas.microsoft.com/office/drawing/2014/main" id="{71694499-BFFB-7C3D-C7EB-5F10AEEF543F}"/>
              </a:ext>
            </a:extLst>
          </p:cNvPr>
          <p:cNvSpPr/>
          <p:nvPr/>
        </p:nvSpPr>
        <p:spPr>
          <a:xfrm>
            <a:off x="6366094" y="1003872"/>
            <a:ext cx="369531" cy="367189"/>
          </a:xfrm>
          <a:custGeom>
            <a:avLst/>
            <a:gdLst/>
            <a:ahLst/>
            <a:cxnLst/>
            <a:rect l="l" t="t" r="r" b="b"/>
            <a:pathLst>
              <a:path w="428244" h="452323">
                <a:moveTo>
                  <a:pt x="0" y="0"/>
                </a:moveTo>
                <a:lnTo>
                  <a:pt x="427939" y="0"/>
                </a:lnTo>
                <a:lnTo>
                  <a:pt x="428244" y="129845"/>
                </a:lnTo>
                <a:lnTo>
                  <a:pt x="382524" y="129845"/>
                </a:lnTo>
                <a:lnTo>
                  <a:pt x="369723" y="62484"/>
                </a:lnTo>
                <a:cubicBezTo>
                  <a:pt x="368910" y="58623"/>
                  <a:pt x="367183" y="55728"/>
                  <a:pt x="364541" y="53797"/>
                </a:cubicBezTo>
                <a:cubicBezTo>
                  <a:pt x="361899" y="51867"/>
                  <a:pt x="359156" y="50902"/>
                  <a:pt x="356311" y="50902"/>
                </a:cubicBezTo>
                <a:lnTo>
                  <a:pt x="259995" y="50597"/>
                </a:lnTo>
                <a:lnTo>
                  <a:pt x="259995" y="390144"/>
                </a:lnTo>
                <a:cubicBezTo>
                  <a:pt x="260198" y="394614"/>
                  <a:pt x="261468" y="397967"/>
                  <a:pt x="263805" y="400202"/>
                </a:cubicBezTo>
                <a:cubicBezTo>
                  <a:pt x="266141" y="402438"/>
                  <a:pt x="268732" y="404063"/>
                  <a:pt x="271577" y="405079"/>
                </a:cubicBezTo>
                <a:lnTo>
                  <a:pt x="324307" y="424586"/>
                </a:lnTo>
                <a:lnTo>
                  <a:pt x="324307" y="452323"/>
                </a:lnTo>
                <a:lnTo>
                  <a:pt x="103937" y="452323"/>
                </a:lnTo>
                <a:lnTo>
                  <a:pt x="103632" y="424586"/>
                </a:lnTo>
                <a:lnTo>
                  <a:pt x="156667" y="405079"/>
                </a:lnTo>
                <a:cubicBezTo>
                  <a:pt x="160325" y="403860"/>
                  <a:pt x="163170" y="402184"/>
                  <a:pt x="165202" y="400050"/>
                </a:cubicBezTo>
                <a:cubicBezTo>
                  <a:pt x="167234" y="397916"/>
                  <a:pt x="168148" y="394614"/>
                  <a:pt x="167945" y="390144"/>
                </a:cubicBezTo>
                <a:lnTo>
                  <a:pt x="168250" y="50597"/>
                </a:lnTo>
                <a:lnTo>
                  <a:pt x="71933" y="50597"/>
                </a:lnTo>
                <a:cubicBezTo>
                  <a:pt x="68479" y="50597"/>
                  <a:pt x="65583" y="51562"/>
                  <a:pt x="63246" y="53492"/>
                </a:cubicBezTo>
                <a:cubicBezTo>
                  <a:pt x="60909" y="55423"/>
                  <a:pt x="59335" y="58522"/>
                  <a:pt x="58522" y="62789"/>
                </a:cubicBezTo>
                <a:lnTo>
                  <a:pt x="45415" y="129845"/>
                </a:lnTo>
                <a:lnTo>
                  <a:pt x="305" y="129540"/>
                </a:lnTo>
                <a:close/>
              </a:path>
            </a:pathLst>
          </a:custGeom>
          <a:pattFill prst="dkHorz">
            <a:fgClr>
              <a:schemeClr val="accent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7" name="Freeform: Shape 26">
            <a:extLst>
              <a:ext uri="{FF2B5EF4-FFF2-40B4-BE49-F238E27FC236}">
                <a16:creationId xmlns:a16="http://schemas.microsoft.com/office/drawing/2014/main" id="{611393F8-93DF-22A8-6234-56B8B8B5FEF4}"/>
              </a:ext>
            </a:extLst>
          </p:cNvPr>
          <p:cNvSpPr/>
          <p:nvPr/>
        </p:nvSpPr>
        <p:spPr>
          <a:xfrm>
            <a:off x="7426303" y="1093210"/>
            <a:ext cx="469309" cy="287763"/>
          </a:xfrm>
          <a:custGeom>
            <a:avLst/>
            <a:gdLst/>
            <a:ahLst/>
            <a:cxnLst/>
            <a:rect l="l" t="t" r="r" b="b"/>
            <a:pathLst>
              <a:path w="623011" h="354482">
                <a:moveTo>
                  <a:pt x="247802" y="0"/>
                </a:moveTo>
                <a:cubicBezTo>
                  <a:pt x="264261" y="0"/>
                  <a:pt x="279400" y="2540"/>
                  <a:pt x="293217" y="7620"/>
                </a:cubicBezTo>
                <a:cubicBezTo>
                  <a:pt x="307035" y="12700"/>
                  <a:pt x="318973" y="20574"/>
                  <a:pt x="329031" y="31242"/>
                </a:cubicBezTo>
                <a:cubicBezTo>
                  <a:pt x="334061" y="36576"/>
                  <a:pt x="338417" y="42684"/>
                  <a:pt x="342100" y="49568"/>
                </a:cubicBezTo>
                <a:lnTo>
                  <a:pt x="348306" y="65358"/>
                </a:lnTo>
                <a:lnTo>
                  <a:pt x="356197" y="55416"/>
                </a:lnTo>
                <a:cubicBezTo>
                  <a:pt x="368313" y="40976"/>
                  <a:pt x="379628" y="30022"/>
                  <a:pt x="390144" y="22555"/>
                </a:cubicBezTo>
                <a:cubicBezTo>
                  <a:pt x="404165" y="12598"/>
                  <a:pt x="417322" y="6350"/>
                  <a:pt x="429616" y="3810"/>
                </a:cubicBezTo>
                <a:cubicBezTo>
                  <a:pt x="441909" y="1270"/>
                  <a:pt x="453745" y="0"/>
                  <a:pt x="465125" y="0"/>
                </a:cubicBezTo>
                <a:cubicBezTo>
                  <a:pt x="485038" y="0"/>
                  <a:pt x="503377" y="3962"/>
                  <a:pt x="520141" y="11887"/>
                </a:cubicBezTo>
                <a:cubicBezTo>
                  <a:pt x="536905" y="19812"/>
                  <a:pt x="550418" y="32258"/>
                  <a:pt x="560679" y="49225"/>
                </a:cubicBezTo>
                <a:cubicBezTo>
                  <a:pt x="570941" y="66192"/>
                  <a:pt x="576072" y="88188"/>
                  <a:pt x="576072" y="115214"/>
                </a:cubicBezTo>
                <a:lnTo>
                  <a:pt x="576072" y="295656"/>
                </a:lnTo>
                <a:cubicBezTo>
                  <a:pt x="576072" y="300533"/>
                  <a:pt x="577189" y="303987"/>
                  <a:pt x="579425" y="306019"/>
                </a:cubicBezTo>
                <a:cubicBezTo>
                  <a:pt x="581660" y="308051"/>
                  <a:pt x="584505" y="309880"/>
                  <a:pt x="587959" y="311505"/>
                </a:cubicBezTo>
                <a:lnTo>
                  <a:pt x="623011" y="327050"/>
                </a:lnTo>
                <a:lnTo>
                  <a:pt x="623011" y="354482"/>
                </a:lnTo>
                <a:lnTo>
                  <a:pt x="444094" y="354482"/>
                </a:lnTo>
                <a:lnTo>
                  <a:pt x="444094" y="327050"/>
                </a:lnTo>
                <a:lnTo>
                  <a:pt x="475793" y="311505"/>
                </a:lnTo>
                <a:cubicBezTo>
                  <a:pt x="479247" y="309677"/>
                  <a:pt x="482143" y="307797"/>
                  <a:pt x="484479" y="305866"/>
                </a:cubicBezTo>
                <a:cubicBezTo>
                  <a:pt x="486816" y="303936"/>
                  <a:pt x="487985" y="300533"/>
                  <a:pt x="487985" y="295656"/>
                </a:cubicBezTo>
                <a:lnTo>
                  <a:pt x="487985" y="151485"/>
                </a:lnTo>
                <a:cubicBezTo>
                  <a:pt x="487985" y="131978"/>
                  <a:pt x="486461" y="115519"/>
                  <a:pt x="483413" y="102108"/>
                </a:cubicBezTo>
                <a:cubicBezTo>
                  <a:pt x="480365" y="88696"/>
                  <a:pt x="474319" y="78486"/>
                  <a:pt x="465277" y="71475"/>
                </a:cubicBezTo>
                <a:cubicBezTo>
                  <a:pt x="456235" y="64465"/>
                  <a:pt x="442671" y="60960"/>
                  <a:pt x="424586" y="60960"/>
                </a:cubicBezTo>
                <a:cubicBezTo>
                  <a:pt x="413207" y="60960"/>
                  <a:pt x="400507" y="62992"/>
                  <a:pt x="386486" y="67056"/>
                </a:cubicBezTo>
                <a:cubicBezTo>
                  <a:pt x="375971" y="70104"/>
                  <a:pt x="367055" y="76181"/>
                  <a:pt x="359740" y="85287"/>
                </a:cubicBezTo>
                <a:lnTo>
                  <a:pt x="355701" y="91310"/>
                </a:lnTo>
                <a:lnTo>
                  <a:pt x="355701" y="295656"/>
                </a:lnTo>
                <a:cubicBezTo>
                  <a:pt x="355701" y="300533"/>
                  <a:pt x="356819" y="303885"/>
                  <a:pt x="359054" y="305714"/>
                </a:cubicBezTo>
                <a:cubicBezTo>
                  <a:pt x="361289" y="307543"/>
                  <a:pt x="364134" y="309473"/>
                  <a:pt x="367589" y="311505"/>
                </a:cubicBezTo>
                <a:lnTo>
                  <a:pt x="395325" y="327050"/>
                </a:lnTo>
                <a:lnTo>
                  <a:pt x="395325" y="354482"/>
                </a:lnTo>
                <a:lnTo>
                  <a:pt x="228905" y="354482"/>
                </a:lnTo>
                <a:lnTo>
                  <a:pt x="228905" y="327050"/>
                </a:lnTo>
                <a:lnTo>
                  <a:pt x="259080" y="311505"/>
                </a:lnTo>
                <a:cubicBezTo>
                  <a:pt x="262534" y="309677"/>
                  <a:pt x="265430" y="307797"/>
                  <a:pt x="267767" y="305866"/>
                </a:cubicBezTo>
                <a:cubicBezTo>
                  <a:pt x="270103" y="303936"/>
                  <a:pt x="271272" y="300533"/>
                  <a:pt x="271272" y="295656"/>
                </a:cubicBezTo>
                <a:lnTo>
                  <a:pt x="271272" y="151485"/>
                </a:lnTo>
                <a:cubicBezTo>
                  <a:pt x="271272" y="131978"/>
                  <a:pt x="269748" y="115519"/>
                  <a:pt x="266700" y="102108"/>
                </a:cubicBezTo>
                <a:cubicBezTo>
                  <a:pt x="263652" y="88696"/>
                  <a:pt x="257657" y="78486"/>
                  <a:pt x="248717" y="71475"/>
                </a:cubicBezTo>
                <a:cubicBezTo>
                  <a:pt x="239776" y="64465"/>
                  <a:pt x="226568" y="60960"/>
                  <a:pt x="209093" y="60960"/>
                </a:cubicBezTo>
                <a:cubicBezTo>
                  <a:pt x="197104" y="60960"/>
                  <a:pt x="184505" y="62738"/>
                  <a:pt x="171297" y="66294"/>
                </a:cubicBezTo>
                <a:cubicBezTo>
                  <a:pt x="158089" y="69850"/>
                  <a:pt x="147320" y="77724"/>
                  <a:pt x="138989" y="89916"/>
                </a:cubicBezTo>
                <a:lnTo>
                  <a:pt x="138989" y="297180"/>
                </a:lnTo>
                <a:cubicBezTo>
                  <a:pt x="138989" y="301244"/>
                  <a:pt x="140157" y="304190"/>
                  <a:pt x="142494" y="306019"/>
                </a:cubicBezTo>
                <a:cubicBezTo>
                  <a:pt x="144831" y="307848"/>
                  <a:pt x="147625" y="309677"/>
                  <a:pt x="150876" y="311505"/>
                </a:cubicBezTo>
                <a:lnTo>
                  <a:pt x="179527" y="327050"/>
                </a:lnTo>
                <a:lnTo>
                  <a:pt x="179527" y="354482"/>
                </a:lnTo>
                <a:lnTo>
                  <a:pt x="0" y="354482"/>
                </a:lnTo>
                <a:lnTo>
                  <a:pt x="0" y="327050"/>
                </a:lnTo>
                <a:lnTo>
                  <a:pt x="39319" y="311505"/>
                </a:lnTo>
                <a:cubicBezTo>
                  <a:pt x="42367" y="310083"/>
                  <a:pt x="45110" y="308356"/>
                  <a:pt x="47549" y="306324"/>
                </a:cubicBezTo>
                <a:cubicBezTo>
                  <a:pt x="49987" y="304292"/>
                  <a:pt x="51206" y="301244"/>
                  <a:pt x="51206" y="297180"/>
                </a:cubicBezTo>
                <a:lnTo>
                  <a:pt x="51206" y="78028"/>
                </a:lnTo>
                <a:cubicBezTo>
                  <a:pt x="51206" y="73761"/>
                  <a:pt x="49987" y="70612"/>
                  <a:pt x="47549" y="68580"/>
                </a:cubicBezTo>
                <a:cubicBezTo>
                  <a:pt x="45110" y="66548"/>
                  <a:pt x="42367" y="64922"/>
                  <a:pt x="39319" y="63703"/>
                </a:cubicBezTo>
                <a:lnTo>
                  <a:pt x="0" y="46939"/>
                </a:lnTo>
                <a:lnTo>
                  <a:pt x="0" y="18592"/>
                </a:lnTo>
                <a:lnTo>
                  <a:pt x="131978" y="2743"/>
                </a:lnTo>
                <a:lnTo>
                  <a:pt x="131978" y="56692"/>
                </a:lnTo>
                <a:lnTo>
                  <a:pt x="137160" y="56692"/>
                </a:lnTo>
                <a:cubicBezTo>
                  <a:pt x="156464" y="31902"/>
                  <a:pt x="175514" y="16256"/>
                  <a:pt x="194310" y="9753"/>
                </a:cubicBezTo>
                <a:cubicBezTo>
                  <a:pt x="213106" y="3251"/>
                  <a:pt x="230937" y="0"/>
                  <a:pt x="247802" y="0"/>
                </a:cubicBezTo>
                <a:close/>
              </a:path>
            </a:pathLst>
          </a:custGeom>
          <a:pattFill prst="dkHorz">
            <a:fgClr>
              <a:schemeClr val="accent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9" name="Freeform: Shape 28">
            <a:extLst>
              <a:ext uri="{FF2B5EF4-FFF2-40B4-BE49-F238E27FC236}">
                <a16:creationId xmlns:a16="http://schemas.microsoft.com/office/drawing/2014/main" id="{18F28016-EF64-EB61-42CC-575394165E0E}"/>
              </a:ext>
            </a:extLst>
          </p:cNvPr>
          <p:cNvSpPr/>
          <p:nvPr/>
        </p:nvSpPr>
        <p:spPr>
          <a:xfrm>
            <a:off x="7087755" y="1109699"/>
            <a:ext cx="306349" cy="291510"/>
          </a:xfrm>
          <a:custGeom>
            <a:avLst/>
            <a:gdLst/>
            <a:ahLst/>
            <a:cxnLst/>
            <a:rect l="l" t="t" r="r" b="b"/>
            <a:pathLst>
              <a:path w="376428" h="361188">
                <a:moveTo>
                  <a:pt x="220675" y="184099"/>
                </a:moveTo>
                <a:cubicBezTo>
                  <a:pt x="195072" y="184099"/>
                  <a:pt x="172567" y="185877"/>
                  <a:pt x="153162" y="189433"/>
                </a:cubicBezTo>
                <a:cubicBezTo>
                  <a:pt x="133756" y="192989"/>
                  <a:pt x="118668" y="199492"/>
                  <a:pt x="107899" y="208940"/>
                </a:cubicBezTo>
                <a:cubicBezTo>
                  <a:pt x="97129" y="218389"/>
                  <a:pt x="91744" y="232156"/>
                  <a:pt x="91744" y="250241"/>
                </a:cubicBezTo>
                <a:cubicBezTo>
                  <a:pt x="91744" y="264871"/>
                  <a:pt x="94640" y="276149"/>
                  <a:pt x="100431" y="284073"/>
                </a:cubicBezTo>
                <a:cubicBezTo>
                  <a:pt x="106222" y="291998"/>
                  <a:pt x="113436" y="297586"/>
                  <a:pt x="122072" y="300838"/>
                </a:cubicBezTo>
                <a:cubicBezTo>
                  <a:pt x="130708" y="304089"/>
                  <a:pt x="138988" y="305714"/>
                  <a:pt x="146913" y="305714"/>
                </a:cubicBezTo>
                <a:cubicBezTo>
                  <a:pt x="158902" y="305714"/>
                  <a:pt x="172161" y="303073"/>
                  <a:pt x="186690" y="297790"/>
                </a:cubicBezTo>
                <a:cubicBezTo>
                  <a:pt x="201218" y="292506"/>
                  <a:pt x="212547" y="283769"/>
                  <a:pt x="220675" y="271577"/>
                </a:cubicBezTo>
                <a:close/>
                <a:moveTo>
                  <a:pt x="174345" y="0"/>
                </a:moveTo>
                <a:cubicBezTo>
                  <a:pt x="197307" y="0"/>
                  <a:pt x="218998" y="2895"/>
                  <a:pt x="239420" y="8687"/>
                </a:cubicBezTo>
                <a:cubicBezTo>
                  <a:pt x="259842" y="14478"/>
                  <a:pt x="276555" y="25349"/>
                  <a:pt x="289560" y="41300"/>
                </a:cubicBezTo>
                <a:cubicBezTo>
                  <a:pt x="302564" y="57251"/>
                  <a:pt x="309067" y="80365"/>
                  <a:pt x="309067" y="110642"/>
                </a:cubicBezTo>
                <a:lnTo>
                  <a:pt x="309067" y="281025"/>
                </a:lnTo>
                <a:cubicBezTo>
                  <a:pt x="309067" y="289357"/>
                  <a:pt x="311912" y="296113"/>
                  <a:pt x="317601" y="301295"/>
                </a:cubicBezTo>
                <a:cubicBezTo>
                  <a:pt x="323291" y="306476"/>
                  <a:pt x="329387" y="309067"/>
                  <a:pt x="335889" y="309067"/>
                </a:cubicBezTo>
                <a:cubicBezTo>
                  <a:pt x="340766" y="309067"/>
                  <a:pt x="345897" y="308356"/>
                  <a:pt x="351282" y="306934"/>
                </a:cubicBezTo>
                <a:cubicBezTo>
                  <a:pt x="356666" y="305511"/>
                  <a:pt x="361797" y="303886"/>
                  <a:pt x="366674" y="302057"/>
                </a:cubicBezTo>
                <a:lnTo>
                  <a:pt x="376428" y="302057"/>
                </a:lnTo>
                <a:lnTo>
                  <a:pt x="376428" y="333451"/>
                </a:lnTo>
                <a:cubicBezTo>
                  <a:pt x="371348" y="336906"/>
                  <a:pt x="364236" y="340817"/>
                  <a:pt x="355092" y="345186"/>
                </a:cubicBezTo>
                <a:cubicBezTo>
                  <a:pt x="345948" y="349555"/>
                  <a:pt x="336448" y="353314"/>
                  <a:pt x="326593" y="356463"/>
                </a:cubicBezTo>
                <a:cubicBezTo>
                  <a:pt x="316738" y="359613"/>
                  <a:pt x="307949" y="361188"/>
                  <a:pt x="300228" y="361188"/>
                </a:cubicBezTo>
                <a:cubicBezTo>
                  <a:pt x="275844" y="361188"/>
                  <a:pt x="257657" y="356362"/>
                  <a:pt x="245668" y="346710"/>
                </a:cubicBezTo>
                <a:cubicBezTo>
                  <a:pt x="233680" y="337058"/>
                  <a:pt x="227685" y="322377"/>
                  <a:pt x="227685" y="302666"/>
                </a:cubicBezTo>
                <a:lnTo>
                  <a:pt x="222808" y="302666"/>
                </a:lnTo>
                <a:cubicBezTo>
                  <a:pt x="211226" y="319532"/>
                  <a:pt x="198323" y="332181"/>
                  <a:pt x="184099" y="340614"/>
                </a:cubicBezTo>
                <a:cubicBezTo>
                  <a:pt x="169875" y="349047"/>
                  <a:pt x="155600" y="354584"/>
                  <a:pt x="141274" y="357225"/>
                </a:cubicBezTo>
                <a:cubicBezTo>
                  <a:pt x="126949" y="359867"/>
                  <a:pt x="113893" y="361188"/>
                  <a:pt x="102108" y="361188"/>
                </a:cubicBezTo>
                <a:cubicBezTo>
                  <a:pt x="80568" y="361188"/>
                  <a:pt x="62179" y="356463"/>
                  <a:pt x="46939" y="347015"/>
                </a:cubicBezTo>
                <a:cubicBezTo>
                  <a:pt x="31699" y="337566"/>
                  <a:pt x="20066" y="325272"/>
                  <a:pt x="12039" y="310134"/>
                </a:cubicBezTo>
                <a:cubicBezTo>
                  <a:pt x="4013" y="294995"/>
                  <a:pt x="0" y="278993"/>
                  <a:pt x="0" y="262128"/>
                </a:cubicBezTo>
                <a:cubicBezTo>
                  <a:pt x="0" y="240182"/>
                  <a:pt x="5334" y="221437"/>
                  <a:pt x="16002" y="205892"/>
                </a:cubicBezTo>
                <a:cubicBezTo>
                  <a:pt x="26670" y="190347"/>
                  <a:pt x="40436" y="177800"/>
                  <a:pt x="57302" y="168249"/>
                </a:cubicBezTo>
                <a:cubicBezTo>
                  <a:pt x="74168" y="158699"/>
                  <a:pt x="92100" y="151689"/>
                  <a:pt x="111099" y="147218"/>
                </a:cubicBezTo>
                <a:cubicBezTo>
                  <a:pt x="130098" y="142748"/>
                  <a:pt x="147828" y="140513"/>
                  <a:pt x="164287" y="140513"/>
                </a:cubicBezTo>
                <a:cubicBezTo>
                  <a:pt x="167538" y="140513"/>
                  <a:pt x="173075" y="140868"/>
                  <a:pt x="180898" y="141579"/>
                </a:cubicBezTo>
                <a:cubicBezTo>
                  <a:pt x="188722" y="142291"/>
                  <a:pt x="196596" y="143103"/>
                  <a:pt x="204520" y="144018"/>
                </a:cubicBezTo>
                <a:cubicBezTo>
                  <a:pt x="212445" y="144932"/>
                  <a:pt x="217830" y="145593"/>
                  <a:pt x="220675" y="145999"/>
                </a:cubicBezTo>
                <a:lnTo>
                  <a:pt x="220675" y="113385"/>
                </a:lnTo>
                <a:cubicBezTo>
                  <a:pt x="220675" y="90017"/>
                  <a:pt x="215849" y="72898"/>
                  <a:pt x="206197" y="62027"/>
                </a:cubicBezTo>
                <a:cubicBezTo>
                  <a:pt x="196545" y="51155"/>
                  <a:pt x="181965" y="45720"/>
                  <a:pt x="162458" y="45720"/>
                </a:cubicBezTo>
                <a:cubicBezTo>
                  <a:pt x="152908" y="45720"/>
                  <a:pt x="142646" y="48006"/>
                  <a:pt x="131673" y="52578"/>
                </a:cubicBezTo>
                <a:cubicBezTo>
                  <a:pt x="120700" y="57150"/>
                  <a:pt x="109778" y="62687"/>
                  <a:pt x="98907" y="69189"/>
                </a:cubicBezTo>
                <a:cubicBezTo>
                  <a:pt x="88036" y="75692"/>
                  <a:pt x="77978" y="82143"/>
                  <a:pt x="68732" y="88544"/>
                </a:cubicBezTo>
                <a:cubicBezTo>
                  <a:pt x="59486" y="94945"/>
                  <a:pt x="51917" y="99974"/>
                  <a:pt x="46024" y="103632"/>
                </a:cubicBezTo>
                <a:lnTo>
                  <a:pt x="25908" y="103632"/>
                </a:lnTo>
                <a:lnTo>
                  <a:pt x="25908" y="27737"/>
                </a:lnTo>
                <a:cubicBezTo>
                  <a:pt x="40538" y="23266"/>
                  <a:pt x="55016" y="18897"/>
                  <a:pt x="69342" y="14630"/>
                </a:cubicBezTo>
                <a:cubicBezTo>
                  <a:pt x="83667" y="10363"/>
                  <a:pt x="99212" y="6858"/>
                  <a:pt x="115976" y="4115"/>
                </a:cubicBezTo>
                <a:cubicBezTo>
                  <a:pt x="132740" y="1371"/>
                  <a:pt x="152196" y="0"/>
                  <a:pt x="174345" y="0"/>
                </a:cubicBezTo>
                <a:close/>
              </a:path>
            </a:pathLst>
          </a:custGeom>
          <a:pattFill prst="dkHorz">
            <a:fgClr>
              <a:schemeClr val="accent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5" name="Freeform: Shape 34">
            <a:extLst>
              <a:ext uri="{FF2B5EF4-FFF2-40B4-BE49-F238E27FC236}">
                <a16:creationId xmlns:a16="http://schemas.microsoft.com/office/drawing/2014/main" id="{C7C04620-FA1C-7DE3-D256-3D87061FAD36}"/>
              </a:ext>
            </a:extLst>
          </p:cNvPr>
          <p:cNvSpPr/>
          <p:nvPr/>
        </p:nvSpPr>
        <p:spPr>
          <a:xfrm>
            <a:off x="6767823" y="1103122"/>
            <a:ext cx="287734" cy="284427"/>
          </a:xfrm>
          <a:custGeom>
            <a:avLst/>
            <a:gdLst/>
            <a:ahLst/>
            <a:cxnLst/>
            <a:rect l="l" t="t" r="r" b="b"/>
            <a:pathLst>
              <a:path w="333451" h="362407">
                <a:moveTo>
                  <a:pt x="170992" y="43891"/>
                </a:moveTo>
                <a:cubicBezTo>
                  <a:pt x="156972" y="43891"/>
                  <a:pt x="144830" y="46787"/>
                  <a:pt x="134569" y="52578"/>
                </a:cubicBezTo>
                <a:cubicBezTo>
                  <a:pt x="124307" y="58369"/>
                  <a:pt x="115773" y="66700"/>
                  <a:pt x="108966" y="77571"/>
                </a:cubicBezTo>
                <a:cubicBezTo>
                  <a:pt x="102158" y="88443"/>
                  <a:pt x="97129" y="101397"/>
                  <a:pt x="93878" y="116433"/>
                </a:cubicBezTo>
                <a:lnTo>
                  <a:pt x="90710" y="137160"/>
                </a:lnTo>
                <a:lnTo>
                  <a:pt x="242316" y="137160"/>
                </a:lnTo>
                <a:cubicBezTo>
                  <a:pt x="242316" y="117449"/>
                  <a:pt x="240030" y="100685"/>
                  <a:pt x="235458" y="86868"/>
                </a:cubicBezTo>
                <a:cubicBezTo>
                  <a:pt x="230886" y="73050"/>
                  <a:pt x="223367" y="62433"/>
                  <a:pt x="212902" y="55016"/>
                </a:cubicBezTo>
                <a:cubicBezTo>
                  <a:pt x="202438" y="47599"/>
                  <a:pt x="188468" y="43891"/>
                  <a:pt x="170992" y="43891"/>
                </a:cubicBezTo>
                <a:close/>
                <a:moveTo>
                  <a:pt x="176479" y="0"/>
                </a:moveTo>
                <a:cubicBezTo>
                  <a:pt x="209397" y="0"/>
                  <a:pt x="237591" y="6248"/>
                  <a:pt x="261061" y="18745"/>
                </a:cubicBezTo>
                <a:cubicBezTo>
                  <a:pt x="284530" y="31242"/>
                  <a:pt x="302463" y="47853"/>
                  <a:pt x="314858" y="68580"/>
                </a:cubicBezTo>
                <a:cubicBezTo>
                  <a:pt x="327253" y="89306"/>
                  <a:pt x="333451" y="112166"/>
                  <a:pt x="333451" y="137160"/>
                </a:cubicBezTo>
                <a:cubicBezTo>
                  <a:pt x="333451" y="140005"/>
                  <a:pt x="333298" y="144475"/>
                  <a:pt x="332994" y="150571"/>
                </a:cubicBezTo>
                <a:cubicBezTo>
                  <a:pt x="332689" y="156667"/>
                  <a:pt x="332333" y="162763"/>
                  <a:pt x="331927" y="168859"/>
                </a:cubicBezTo>
                <a:cubicBezTo>
                  <a:pt x="331520" y="174955"/>
                  <a:pt x="331012" y="179425"/>
                  <a:pt x="330403" y="182270"/>
                </a:cubicBezTo>
                <a:lnTo>
                  <a:pt x="90111" y="182270"/>
                </a:lnTo>
                <a:lnTo>
                  <a:pt x="91744" y="204711"/>
                </a:lnTo>
                <a:cubicBezTo>
                  <a:pt x="93573" y="216421"/>
                  <a:pt x="96316" y="227279"/>
                  <a:pt x="99974" y="237287"/>
                </a:cubicBezTo>
                <a:cubicBezTo>
                  <a:pt x="107289" y="257302"/>
                  <a:pt x="119735" y="272847"/>
                  <a:pt x="137312" y="283921"/>
                </a:cubicBezTo>
                <a:cubicBezTo>
                  <a:pt x="154889" y="294995"/>
                  <a:pt x="178917" y="300533"/>
                  <a:pt x="209397" y="300533"/>
                </a:cubicBezTo>
                <a:cubicBezTo>
                  <a:pt x="225247" y="300533"/>
                  <a:pt x="239979" y="298755"/>
                  <a:pt x="253593" y="295199"/>
                </a:cubicBezTo>
                <a:cubicBezTo>
                  <a:pt x="267208" y="291643"/>
                  <a:pt x="279501" y="287325"/>
                  <a:pt x="290474" y="282245"/>
                </a:cubicBezTo>
                <a:cubicBezTo>
                  <a:pt x="301447" y="277165"/>
                  <a:pt x="310692" y="272389"/>
                  <a:pt x="318211" y="267919"/>
                </a:cubicBezTo>
                <a:lnTo>
                  <a:pt x="332536" y="267919"/>
                </a:lnTo>
                <a:lnTo>
                  <a:pt x="332536" y="308762"/>
                </a:lnTo>
                <a:cubicBezTo>
                  <a:pt x="314858" y="321564"/>
                  <a:pt x="292201" y="333705"/>
                  <a:pt x="264566" y="345186"/>
                </a:cubicBezTo>
                <a:cubicBezTo>
                  <a:pt x="236931" y="356667"/>
                  <a:pt x="207568" y="362407"/>
                  <a:pt x="176479" y="362407"/>
                </a:cubicBezTo>
                <a:cubicBezTo>
                  <a:pt x="143154" y="362407"/>
                  <a:pt x="113182" y="355600"/>
                  <a:pt x="86563" y="341986"/>
                </a:cubicBezTo>
                <a:cubicBezTo>
                  <a:pt x="59944" y="328371"/>
                  <a:pt x="38862" y="308254"/>
                  <a:pt x="23317" y="281635"/>
                </a:cubicBezTo>
                <a:cubicBezTo>
                  <a:pt x="7772" y="255016"/>
                  <a:pt x="0" y="222605"/>
                  <a:pt x="0" y="184404"/>
                </a:cubicBezTo>
                <a:cubicBezTo>
                  <a:pt x="0" y="149250"/>
                  <a:pt x="7416" y="117805"/>
                  <a:pt x="22250" y="90068"/>
                </a:cubicBezTo>
                <a:cubicBezTo>
                  <a:pt x="37084" y="62331"/>
                  <a:pt x="57759" y="40386"/>
                  <a:pt x="84277" y="24231"/>
                </a:cubicBezTo>
                <a:cubicBezTo>
                  <a:pt x="110794" y="8077"/>
                  <a:pt x="141528" y="0"/>
                  <a:pt x="176479" y="0"/>
                </a:cubicBezTo>
                <a:close/>
              </a:path>
            </a:pathLst>
          </a:custGeom>
          <a:pattFill prst="dkHorz">
            <a:fgClr>
              <a:schemeClr val="accent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575307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Cha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8">
            <a:extLst>
              <a:ext uri="{FF2B5EF4-FFF2-40B4-BE49-F238E27FC236}">
                <a16:creationId xmlns:a16="http://schemas.microsoft.com/office/drawing/2014/main" id="{9A7B1503-AA6F-1AF9-590D-1DCBB374CC57}"/>
              </a:ext>
            </a:extLst>
          </p:cNvPr>
          <p:cNvGrpSpPr/>
          <p:nvPr/>
        </p:nvGrpSpPr>
        <p:grpSpPr>
          <a:xfrm>
            <a:off x="0" y="129472"/>
            <a:ext cx="8999538" cy="547001"/>
            <a:chOff x="0" y="0"/>
            <a:chExt cx="4355842" cy="406400"/>
          </a:xfrm>
        </p:grpSpPr>
        <p:sp>
          <p:nvSpPr>
            <p:cNvPr id="5" name="Freeform 29">
              <a:extLst>
                <a:ext uri="{FF2B5EF4-FFF2-40B4-BE49-F238E27FC236}">
                  <a16:creationId xmlns:a16="http://schemas.microsoft.com/office/drawing/2014/main" id="{9D04C35C-DD43-F8C8-7D63-003586AA37DF}"/>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IN" sz="2800" b="1" dirty="0">
                  <a:solidFill>
                    <a:schemeClr val="bg1"/>
                  </a:solidFill>
                  <a:latin typeface="Times New Roman" panose="02020603050405020304" pitchFamily="18" charset="0"/>
                  <a:cs typeface="Times New Roman" panose="02020603050405020304" pitchFamily="18" charset="0"/>
                </a:rPr>
                <a:t>OUTLINE</a:t>
              </a:r>
            </a:p>
          </p:txBody>
        </p:sp>
        <p:sp>
          <p:nvSpPr>
            <p:cNvPr id="6" name="TextBox 30">
              <a:extLst>
                <a:ext uri="{FF2B5EF4-FFF2-40B4-BE49-F238E27FC236}">
                  <a16:creationId xmlns:a16="http://schemas.microsoft.com/office/drawing/2014/main" id="{827DEE27-690F-E2EA-6DF7-033EF85A684A}"/>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9" name="TextBox 8">
            <a:extLst>
              <a:ext uri="{FF2B5EF4-FFF2-40B4-BE49-F238E27FC236}">
                <a16:creationId xmlns:a16="http://schemas.microsoft.com/office/drawing/2014/main" id="{9F1AECF7-037E-B0B4-3C96-CC6C1B4E8BB5}"/>
              </a:ext>
            </a:extLst>
          </p:cNvPr>
          <p:cNvSpPr txBox="1"/>
          <p:nvPr/>
        </p:nvSpPr>
        <p:spPr>
          <a:xfrm>
            <a:off x="460612" y="927168"/>
            <a:ext cx="4496936" cy="3862917"/>
          </a:xfrm>
          <a:prstGeom prst="rect">
            <a:avLst/>
          </a:prstGeom>
          <a:noFill/>
        </p:spPr>
        <p:txBody>
          <a:bodyPr wrap="square">
            <a:spAutoFit/>
          </a:bodyPr>
          <a:lstStyle/>
          <a:p>
            <a:pPr marL="228600" indent="-228600">
              <a:lnSpc>
                <a:spcPct val="150000"/>
              </a:lnSpc>
              <a:spcAft>
                <a:spcPts val="800"/>
              </a:spcAft>
              <a:buFont typeface="Arial" panose="020B0604020202020204" pitchFamily="34" charset="0"/>
              <a:buChar char="•"/>
              <a:tabLst>
                <a:tab pos="4229100" algn="ctr"/>
              </a:tabLs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Abstract of the Project</a:t>
            </a:r>
            <a:endParaRPr lang="en-IN" sz="24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228600" indent="-228600">
              <a:lnSpc>
                <a:spcPct val="150000"/>
              </a:lnSpc>
              <a:spcAft>
                <a:spcPts val="800"/>
              </a:spcAft>
              <a:buFont typeface="Arial" panose="020B0604020202020204" pitchFamily="34" charset="0"/>
              <a:buChar char="•"/>
              <a:tabLst>
                <a:tab pos="4229100" algn="ctr"/>
              </a:tabLst>
            </a:pPr>
            <a:r>
              <a:rPr lang="en-US" sz="2400" dirty="0">
                <a:latin typeface="Times New Roman" panose="02020603050405020304" pitchFamily="18" charset="0"/>
                <a:ea typeface="+mn-lt"/>
                <a:cs typeface="Times New Roman" panose="02020603050405020304" pitchFamily="18" charset="0"/>
              </a:rPr>
              <a:t>Problem Statement</a:t>
            </a:r>
          </a:p>
          <a:p>
            <a:pPr marL="228600" indent="-228600">
              <a:lnSpc>
                <a:spcPct val="150000"/>
              </a:lnSpc>
              <a:spcAft>
                <a:spcPts val="800"/>
              </a:spcAft>
              <a:buFont typeface="Arial" panose="020B0604020202020204" pitchFamily="34" charset="0"/>
              <a:buChar char="•"/>
              <a:tabLst>
                <a:tab pos="4229100" algn="ctr"/>
              </a:tabLst>
            </a:pPr>
            <a:r>
              <a:rPr lang="en-US" sz="2400" dirty="0">
                <a:latin typeface="Times New Roman" panose="02020603050405020304" pitchFamily="18" charset="0"/>
                <a:ea typeface="+mn-lt"/>
                <a:cs typeface="Times New Roman" panose="02020603050405020304" pitchFamily="18" charset="0"/>
              </a:rPr>
              <a:t>Proposed Solution</a:t>
            </a:r>
          </a:p>
          <a:p>
            <a:pPr marL="228600" indent="-228600">
              <a:lnSpc>
                <a:spcPct val="150000"/>
              </a:lnSpc>
              <a:spcAft>
                <a:spcPts val="800"/>
              </a:spcAft>
              <a:buFont typeface="Arial" panose="020B0604020202020204" pitchFamily="34" charset="0"/>
              <a:buChar char="•"/>
              <a:tabLst>
                <a:tab pos="4229100" algn="ctr"/>
              </a:tabLst>
            </a:pPr>
            <a:r>
              <a:rPr lang="en-US" sz="2400" dirty="0">
                <a:latin typeface="Times New Roman" panose="02020603050405020304" pitchFamily="18" charset="0"/>
                <a:ea typeface="+mn-lt"/>
                <a:cs typeface="Times New Roman" panose="02020603050405020304" pitchFamily="18" charset="0"/>
              </a:rPr>
              <a:t>System Architecture</a:t>
            </a:r>
          </a:p>
          <a:p>
            <a:pPr marL="228600" indent="-228600">
              <a:lnSpc>
                <a:spcPct val="150000"/>
              </a:lnSpc>
              <a:spcAft>
                <a:spcPts val="800"/>
              </a:spcAft>
              <a:buFont typeface="Arial" panose="020B0604020202020204" pitchFamily="34" charset="0"/>
              <a:buChar char="•"/>
              <a:tabLst>
                <a:tab pos="4229100" algn="ctr"/>
              </a:tabLst>
            </a:pPr>
            <a:r>
              <a:rPr lang="en-US" sz="2400" dirty="0">
                <a:latin typeface="Times New Roman" panose="02020603050405020304" pitchFamily="18" charset="0"/>
                <a:ea typeface="+mn-lt"/>
                <a:cs typeface="Times New Roman" panose="02020603050405020304" pitchFamily="18" charset="0"/>
              </a:rPr>
              <a:t>Live Demo of the Project</a:t>
            </a:r>
          </a:p>
          <a:p>
            <a:pPr marL="228600" indent="-228600">
              <a:lnSpc>
                <a:spcPct val="150000"/>
              </a:lnSpc>
              <a:spcAft>
                <a:spcPts val="800"/>
              </a:spcAft>
              <a:buFont typeface="Arial" panose="020B0604020202020204" pitchFamily="34" charset="0"/>
              <a:buChar char="•"/>
              <a:tabLst>
                <a:tab pos="4229100" algn="ctr"/>
              </a:tabLst>
            </a:pPr>
            <a:r>
              <a:rPr lang="en-IN" sz="2400" dirty="0">
                <a:latin typeface="Times New Roman" panose="02020603050405020304" pitchFamily="18" charset="0"/>
                <a:ea typeface="+mn-lt"/>
                <a:cs typeface="Times New Roman" panose="02020603050405020304" pitchFamily="18" charset="0"/>
              </a:rPr>
              <a:t>Conclusion &amp;</a:t>
            </a:r>
            <a:r>
              <a:rPr lang="en-US" sz="2400" dirty="0">
                <a:latin typeface="Times New Roman" panose="02020603050405020304" pitchFamily="18" charset="0"/>
                <a:ea typeface="+mn-lt"/>
                <a:cs typeface="Times New Roman" panose="02020603050405020304" pitchFamily="18" charset="0"/>
              </a:rPr>
              <a:t>Future Scope</a:t>
            </a:r>
          </a:p>
        </p:txBody>
      </p:sp>
    </p:spTree>
    <p:extLst>
      <p:ext uri="{BB962C8B-B14F-4D97-AF65-F5344CB8AC3E}">
        <p14:creationId xmlns:p14="http://schemas.microsoft.com/office/powerpoint/2010/main" val="18887548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E6EF7-8092-BFD3-1477-839C363BDC7E}"/>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49976F5E-ED5C-F98A-9D2D-B4C46258AAB2}"/>
              </a:ext>
            </a:extLst>
          </p:cNvPr>
          <p:cNvGrpSpPr/>
          <p:nvPr/>
        </p:nvGrpSpPr>
        <p:grpSpPr>
          <a:xfrm>
            <a:off x="0" y="129472"/>
            <a:ext cx="8999538" cy="547001"/>
            <a:chOff x="0" y="0"/>
            <a:chExt cx="4355842" cy="406400"/>
          </a:xfrm>
        </p:grpSpPr>
        <p:sp>
          <p:nvSpPr>
            <p:cNvPr id="5" name="Freeform 29">
              <a:extLst>
                <a:ext uri="{FF2B5EF4-FFF2-40B4-BE49-F238E27FC236}">
                  <a16:creationId xmlns:a16="http://schemas.microsoft.com/office/drawing/2014/main" id="{A2FCD1E5-07E0-F6D8-2316-F540A16F6D9D}"/>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IN" sz="2800" b="1" dirty="0">
                  <a:solidFill>
                    <a:schemeClr val="bg1"/>
                  </a:solidFill>
                  <a:latin typeface="Times New Roman" panose="02020603050405020304" pitchFamily="18" charset="0"/>
                  <a:cs typeface="Times New Roman" panose="02020603050405020304" pitchFamily="18" charset="0"/>
                </a:rPr>
                <a:t>ABSTRACT</a:t>
              </a:r>
            </a:p>
          </p:txBody>
        </p:sp>
        <p:sp>
          <p:nvSpPr>
            <p:cNvPr id="6" name="TextBox 30">
              <a:extLst>
                <a:ext uri="{FF2B5EF4-FFF2-40B4-BE49-F238E27FC236}">
                  <a16:creationId xmlns:a16="http://schemas.microsoft.com/office/drawing/2014/main" id="{1894CD02-3952-484A-D607-F253A5FABC21}"/>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3" name="TextBox 2">
            <a:extLst>
              <a:ext uri="{FF2B5EF4-FFF2-40B4-BE49-F238E27FC236}">
                <a16:creationId xmlns:a16="http://schemas.microsoft.com/office/drawing/2014/main" id="{1A279B54-DA9F-D9DD-C1AC-90775581CF17}"/>
              </a:ext>
            </a:extLst>
          </p:cNvPr>
          <p:cNvSpPr txBox="1"/>
          <p:nvPr/>
        </p:nvSpPr>
        <p:spPr>
          <a:xfrm>
            <a:off x="262794" y="727754"/>
            <a:ext cx="8473950" cy="4616648"/>
          </a:xfrm>
          <a:prstGeom prst="rect">
            <a:avLst/>
          </a:prstGeom>
          <a:noFill/>
        </p:spPr>
        <p:txBody>
          <a:bodyPr wrap="square">
            <a:spAutoFit/>
          </a:bodyPr>
          <a:lstStyle/>
          <a:p>
            <a:pPr algn="just"/>
            <a:r>
              <a:rPr lang="en-IN" sz="2400" dirty="0">
                <a:latin typeface="Century" panose="02040604050505020304" pitchFamily="18" charset="0"/>
                <a:ea typeface="Calibri" panose="020F0502020204030204" pitchFamily="34" charset="0"/>
                <a:cs typeface="Calibri" panose="020F0502020204030204" pitchFamily="34" charset="0"/>
              </a:rPr>
              <a:t>T</a:t>
            </a:r>
            <a:r>
              <a:rPr lang="en-IN" sz="1400" dirty="0">
                <a:latin typeface="Century" panose="02040604050505020304" pitchFamily="18" charset="0"/>
                <a:ea typeface="Calibri" panose="020F0502020204030204" pitchFamily="34" charset="0"/>
                <a:cs typeface="Calibri" panose="020F0502020204030204" pitchFamily="34" charset="0"/>
              </a:rPr>
              <a:t>here are many potholes present on roads, and they pose a serious threat to vehicle safety, often leading to major accidents, vehicle damage, and increased maintenance costs. Every year, thousands of accidents occur due to drivers being unaware of these road hazards in advance. To tackle and detect such potholes, we have come up with this project. The goal of this project was to create a real-time pothole detection and driver alert system that not only identifies potholes but also warns drivers before they reach them.</a:t>
            </a:r>
          </a:p>
          <a:p>
            <a:pPr algn="just"/>
            <a:r>
              <a:rPr lang="en-IN" sz="1400" dirty="0">
                <a:latin typeface="Century" panose="02040604050505020304" pitchFamily="18" charset="0"/>
                <a:ea typeface="Calibri" panose="020F0502020204030204" pitchFamily="34" charset="0"/>
                <a:cs typeface="Calibri" panose="020F0502020204030204" pitchFamily="34" charset="0"/>
              </a:rPr>
              <a:t>	This model was developed using the YOLOv4-Tiny (You Only Look Once) algorithm, a lightweight and optimized version of YOLO designed for real-time object detection with low computational cost. It is capable of processing static images, pre-recorded videos, and live camera feeds to detect potholes accurately. Upon detection, the system analyses the bounding box size relative to the frame to classify the pothole's severity as Low, Medium, or High. Each detected pothole is logged into a database along with its GPS coordinates and timestamp for future reference.</a:t>
            </a:r>
          </a:p>
          <a:p>
            <a:pPr algn="just"/>
            <a:r>
              <a:rPr lang="en-IN" sz="1400" dirty="0">
                <a:latin typeface="Century" panose="02040604050505020304" pitchFamily="18" charset="0"/>
                <a:ea typeface="Calibri" panose="020F0502020204030204" pitchFamily="34" charset="0"/>
                <a:cs typeface="Calibri" panose="020F0502020204030204" pitchFamily="34" charset="0"/>
              </a:rPr>
              <a:t>	To assist drivers in real time, a Live Map Dashboard was built using Streamlit and Folium, which tracks the driver's current location using browser-based GPS. The system calculates the distance between the driver and nearby high-severity potholes using the Haversine formula. When a severe pothole falls within a set warning radius (e.g., 50 meters), the system immediately triggers a visual warning banner along with an audio alert, giving the driver enough time to slow down or change lanes.</a:t>
            </a:r>
          </a:p>
          <a:p>
            <a:pPr algn="just"/>
            <a:r>
              <a:rPr lang="en-IN" sz="1400" dirty="0">
                <a:latin typeface="Century" panose="02040604050505020304" pitchFamily="18" charset="0"/>
                <a:ea typeface="Calibri" panose="020F0502020204030204" pitchFamily="34" charset="0"/>
                <a:cs typeface="Calibri" panose="020F0502020204030204" pitchFamily="34" charset="0"/>
              </a:rPr>
              <a:t>	The system achieves high detection accuracy with low latency, making it a reliable, low-cost, and scalable solution for improving road safety and enabling smart, automated road monitoring.</a:t>
            </a:r>
          </a:p>
        </p:txBody>
      </p:sp>
      <p:sp>
        <p:nvSpPr>
          <p:cNvPr id="7" name="TextBox 6">
            <a:extLst>
              <a:ext uri="{FF2B5EF4-FFF2-40B4-BE49-F238E27FC236}">
                <a16:creationId xmlns:a16="http://schemas.microsoft.com/office/drawing/2014/main" id="{7DC62329-F3F6-E7CE-4050-6FC09CD64038}"/>
              </a:ext>
            </a:extLst>
          </p:cNvPr>
          <p:cNvSpPr txBox="1"/>
          <p:nvPr/>
        </p:nvSpPr>
        <p:spPr>
          <a:xfrm>
            <a:off x="770930" y="871383"/>
            <a:ext cx="7457678" cy="4473019"/>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IN" sz="2000" b="1" dirty="0"/>
              <a:t>Potholes</a:t>
            </a:r>
            <a:r>
              <a:rPr lang="en-IN" sz="2000" dirty="0"/>
              <a:t> → Road hazard → Accidents + Vehicle damage </a:t>
            </a:r>
          </a:p>
          <a:p>
            <a:pPr marL="228600" indent="-228600">
              <a:spcAft>
                <a:spcPts val="800"/>
              </a:spcAft>
              <a:buFont typeface="Arial" panose="020B0604020202020204" pitchFamily="34" charset="0"/>
              <a:buChar char="•"/>
              <a:tabLst>
                <a:tab pos="4229100" algn="ctr"/>
              </a:tabLst>
            </a:pPr>
            <a:r>
              <a:rPr lang="en-IN" sz="2000" b="1" dirty="0"/>
              <a:t>Solution</a:t>
            </a:r>
            <a:r>
              <a:rPr lang="en-IN" sz="2000" dirty="0"/>
              <a:t> → Real-time Pothole Detection + Driver Alert System </a:t>
            </a:r>
          </a:p>
          <a:p>
            <a:pPr marL="228600" indent="-228600">
              <a:spcAft>
                <a:spcPts val="800"/>
              </a:spcAft>
              <a:buFont typeface="Arial" panose="020B0604020202020204" pitchFamily="34" charset="0"/>
              <a:buChar char="•"/>
              <a:tabLst>
                <a:tab pos="4229100" algn="ctr"/>
              </a:tabLst>
            </a:pPr>
            <a:r>
              <a:rPr lang="en-IN" sz="2000" b="1" dirty="0"/>
              <a:t>Model Used</a:t>
            </a:r>
            <a:r>
              <a:rPr lang="en-IN" sz="2000" dirty="0"/>
              <a:t> → YOLOv4-Tiny → Fast + Lightweight + Accurate </a:t>
            </a:r>
          </a:p>
          <a:p>
            <a:pPr marL="228600" indent="-228600">
              <a:spcAft>
                <a:spcPts val="800"/>
              </a:spcAft>
              <a:buFont typeface="Arial" panose="020B0604020202020204" pitchFamily="34" charset="0"/>
              <a:buChar char="•"/>
              <a:tabLst>
                <a:tab pos="4229100" algn="ctr"/>
              </a:tabLst>
            </a:pPr>
            <a:r>
              <a:rPr lang="en-IN" sz="2000" b="1" dirty="0"/>
              <a:t>Input</a:t>
            </a:r>
            <a:r>
              <a:rPr lang="en-IN" sz="2000" dirty="0"/>
              <a:t> → Image / Video / Live Camera → Detect Pothole </a:t>
            </a:r>
          </a:p>
          <a:p>
            <a:pPr marL="228600" indent="-228600">
              <a:spcAft>
                <a:spcPts val="800"/>
              </a:spcAft>
              <a:buFont typeface="Arial" panose="020B0604020202020204" pitchFamily="34" charset="0"/>
              <a:buChar char="•"/>
              <a:tabLst>
                <a:tab pos="4229100" algn="ctr"/>
              </a:tabLst>
            </a:pPr>
            <a:r>
              <a:rPr lang="en-IN" sz="2000" b="1" dirty="0"/>
              <a:t>Analysis</a:t>
            </a:r>
            <a:r>
              <a:rPr lang="en-IN" sz="2000" dirty="0"/>
              <a:t> → Bounding Box Size → Severity: Low → Medium → High </a:t>
            </a:r>
          </a:p>
          <a:p>
            <a:pPr marL="228600" indent="-228600">
              <a:spcAft>
                <a:spcPts val="800"/>
              </a:spcAft>
              <a:buFont typeface="Arial" panose="020B0604020202020204" pitchFamily="34" charset="0"/>
              <a:buChar char="•"/>
              <a:tabLst>
                <a:tab pos="4229100" algn="ctr"/>
              </a:tabLst>
            </a:pPr>
            <a:r>
              <a:rPr lang="en-IN" sz="2000" b="1" dirty="0"/>
              <a:t>Logging</a:t>
            </a:r>
            <a:r>
              <a:rPr lang="en-IN" sz="2000" dirty="0"/>
              <a:t> → Pothole Data → GPS + Timestamp → Saved to Database </a:t>
            </a:r>
          </a:p>
          <a:p>
            <a:pPr marL="228600" indent="-228600">
              <a:spcAft>
                <a:spcPts val="800"/>
              </a:spcAft>
              <a:buFont typeface="Arial" panose="020B0604020202020204" pitchFamily="34" charset="0"/>
              <a:buChar char="•"/>
              <a:tabLst>
                <a:tab pos="4229100" algn="ctr"/>
              </a:tabLst>
            </a:pPr>
            <a:r>
              <a:rPr lang="en-IN" sz="2000" b="1" dirty="0"/>
              <a:t>Tracking</a:t>
            </a:r>
            <a:r>
              <a:rPr lang="en-IN" sz="2000" dirty="0"/>
              <a:t> → Live Map Dashboard → Driver's Real-time GPS Location </a:t>
            </a:r>
          </a:p>
          <a:p>
            <a:pPr marL="228600" indent="-228600">
              <a:spcAft>
                <a:spcPts val="800"/>
              </a:spcAft>
              <a:buFont typeface="Arial" panose="020B0604020202020204" pitchFamily="34" charset="0"/>
              <a:buChar char="•"/>
              <a:tabLst>
                <a:tab pos="4229100" algn="ctr"/>
              </a:tabLst>
            </a:pPr>
            <a:r>
              <a:rPr lang="en-IN" sz="2000" b="1" dirty="0"/>
              <a:t>Distance Check</a:t>
            </a:r>
            <a:r>
              <a:rPr lang="en-IN" sz="2000" dirty="0"/>
              <a:t> → Haversine Formula → Driver ↔ Pothole Distance </a:t>
            </a:r>
          </a:p>
          <a:p>
            <a:pPr marL="228600" indent="-228600">
              <a:spcAft>
                <a:spcPts val="800"/>
              </a:spcAft>
              <a:buFont typeface="Arial" panose="020B0604020202020204" pitchFamily="34" charset="0"/>
              <a:buChar char="•"/>
              <a:tabLst>
                <a:tab pos="4229100" algn="ctr"/>
              </a:tabLst>
            </a:pPr>
            <a:r>
              <a:rPr lang="en-IN" sz="2000" b="1" dirty="0"/>
              <a:t>Trigger Condition</a:t>
            </a:r>
            <a:r>
              <a:rPr lang="en-IN" sz="2000" dirty="0"/>
              <a:t> → Severe Pothole within 50m → Alert Activated </a:t>
            </a:r>
          </a:p>
          <a:p>
            <a:pPr marL="228600" indent="-228600">
              <a:spcAft>
                <a:spcPts val="800"/>
              </a:spcAft>
              <a:buFont typeface="Arial" panose="020B0604020202020204" pitchFamily="34" charset="0"/>
              <a:buChar char="•"/>
              <a:tabLst>
                <a:tab pos="4229100" algn="ctr"/>
              </a:tabLst>
            </a:pPr>
            <a:r>
              <a:rPr lang="en-IN" sz="2000" b="1" dirty="0"/>
              <a:t>Alert Output</a:t>
            </a:r>
            <a:r>
              <a:rPr lang="en-IN" sz="2000" dirty="0"/>
              <a:t> → 🔴 Visual Banner + 🔊 Audio Beep </a:t>
            </a:r>
          </a:p>
          <a:p>
            <a:pPr marL="228600" indent="-228600">
              <a:spcAft>
                <a:spcPts val="800"/>
              </a:spcAft>
              <a:buFont typeface="Arial" panose="020B0604020202020204" pitchFamily="34" charset="0"/>
              <a:buChar char="•"/>
              <a:tabLst>
                <a:tab pos="4229100" algn="ctr"/>
              </a:tabLst>
            </a:pPr>
            <a:r>
              <a:rPr lang="en-IN" sz="2000" b="1" dirty="0"/>
              <a:t>Outcome</a:t>
            </a:r>
            <a:r>
              <a:rPr lang="en-IN" sz="2000" dirty="0"/>
              <a:t> → High Accuracy + Low Latency → Safer, Smarter Roads</a:t>
            </a:r>
            <a:endParaRPr lang="en-IN"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00798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xit" presetSubtype="0" fill="hold" grpId="1" nodeType="afterEffect">
                                  <p:stCondLst>
                                    <p:cond delay="8000"/>
                                  </p:stCondLst>
                                  <p:childTnLst>
                                    <p:animEffect transition="out" filter="fade">
                                      <p:cBhvr>
                                        <p:cTn id="10" dur="500"/>
                                        <p:tgtEl>
                                          <p:spTgt spid="3"/>
                                        </p:tgtEl>
                                      </p:cBhvr>
                                    </p:animEffect>
                                    <p:set>
                                      <p:cBhvr>
                                        <p:cTn id="11" dur="1" fill="hold">
                                          <p:stCondLst>
                                            <p:cond delay="499"/>
                                          </p:stCondLst>
                                        </p:cTn>
                                        <p:tgtEl>
                                          <p:spTgt spid="3"/>
                                        </p:tgtEl>
                                        <p:attrNameLst>
                                          <p:attrName>style.visibility</p:attrName>
                                        </p:attrNameLst>
                                      </p:cBhvr>
                                      <p:to>
                                        <p:strVal val="hidden"/>
                                      </p:to>
                                    </p:set>
                                  </p:childTnLst>
                                </p:cTn>
                              </p:par>
                            </p:childTnLst>
                          </p:cTn>
                        </p:par>
                        <p:par>
                          <p:cTn id="12" fill="hold">
                            <p:stCondLst>
                              <p:cond delay="9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3477-8C1A-D35D-6478-A5FC83FAF79E}"/>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1D81EC1D-2284-818D-62C1-FB8E323DB6ED}"/>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AE7C4B14-F546-D8C8-B471-43CABE7C786E}"/>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PROBLEM STATEMENT</a:t>
              </a: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4205A954-7626-DE5F-6F96-2B808F53EE72}"/>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2" name="TextBox 1">
            <a:extLst>
              <a:ext uri="{FF2B5EF4-FFF2-40B4-BE49-F238E27FC236}">
                <a16:creationId xmlns:a16="http://schemas.microsoft.com/office/drawing/2014/main" id="{BF99F0A3-9A08-F39A-1715-A29D3795523B}"/>
              </a:ext>
            </a:extLst>
          </p:cNvPr>
          <p:cNvSpPr txBox="1"/>
          <p:nvPr/>
        </p:nvSpPr>
        <p:spPr>
          <a:xfrm>
            <a:off x="118076" y="1017677"/>
            <a:ext cx="8763385" cy="4401205"/>
          </a:xfrm>
          <a:prstGeom prst="rect">
            <a:avLst/>
          </a:prstGeom>
          <a:noFill/>
        </p:spPr>
        <p:txBody>
          <a:bodyPr wrap="square" rtlCol="0">
            <a:spAutoFit/>
          </a:bodyPr>
          <a:lstStyle/>
          <a:p>
            <a:r>
              <a:rPr lang="en-IN" sz="3200" b="1" dirty="0">
                <a:solidFill>
                  <a:srgbClr val="FF0000"/>
                </a:solidFill>
                <a:latin typeface="High Tower Text" panose="02040502050506030303" pitchFamily="18" charset="0"/>
              </a:rPr>
              <a:t>9,438 </a:t>
            </a:r>
            <a:r>
              <a:rPr lang="en-IN" sz="2400" dirty="0">
                <a:latin typeface="High Tower Text" panose="02040502050506030303" pitchFamily="18" charset="0"/>
              </a:rPr>
              <a:t> deaths from pothole-related accidents in India (2021–	2025), Uttar Pradesh alone accounting for over half of these 	fatalities.</a:t>
            </a:r>
          </a:p>
          <a:p>
            <a:endParaRPr lang="en-IN" sz="2400" dirty="0">
              <a:latin typeface="High Tower Text" panose="02040502050506030303" pitchFamily="18" charset="0"/>
            </a:endParaRPr>
          </a:p>
          <a:p>
            <a:r>
              <a:rPr lang="en-IN" sz="2400" dirty="0">
                <a:latin typeface="High Tower Text" panose="02040502050506030303" pitchFamily="18" charset="0"/>
              </a:rPr>
              <a:t>	</a:t>
            </a:r>
            <a:r>
              <a:rPr lang="en-IN" sz="2400" i="1" dirty="0">
                <a:latin typeface="High Tower Text" panose="02040502050506030303" pitchFamily="18" charset="0"/>
              </a:rPr>
              <a:t>Lucknow's monsoon-affected roads + delayed civic repairs → 	frequent, unmarked hazards </a:t>
            </a:r>
          </a:p>
          <a:p>
            <a:r>
              <a:rPr lang="en-IN" sz="2400" i="1" dirty="0">
                <a:latin typeface="High Tower Text" panose="02040502050506030303" pitchFamily="18" charset="0"/>
              </a:rPr>
              <a:t>	Manual pothole inspection → slow, reactive, complaint- dependent </a:t>
            </a:r>
          </a:p>
          <a:p>
            <a:r>
              <a:rPr lang="en-IN" sz="2400" i="1" dirty="0">
                <a:latin typeface="High Tower Text" panose="02040502050506030303" pitchFamily="18" charset="0"/>
              </a:rPr>
              <a:t>	No real-time system exists to detect potholes and warn 	drivers in 	advance</a:t>
            </a:r>
            <a:r>
              <a:rPr lang="en-IN" sz="2000" dirty="0">
                <a:latin typeface="High Tower Text" panose="02040502050506030303" pitchFamily="18" charset="0"/>
              </a:rPr>
              <a:t> </a:t>
            </a:r>
          </a:p>
          <a:p>
            <a:endParaRPr lang="en-IN" sz="2000" dirty="0">
              <a:latin typeface="High Tower Text" panose="02040502050506030303" pitchFamily="18" charset="0"/>
            </a:endParaRPr>
          </a:p>
          <a:p>
            <a:r>
              <a:rPr lang="en-IN" sz="3600" dirty="0">
                <a:solidFill>
                  <a:schemeClr val="accent6">
                    <a:lumMod val="75000"/>
                  </a:schemeClr>
                </a:solidFill>
                <a:latin typeface="High Tower Text" panose="02040502050506030303" pitchFamily="18" charset="0"/>
              </a:rPr>
              <a:t>Need: </a:t>
            </a:r>
            <a:r>
              <a:rPr lang="en-IN" sz="2400" dirty="0">
                <a:latin typeface="High Tower Text" panose="02040502050506030303" pitchFamily="18" charset="0"/>
              </a:rPr>
              <a:t>Automated, low-cost detection + real-time driver alert system.</a:t>
            </a:r>
          </a:p>
        </p:txBody>
      </p:sp>
    </p:spTree>
    <p:extLst>
      <p:ext uri="{BB962C8B-B14F-4D97-AF65-F5344CB8AC3E}">
        <p14:creationId xmlns:p14="http://schemas.microsoft.com/office/powerpoint/2010/main" val="367599760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A3B6E-C95A-E3D6-2B39-C75195E84B2D}"/>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04856852-0AB7-6825-7A33-EFC93ED2809C}"/>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C0AF59B2-4428-F761-1820-F68398A369BA}"/>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PROPOSED SOLUTION</a:t>
              </a:r>
            </a:p>
            <a:p>
              <a:endParaRPr lang="en-US" sz="2800" b="1" dirty="0">
                <a:solidFill>
                  <a:schemeClr val="bg1"/>
                </a:solidFill>
                <a:latin typeface="Times New Roman" panose="02020603050405020304" pitchFamily="18" charset="0"/>
                <a:cs typeface="Times New Roman" panose="02020603050405020304" pitchFamily="18" charset="0"/>
              </a:endParaRP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3443951F-81EB-1824-B92D-CA70ECD7E469}"/>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9" name="point 1">
            <a:extLst>
              <a:ext uri="{FF2B5EF4-FFF2-40B4-BE49-F238E27FC236}">
                <a16:creationId xmlns:a16="http://schemas.microsoft.com/office/drawing/2014/main" id="{F1D5B9FB-A1D8-2F65-3481-35F632402571}"/>
              </a:ext>
            </a:extLst>
          </p:cNvPr>
          <p:cNvSpPr txBox="1"/>
          <p:nvPr/>
        </p:nvSpPr>
        <p:spPr>
          <a:xfrm>
            <a:off x="357789" y="108921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Real-time</a:t>
            </a:r>
            <a:r>
              <a:rPr lang="en-IN" sz="2400" dirty="0"/>
              <a:t> pothole detection using </a:t>
            </a:r>
            <a:r>
              <a:rPr lang="en-IN" sz="2400" b="1" dirty="0"/>
              <a:t>YOLOv4-Tiny</a:t>
            </a:r>
            <a:r>
              <a:rPr lang="en-IN" sz="2400" dirty="0"/>
              <a:t> (image, video, live feed) </a:t>
            </a:r>
          </a:p>
        </p:txBody>
      </p:sp>
      <p:sp>
        <p:nvSpPr>
          <p:cNvPr id="2" name="point 2">
            <a:extLst>
              <a:ext uri="{FF2B5EF4-FFF2-40B4-BE49-F238E27FC236}">
                <a16:creationId xmlns:a16="http://schemas.microsoft.com/office/drawing/2014/main" id="{C06BB8B3-526D-2D0F-DF2D-B6D594D49D5E}"/>
              </a:ext>
            </a:extLst>
          </p:cNvPr>
          <p:cNvSpPr txBox="1"/>
          <p:nvPr/>
        </p:nvSpPr>
        <p:spPr>
          <a:xfrm>
            <a:off x="357789" y="1917451"/>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Severity classification </a:t>
            </a:r>
            <a:r>
              <a:rPr lang="en-IN" sz="2400" dirty="0"/>
              <a:t>(Low/Medium/High) + GPS + timestamp logging → database </a:t>
            </a:r>
          </a:p>
        </p:txBody>
      </p:sp>
      <p:sp>
        <p:nvSpPr>
          <p:cNvPr id="3" name="point 3">
            <a:extLst>
              <a:ext uri="{FF2B5EF4-FFF2-40B4-BE49-F238E27FC236}">
                <a16:creationId xmlns:a16="http://schemas.microsoft.com/office/drawing/2014/main" id="{85E89F64-C776-0954-E5A7-69CBA2643EC9}"/>
              </a:ext>
            </a:extLst>
          </p:cNvPr>
          <p:cNvSpPr txBox="1"/>
          <p:nvPr/>
        </p:nvSpPr>
        <p:spPr>
          <a:xfrm>
            <a:off x="357789" y="2745689"/>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Live Map Dashboard</a:t>
            </a:r>
            <a:r>
              <a:rPr lang="en-IN" sz="2400" dirty="0"/>
              <a:t> (Streamlit + Folium) → tracks driver location in real time </a:t>
            </a:r>
          </a:p>
        </p:txBody>
      </p:sp>
      <p:sp>
        <p:nvSpPr>
          <p:cNvPr id="7" name="point 4">
            <a:extLst>
              <a:ext uri="{FF2B5EF4-FFF2-40B4-BE49-F238E27FC236}">
                <a16:creationId xmlns:a16="http://schemas.microsoft.com/office/drawing/2014/main" id="{62A84F5A-577E-5554-1EF3-E834EC629301}"/>
              </a:ext>
            </a:extLst>
          </p:cNvPr>
          <p:cNvSpPr txBox="1"/>
          <p:nvPr/>
        </p:nvSpPr>
        <p:spPr>
          <a:xfrm>
            <a:off x="357789" y="3573927"/>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Haversine formula</a:t>
            </a:r>
            <a:r>
              <a:rPr lang="en-IN" sz="2400" dirty="0"/>
              <a:t> → calculates driver–pothole distance, triggers alert within safety radius </a:t>
            </a:r>
          </a:p>
        </p:txBody>
      </p:sp>
      <p:sp>
        <p:nvSpPr>
          <p:cNvPr id="8" name="point 5">
            <a:extLst>
              <a:ext uri="{FF2B5EF4-FFF2-40B4-BE49-F238E27FC236}">
                <a16:creationId xmlns:a16="http://schemas.microsoft.com/office/drawing/2014/main" id="{314F6E15-1BE4-943C-0602-5A6229F31E3F}"/>
              </a:ext>
            </a:extLst>
          </p:cNvPr>
          <p:cNvSpPr txBox="1"/>
          <p:nvPr/>
        </p:nvSpPr>
        <p:spPr>
          <a:xfrm>
            <a:off x="357789" y="4402165"/>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Dual alert output </a:t>
            </a:r>
            <a:r>
              <a:rPr lang="en-IN" sz="2400" dirty="0"/>
              <a:t>→ visual warning banner + audio beep → advance driver warning</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983195"/>
      </p:ext>
    </p:extLst>
  </p:cSld>
  <p:clrMapOvr>
    <a:masterClrMapping/>
  </p:clrMapOvr>
  <mc:AlternateContent xmlns:mc="http://schemas.openxmlformats.org/markup-compatibility/2006" xmlns:p14="http://schemas.microsoft.com/office/powerpoint/2010/main">
    <mc:Choice Requires="p14">
      <p:transition spd="slow" p14:dur="1300" advTm="3000">
        <p14:pan dir="u"/>
      </p:transition>
    </mc:Choice>
    <mc:Fallback xmlns="">
      <p:transition spd="slow"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FF17F-C298-749A-9425-D2207F42E4BC}"/>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778B9976-B4A6-B0DD-BB2A-7A6507368DBB}"/>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0B270A1B-F1B8-3B1F-E612-F67DBA3A92B1}"/>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PROPOSED SOLUTION</a:t>
              </a:r>
            </a:p>
            <a:p>
              <a:endParaRPr lang="en-US" sz="2800" b="1" dirty="0">
                <a:solidFill>
                  <a:schemeClr val="bg1"/>
                </a:solidFill>
                <a:latin typeface="Times New Roman" panose="02020603050405020304" pitchFamily="18" charset="0"/>
                <a:cs typeface="Times New Roman" panose="02020603050405020304" pitchFamily="18" charset="0"/>
              </a:endParaRP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965CF310-6B52-2EC2-B30A-F3CB4FAB9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9" name="point 1">
            <a:extLst>
              <a:ext uri="{FF2B5EF4-FFF2-40B4-BE49-F238E27FC236}">
                <a16:creationId xmlns:a16="http://schemas.microsoft.com/office/drawing/2014/main" id="{631684C4-7C5E-A842-7DFA-3D4CCE1CCF8E}"/>
              </a:ext>
            </a:extLst>
          </p:cNvPr>
          <p:cNvSpPr txBox="1"/>
          <p:nvPr/>
        </p:nvSpPr>
        <p:spPr>
          <a:xfrm>
            <a:off x="357789" y="108921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Real-time</a:t>
            </a:r>
            <a:r>
              <a:rPr lang="en-IN" sz="2400" dirty="0"/>
              <a:t> pothole detection using </a:t>
            </a:r>
            <a:r>
              <a:rPr lang="en-IN" sz="2400" b="1" dirty="0"/>
              <a:t>YOLOv4-Tiny</a:t>
            </a:r>
            <a:r>
              <a:rPr lang="en-IN" sz="2400" dirty="0"/>
              <a:t> (image, video, live feed) </a:t>
            </a:r>
          </a:p>
        </p:txBody>
      </p:sp>
      <p:sp>
        <p:nvSpPr>
          <p:cNvPr id="2" name="point 2">
            <a:extLst>
              <a:ext uri="{FF2B5EF4-FFF2-40B4-BE49-F238E27FC236}">
                <a16:creationId xmlns:a16="http://schemas.microsoft.com/office/drawing/2014/main" id="{99E264F4-F5A0-85D2-0CC0-E4B06D7368D7}"/>
              </a:ext>
            </a:extLst>
          </p:cNvPr>
          <p:cNvSpPr txBox="1"/>
          <p:nvPr/>
        </p:nvSpPr>
        <p:spPr>
          <a:xfrm>
            <a:off x="357789" y="5759450"/>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Severity classification </a:t>
            </a:r>
            <a:r>
              <a:rPr lang="en-IN" sz="2400" dirty="0"/>
              <a:t>(Low/Medium/High) + GPS + timestamp logging → database </a:t>
            </a:r>
          </a:p>
        </p:txBody>
      </p:sp>
      <p:sp>
        <p:nvSpPr>
          <p:cNvPr id="3" name="point 3">
            <a:extLst>
              <a:ext uri="{FF2B5EF4-FFF2-40B4-BE49-F238E27FC236}">
                <a16:creationId xmlns:a16="http://schemas.microsoft.com/office/drawing/2014/main" id="{887A4D72-BF08-75B2-30C7-55F5D1F65ACD}"/>
              </a:ext>
            </a:extLst>
          </p:cNvPr>
          <p:cNvSpPr txBox="1"/>
          <p:nvPr/>
        </p:nvSpPr>
        <p:spPr>
          <a:xfrm>
            <a:off x="357789" y="7297309"/>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Live Map Dashboard</a:t>
            </a:r>
            <a:r>
              <a:rPr lang="en-IN" sz="2400" dirty="0"/>
              <a:t> (Streamlit + Folium) → tracks driver location in real time </a:t>
            </a:r>
          </a:p>
        </p:txBody>
      </p:sp>
      <p:sp>
        <p:nvSpPr>
          <p:cNvPr id="7" name="point 4">
            <a:extLst>
              <a:ext uri="{FF2B5EF4-FFF2-40B4-BE49-F238E27FC236}">
                <a16:creationId xmlns:a16="http://schemas.microsoft.com/office/drawing/2014/main" id="{A7B9BDA4-8BA6-B566-9C5C-F8E3ECAEBC4C}"/>
              </a:ext>
            </a:extLst>
          </p:cNvPr>
          <p:cNvSpPr txBox="1"/>
          <p:nvPr/>
        </p:nvSpPr>
        <p:spPr>
          <a:xfrm>
            <a:off x="357789" y="9598690"/>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Haversine formula</a:t>
            </a:r>
            <a:r>
              <a:rPr lang="en-IN" sz="2400" dirty="0"/>
              <a:t> → calculates driver–pothole distance, triggers alert within safety radius </a:t>
            </a:r>
          </a:p>
        </p:txBody>
      </p:sp>
      <p:sp>
        <p:nvSpPr>
          <p:cNvPr id="8" name="point 5">
            <a:extLst>
              <a:ext uri="{FF2B5EF4-FFF2-40B4-BE49-F238E27FC236}">
                <a16:creationId xmlns:a16="http://schemas.microsoft.com/office/drawing/2014/main" id="{9A1E4288-4A77-0801-07F8-D061409AE091}"/>
              </a:ext>
            </a:extLst>
          </p:cNvPr>
          <p:cNvSpPr txBox="1"/>
          <p:nvPr/>
        </p:nvSpPr>
        <p:spPr>
          <a:xfrm>
            <a:off x="357789" y="11484572"/>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Dual alert output </a:t>
            </a:r>
            <a:r>
              <a:rPr lang="en-IN" sz="2400" dirty="0"/>
              <a:t>→ visual warning banner + audio beep → advance driver warning</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768919A5-0705-3BAB-5616-66F0E6CD8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3385" y="1958128"/>
            <a:ext cx="4454769" cy="3019749"/>
          </a:xfrm>
          <a:prstGeom prst="rect">
            <a:avLst/>
          </a:prstGeom>
        </p:spPr>
      </p:pic>
      <p:pic>
        <p:nvPicPr>
          <p:cNvPr id="11" name="Picture 10">
            <a:extLst>
              <a:ext uri="{FF2B5EF4-FFF2-40B4-BE49-F238E27FC236}">
                <a16:creationId xmlns:a16="http://schemas.microsoft.com/office/drawing/2014/main" id="{DDEFDD86-FD08-72C9-2956-21DBF207E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2384" y="2443640"/>
            <a:ext cx="4454769" cy="2954329"/>
          </a:xfrm>
          <a:prstGeom prst="rect">
            <a:avLst/>
          </a:prstGeom>
        </p:spPr>
      </p:pic>
    </p:spTree>
    <p:extLst>
      <p:ext uri="{BB962C8B-B14F-4D97-AF65-F5344CB8AC3E}">
        <p14:creationId xmlns:p14="http://schemas.microsoft.com/office/powerpoint/2010/main" val="2067083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0-#ppt_w/2"/>
                                          </p:val>
                                        </p:tav>
                                        <p:tav tm="100000">
                                          <p:val>
                                            <p:strVal val="#ppt_x"/>
                                          </p:val>
                                        </p:tav>
                                      </p:tavLst>
                                    </p:anim>
                                    <p:anim calcmode="lin" valueType="num">
                                      <p:cBhvr additive="base">
                                        <p:cTn id="8" dur="75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4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0-#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childTnLst>
                          </p:cTn>
                        </p:par>
                        <p:par>
                          <p:cTn id="13" fill="hold">
                            <p:stCondLst>
                              <p:cond delay="1150"/>
                            </p:stCondLst>
                            <p:childTnLst>
                              <p:par>
                                <p:cTn id="14" presetID="2" presetClass="exit" presetSubtype="2" fill="hold" nodeType="afterEffect">
                                  <p:stCondLst>
                                    <p:cond delay="2500"/>
                                  </p:stCondLst>
                                  <p:childTnLst>
                                    <p:anim calcmode="lin" valueType="num">
                                      <p:cBhvr additive="base">
                                        <p:cTn id="15" dur="450"/>
                                        <p:tgtEl>
                                          <p:spTgt spid="11"/>
                                        </p:tgtEl>
                                        <p:attrNameLst>
                                          <p:attrName>ppt_x</p:attrName>
                                        </p:attrNameLst>
                                      </p:cBhvr>
                                      <p:tavLst>
                                        <p:tav tm="0">
                                          <p:val>
                                            <p:strVal val="ppt_x"/>
                                          </p:val>
                                        </p:tav>
                                        <p:tav tm="100000">
                                          <p:val>
                                            <p:strVal val="1+ppt_w/2"/>
                                          </p:val>
                                        </p:tav>
                                      </p:tavLst>
                                    </p:anim>
                                    <p:anim calcmode="lin" valueType="num">
                                      <p:cBhvr additive="base">
                                        <p:cTn id="16" dur="450"/>
                                        <p:tgtEl>
                                          <p:spTgt spid="11"/>
                                        </p:tgtEl>
                                        <p:attrNameLst>
                                          <p:attrName>ppt_y</p:attrName>
                                        </p:attrNameLst>
                                      </p:cBhvr>
                                      <p:tavLst>
                                        <p:tav tm="0">
                                          <p:val>
                                            <p:strVal val="ppt_y"/>
                                          </p:val>
                                        </p:tav>
                                        <p:tav tm="100000">
                                          <p:val>
                                            <p:strVal val="ppt_y"/>
                                          </p:val>
                                        </p:tav>
                                      </p:tavLst>
                                    </p:anim>
                                    <p:set>
                                      <p:cBhvr>
                                        <p:cTn id="17" dur="1" fill="hold">
                                          <p:stCondLst>
                                            <p:cond delay="449"/>
                                          </p:stCondLst>
                                        </p:cTn>
                                        <p:tgtEl>
                                          <p:spTgt spid="11"/>
                                        </p:tgtEl>
                                        <p:attrNameLst>
                                          <p:attrName>style.visibility</p:attrName>
                                        </p:attrNameLst>
                                      </p:cBhvr>
                                      <p:to>
                                        <p:strVal val="hidden"/>
                                      </p:to>
                                    </p:set>
                                  </p:childTnLst>
                                </p:cTn>
                              </p:par>
                            </p:childTnLst>
                          </p:cTn>
                        </p:par>
                        <p:par>
                          <p:cTn id="18" fill="hold">
                            <p:stCondLst>
                              <p:cond delay="4100"/>
                            </p:stCondLst>
                            <p:childTnLst>
                              <p:par>
                                <p:cTn id="19" presetID="2" presetClass="exit" presetSubtype="2" fill="hold" nodeType="afterEffect">
                                  <p:stCondLst>
                                    <p:cond delay="1250"/>
                                  </p:stCondLst>
                                  <p:childTnLst>
                                    <p:anim calcmode="lin" valueType="num">
                                      <p:cBhvr additive="base">
                                        <p:cTn id="20" dur="1000"/>
                                        <p:tgtEl>
                                          <p:spTgt spid="13"/>
                                        </p:tgtEl>
                                        <p:attrNameLst>
                                          <p:attrName>ppt_x</p:attrName>
                                        </p:attrNameLst>
                                      </p:cBhvr>
                                      <p:tavLst>
                                        <p:tav tm="0">
                                          <p:val>
                                            <p:strVal val="ppt_x"/>
                                          </p:val>
                                        </p:tav>
                                        <p:tav tm="100000">
                                          <p:val>
                                            <p:strVal val="1+ppt_w/2"/>
                                          </p:val>
                                        </p:tav>
                                      </p:tavLst>
                                    </p:anim>
                                    <p:anim calcmode="lin" valueType="num">
                                      <p:cBhvr additive="base">
                                        <p:cTn id="21" dur="1000"/>
                                        <p:tgtEl>
                                          <p:spTgt spid="13"/>
                                        </p:tgtEl>
                                        <p:attrNameLst>
                                          <p:attrName>ppt_y</p:attrName>
                                        </p:attrNameLst>
                                      </p:cBhvr>
                                      <p:tavLst>
                                        <p:tav tm="0">
                                          <p:val>
                                            <p:strVal val="ppt_y"/>
                                          </p:val>
                                        </p:tav>
                                        <p:tav tm="100000">
                                          <p:val>
                                            <p:strVal val="ppt_y"/>
                                          </p:val>
                                        </p:tav>
                                      </p:tavLst>
                                    </p:anim>
                                    <p:set>
                                      <p:cBhvr>
                                        <p:cTn id="22" dur="1" fill="hold">
                                          <p:stCondLst>
                                            <p:cond delay="9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DF25-493C-637A-7517-04E70C31B57E}"/>
            </a:ext>
          </a:extLst>
        </p:cNvPr>
        <p:cNvGrpSpPr/>
        <p:nvPr/>
      </p:nvGrpSpPr>
      <p:grpSpPr>
        <a:xfrm>
          <a:off x="0" y="0"/>
          <a:ext cx="0" cy="0"/>
          <a:chOff x="0" y="0"/>
          <a:chExt cx="0" cy="0"/>
        </a:xfrm>
      </p:grpSpPr>
      <p:pic>
        <p:nvPicPr>
          <p:cNvPr id="15" name="map">
            <a:extLst>
              <a:ext uri="{FF2B5EF4-FFF2-40B4-BE49-F238E27FC236}">
                <a16:creationId xmlns:a16="http://schemas.microsoft.com/office/drawing/2014/main" id="{51996590-84EF-F56A-E27A-7C49C654A1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0303" y="2793533"/>
            <a:ext cx="4565701" cy="2587726"/>
          </a:xfrm>
          <a:prstGeom prst="rect">
            <a:avLst/>
          </a:prstGeom>
        </p:spPr>
      </p:pic>
      <p:grpSp>
        <p:nvGrpSpPr>
          <p:cNvPr id="4" name="Group 28">
            <a:extLst>
              <a:ext uri="{FF2B5EF4-FFF2-40B4-BE49-F238E27FC236}">
                <a16:creationId xmlns:a16="http://schemas.microsoft.com/office/drawing/2014/main" id="{B0419515-E329-300F-D667-4F3EE3B9EF1D}"/>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ED2FC4ED-A8E4-DE89-9FDC-E57B2016E2D0}"/>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PROPOSED SOLUTION</a:t>
              </a:r>
            </a:p>
            <a:p>
              <a:endParaRPr lang="en-US" sz="2800" b="1" dirty="0">
                <a:solidFill>
                  <a:schemeClr val="bg1"/>
                </a:solidFill>
                <a:latin typeface="Times New Roman" panose="02020603050405020304" pitchFamily="18" charset="0"/>
                <a:cs typeface="Times New Roman" panose="02020603050405020304" pitchFamily="18" charset="0"/>
              </a:endParaRP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090D1D23-73A6-019A-AB86-606A7FA070BA}"/>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2" name="point 2">
            <a:extLst>
              <a:ext uri="{FF2B5EF4-FFF2-40B4-BE49-F238E27FC236}">
                <a16:creationId xmlns:a16="http://schemas.microsoft.com/office/drawing/2014/main" id="{E80418D3-C813-DB7A-D19F-4D9ED8187BC6}"/>
              </a:ext>
            </a:extLst>
          </p:cNvPr>
          <p:cNvSpPr txBox="1"/>
          <p:nvPr/>
        </p:nvSpPr>
        <p:spPr>
          <a:xfrm>
            <a:off x="357789" y="907651"/>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Severity classification </a:t>
            </a:r>
            <a:r>
              <a:rPr lang="en-IN" sz="2400" dirty="0"/>
              <a:t>(Low/Medium/High) + GPS + timestamp logging → database </a:t>
            </a:r>
          </a:p>
        </p:txBody>
      </p:sp>
      <p:sp>
        <p:nvSpPr>
          <p:cNvPr id="3" name="point 3">
            <a:extLst>
              <a:ext uri="{FF2B5EF4-FFF2-40B4-BE49-F238E27FC236}">
                <a16:creationId xmlns:a16="http://schemas.microsoft.com/office/drawing/2014/main" id="{D95ACE28-17D8-FD02-EEDD-B8F2290C6A73}"/>
              </a:ext>
            </a:extLst>
          </p:cNvPr>
          <p:cNvSpPr txBox="1"/>
          <p:nvPr/>
        </p:nvSpPr>
        <p:spPr>
          <a:xfrm>
            <a:off x="357789" y="7297309"/>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Live Map Dashboard</a:t>
            </a:r>
            <a:r>
              <a:rPr lang="en-IN" sz="2400" dirty="0"/>
              <a:t> (Streamlit + Folium) → tracks driver location in real time </a:t>
            </a:r>
          </a:p>
        </p:txBody>
      </p:sp>
      <p:sp>
        <p:nvSpPr>
          <p:cNvPr id="7" name="point 4">
            <a:extLst>
              <a:ext uri="{FF2B5EF4-FFF2-40B4-BE49-F238E27FC236}">
                <a16:creationId xmlns:a16="http://schemas.microsoft.com/office/drawing/2014/main" id="{07D0964C-826C-3039-FB4F-32ABE0EF43D9}"/>
              </a:ext>
            </a:extLst>
          </p:cNvPr>
          <p:cNvSpPr txBox="1"/>
          <p:nvPr/>
        </p:nvSpPr>
        <p:spPr>
          <a:xfrm>
            <a:off x="357789" y="9598690"/>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Haversine formula</a:t>
            </a:r>
            <a:r>
              <a:rPr lang="en-IN" sz="2400" dirty="0"/>
              <a:t> → calculates driver–pothole distance, triggers alert within safety radius </a:t>
            </a:r>
          </a:p>
        </p:txBody>
      </p:sp>
      <p:sp>
        <p:nvSpPr>
          <p:cNvPr id="8" name="point 5">
            <a:extLst>
              <a:ext uri="{FF2B5EF4-FFF2-40B4-BE49-F238E27FC236}">
                <a16:creationId xmlns:a16="http://schemas.microsoft.com/office/drawing/2014/main" id="{15FE682D-27D5-25C9-A223-A4075291EE36}"/>
              </a:ext>
            </a:extLst>
          </p:cNvPr>
          <p:cNvSpPr txBox="1"/>
          <p:nvPr/>
        </p:nvSpPr>
        <p:spPr>
          <a:xfrm>
            <a:off x="357789" y="11484572"/>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Dual alert output </a:t>
            </a:r>
            <a:r>
              <a:rPr lang="en-IN" sz="2400" dirty="0"/>
              <a:t>→ visual warning banner + audio beep → advance driver warning</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point 1">
            <a:extLst>
              <a:ext uri="{FF2B5EF4-FFF2-40B4-BE49-F238E27FC236}">
                <a16:creationId xmlns:a16="http://schemas.microsoft.com/office/drawing/2014/main" id="{EF7D438A-1BA6-C989-7F7D-A6150C901E31}"/>
              </a:ext>
            </a:extLst>
          </p:cNvPr>
          <p:cNvSpPr txBox="1"/>
          <p:nvPr/>
        </p:nvSpPr>
        <p:spPr>
          <a:xfrm>
            <a:off x="10838220"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Real-time</a:t>
            </a:r>
            <a:r>
              <a:rPr lang="en-IN" sz="2400" dirty="0"/>
              <a:t> pothole detection using </a:t>
            </a:r>
            <a:r>
              <a:rPr lang="en-IN" sz="2400" b="1" dirty="0"/>
              <a:t>YOLOv4-Tiny</a:t>
            </a:r>
            <a:r>
              <a:rPr lang="en-IN" sz="2400" dirty="0"/>
              <a:t> (image, video, live feed) </a:t>
            </a:r>
          </a:p>
        </p:txBody>
      </p:sp>
      <p:pic>
        <p:nvPicPr>
          <p:cNvPr id="12" name="timestamp">
            <a:extLst>
              <a:ext uri="{FF2B5EF4-FFF2-40B4-BE49-F238E27FC236}">
                <a16:creationId xmlns:a16="http://schemas.microsoft.com/office/drawing/2014/main" id="{986DAB66-4189-7BDA-4424-1762DC551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933" y="1994844"/>
            <a:ext cx="4467518" cy="2921919"/>
          </a:xfrm>
          <a:prstGeom prst="rect">
            <a:avLst/>
          </a:prstGeom>
        </p:spPr>
      </p:pic>
    </p:spTree>
    <p:extLst>
      <p:ext uri="{BB962C8B-B14F-4D97-AF65-F5344CB8AC3E}">
        <p14:creationId xmlns:p14="http://schemas.microsoft.com/office/powerpoint/2010/main" val="3380499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000">
        <p159:morph option="byObject"/>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0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0-#ppt_w/2"/>
                                          </p:val>
                                        </p:tav>
                                        <p:tav tm="100000">
                                          <p:val>
                                            <p:strVal val="#ppt_x"/>
                                          </p:val>
                                        </p:tav>
                                      </p:tavLst>
                                    </p:anim>
                                    <p:anim calcmode="lin" valueType="num">
                                      <p:cBhvr additive="base">
                                        <p:cTn id="8" dur="75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4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0-#ppt_w/2"/>
                                          </p:val>
                                        </p:tav>
                                        <p:tav tm="100000">
                                          <p:val>
                                            <p:strVal val="#ppt_x"/>
                                          </p:val>
                                        </p:tav>
                                      </p:tavLst>
                                    </p:anim>
                                    <p:anim calcmode="lin" valueType="num">
                                      <p:cBhvr additive="base">
                                        <p:cTn id="12" dur="75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5CBB-91F1-3870-C7AB-443044283156}"/>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370E2EBC-E94B-ACC5-B0AC-78816BC60F7A}"/>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8FDBAC52-EACD-1E87-DD42-4FE5F58DD40C}"/>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PROPOSED SOLUTION</a:t>
              </a:r>
            </a:p>
            <a:p>
              <a:endParaRPr lang="en-US" sz="2800" b="1" dirty="0">
                <a:solidFill>
                  <a:schemeClr val="bg1"/>
                </a:solidFill>
                <a:latin typeface="Times New Roman" panose="02020603050405020304" pitchFamily="18" charset="0"/>
                <a:cs typeface="Times New Roman" panose="02020603050405020304" pitchFamily="18" charset="0"/>
              </a:endParaRP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344D44E5-10F1-A230-9F40-2D1825942052}"/>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2" name="point 2">
            <a:extLst>
              <a:ext uri="{FF2B5EF4-FFF2-40B4-BE49-F238E27FC236}">
                <a16:creationId xmlns:a16="http://schemas.microsoft.com/office/drawing/2014/main" id="{A31B5DF7-F5FA-6B72-47D9-4094D3A47763}"/>
              </a:ext>
            </a:extLst>
          </p:cNvPr>
          <p:cNvSpPr txBox="1"/>
          <p:nvPr/>
        </p:nvSpPr>
        <p:spPr>
          <a:xfrm>
            <a:off x="357789" y="907651"/>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Severity classification </a:t>
            </a:r>
            <a:r>
              <a:rPr lang="en-IN" sz="2400" dirty="0"/>
              <a:t>(Low/Medium/High) + GPS + timestamp logging → database </a:t>
            </a:r>
          </a:p>
        </p:txBody>
      </p:sp>
      <p:sp>
        <p:nvSpPr>
          <p:cNvPr id="3" name="point 3">
            <a:extLst>
              <a:ext uri="{FF2B5EF4-FFF2-40B4-BE49-F238E27FC236}">
                <a16:creationId xmlns:a16="http://schemas.microsoft.com/office/drawing/2014/main" id="{20A7BACB-4B5B-2D1F-8820-C8E0FE233761}"/>
              </a:ext>
            </a:extLst>
          </p:cNvPr>
          <p:cNvSpPr txBox="1"/>
          <p:nvPr/>
        </p:nvSpPr>
        <p:spPr>
          <a:xfrm>
            <a:off x="357789" y="7297309"/>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Live Map Dashboard</a:t>
            </a:r>
            <a:r>
              <a:rPr lang="en-IN" sz="2400" dirty="0"/>
              <a:t> (Streamlit + Folium) → tracks driver location in real time </a:t>
            </a:r>
          </a:p>
        </p:txBody>
      </p:sp>
      <p:sp>
        <p:nvSpPr>
          <p:cNvPr id="7" name="point 4">
            <a:extLst>
              <a:ext uri="{FF2B5EF4-FFF2-40B4-BE49-F238E27FC236}">
                <a16:creationId xmlns:a16="http://schemas.microsoft.com/office/drawing/2014/main" id="{11306D99-B02B-D163-DFD5-B3F5BB1259AA}"/>
              </a:ext>
            </a:extLst>
          </p:cNvPr>
          <p:cNvSpPr txBox="1"/>
          <p:nvPr/>
        </p:nvSpPr>
        <p:spPr>
          <a:xfrm>
            <a:off x="357789" y="9598690"/>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Haversine formula</a:t>
            </a:r>
            <a:r>
              <a:rPr lang="en-IN" sz="2400" dirty="0"/>
              <a:t> → calculates driver–pothole distance, triggers alert within safety radius </a:t>
            </a:r>
          </a:p>
        </p:txBody>
      </p:sp>
      <p:sp>
        <p:nvSpPr>
          <p:cNvPr id="8" name="point 5">
            <a:extLst>
              <a:ext uri="{FF2B5EF4-FFF2-40B4-BE49-F238E27FC236}">
                <a16:creationId xmlns:a16="http://schemas.microsoft.com/office/drawing/2014/main" id="{1C081B66-15BF-CA25-2FFE-E6A6C725C161}"/>
              </a:ext>
            </a:extLst>
          </p:cNvPr>
          <p:cNvSpPr txBox="1"/>
          <p:nvPr/>
        </p:nvSpPr>
        <p:spPr>
          <a:xfrm>
            <a:off x="357789" y="11484572"/>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Dual alert output </a:t>
            </a:r>
            <a:r>
              <a:rPr lang="en-IN" sz="2400" dirty="0"/>
              <a:t>→ visual warning banner + audio beep → advance driver warning</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point 1">
            <a:extLst>
              <a:ext uri="{FF2B5EF4-FFF2-40B4-BE49-F238E27FC236}">
                <a16:creationId xmlns:a16="http://schemas.microsoft.com/office/drawing/2014/main" id="{D1C753D1-9ABE-006A-D793-4C0F16052522}"/>
              </a:ext>
            </a:extLst>
          </p:cNvPr>
          <p:cNvSpPr txBox="1"/>
          <p:nvPr/>
        </p:nvSpPr>
        <p:spPr>
          <a:xfrm>
            <a:off x="10838220"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Real-time</a:t>
            </a:r>
            <a:r>
              <a:rPr lang="en-IN" sz="2400" dirty="0"/>
              <a:t> pothole detection using </a:t>
            </a:r>
            <a:r>
              <a:rPr lang="en-IN" sz="2400" b="1" dirty="0"/>
              <a:t>YOLOv4-Tiny</a:t>
            </a:r>
            <a:r>
              <a:rPr lang="en-IN" sz="2400" dirty="0"/>
              <a:t> (image, video, live feed) </a:t>
            </a:r>
          </a:p>
        </p:txBody>
      </p:sp>
      <p:pic>
        <p:nvPicPr>
          <p:cNvPr id="12" name="timestamp">
            <a:extLst>
              <a:ext uri="{FF2B5EF4-FFF2-40B4-BE49-F238E27FC236}">
                <a16:creationId xmlns:a16="http://schemas.microsoft.com/office/drawing/2014/main" id="{B93F2F25-74B7-679B-3A67-1A2829BC41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3206" y="1507470"/>
            <a:ext cx="4708543" cy="3079558"/>
          </a:xfrm>
          <a:prstGeom prst="roundRect">
            <a:avLst>
              <a:gd name="adj" fmla="val 8419"/>
            </a:avLst>
          </a:prstGeom>
        </p:spPr>
      </p:pic>
      <p:pic>
        <p:nvPicPr>
          <p:cNvPr id="15" name="map">
            <a:extLst>
              <a:ext uri="{FF2B5EF4-FFF2-40B4-BE49-F238E27FC236}">
                <a16:creationId xmlns:a16="http://schemas.microsoft.com/office/drawing/2014/main" id="{BC0FB93E-3556-7E9B-AE12-8978B8549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693" y="2879725"/>
            <a:ext cx="4537633" cy="2571818"/>
          </a:xfrm>
          <a:prstGeom prst="roundRect">
            <a:avLst>
              <a:gd name="adj" fmla="val 11648"/>
            </a:avLst>
          </a:prstGeom>
        </p:spPr>
      </p:pic>
    </p:spTree>
    <p:extLst>
      <p:ext uri="{BB962C8B-B14F-4D97-AF65-F5344CB8AC3E}">
        <p14:creationId xmlns:p14="http://schemas.microsoft.com/office/powerpoint/2010/main" val="4055354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000">
        <p159:morph option="byObject"/>
      </p:transition>
    </mc:Choice>
    <mc:Fallback xmlns="">
      <p:transition spd="slow" advTm="4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F3D8-AF7D-D0BB-F13E-4F15218C6DE3}"/>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3D048777-0C77-432C-4A01-118FB8FA8DF0}"/>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EA3D9436-DA71-1338-542D-D4F31C23EE62}"/>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PROPOSED SOLUTION</a:t>
              </a:r>
            </a:p>
            <a:p>
              <a:endParaRPr lang="en-US" sz="2800" b="1" dirty="0">
                <a:solidFill>
                  <a:schemeClr val="bg1"/>
                </a:solidFill>
                <a:latin typeface="Times New Roman" panose="02020603050405020304" pitchFamily="18" charset="0"/>
                <a:cs typeface="Times New Roman" panose="02020603050405020304" pitchFamily="18" charset="0"/>
              </a:endParaRP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0A1DAE49-7A96-BFC5-3234-ADC9B191EC91}"/>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2" name="point 2">
            <a:extLst>
              <a:ext uri="{FF2B5EF4-FFF2-40B4-BE49-F238E27FC236}">
                <a16:creationId xmlns:a16="http://schemas.microsoft.com/office/drawing/2014/main" id="{24FA82F4-0261-6377-EBAF-DE975430319E}"/>
              </a:ext>
            </a:extLst>
          </p:cNvPr>
          <p:cNvSpPr txBox="1"/>
          <p:nvPr/>
        </p:nvSpPr>
        <p:spPr>
          <a:xfrm>
            <a:off x="357789" y="907651"/>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Severity classification </a:t>
            </a:r>
            <a:r>
              <a:rPr lang="en-IN" sz="2400" dirty="0"/>
              <a:t>(Low/Medium/High) + GPS + timestamp logging → database </a:t>
            </a:r>
          </a:p>
        </p:txBody>
      </p:sp>
      <p:sp>
        <p:nvSpPr>
          <p:cNvPr id="3" name="point 3">
            <a:extLst>
              <a:ext uri="{FF2B5EF4-FFF2-40B4-BE49-F238E27FC236}">
                <a16:creationId xmlns:a16="http://schemas.microsoft.com/office/drawing/2014/main" id="{EEB52515-5B32-4D52-CF63-A8CC9DE93CAF}"/>
              </a:ext>
            </a:extLst>
          </p:cNvPr>
          <p:cNvSpPr txBox="1"/>
          <p:nvPr/>
        </p:nvSpPr>
        <p:spPr>
          <a:xfrm>
            <a:off x="357789" y="7297309"/>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Live Map Dashboard</a:t>
            </a:r>
            <a:r>
              <a:rPr lang="en-IN" sz="2400" dirty="0"/>
              <a:t> (Streamlit + Folium) → tracks driver location in real time </a:t>
            </a:r>
          </a:p>
        </p:txBody>
      </p:sp>
      <p:sp>
        <p:nvSpPr>
          <p:cNvPr id="7" name="point 4">
            <a:extLst>
              <a:ext uri="{FF2B5EF4-FFF2-40B4-BE49-F238E27FC236}">
                <a16:creationId xmlns:a16="http://schemas.microsoft.com/office/drawing/2014/main" id="{25051FAA-9986-71CE-7674-E9291CEB8014}"/>
              </a:ext>
            </a:extLst>
          </p:cNvPr>
          <p:cNvSpPr txBox="1"/>
          <p:nvPr/>
        </p:nvSpPr>
        <p:spPr>
          <a:xfrm>
            <a:off x="357789" y="9598690"/>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Haversine formula</a:t>
            </a:r>
            <a:r>
              <a:rPr lang="en-IN" sz="2400" dirty="0"/>
              <a:t> → calculates driver–pothole distance, triggers alert within safety radius </a:t>
            </a:r>
          </a:p>
        </p:txBody>
      </p:sp>
      <p:sp>
        <p:nvSpPr>
          <p:cNvPr id="8" name="point 5">
            <a:extLst>
              <a:ext uri="{FF2B5EF4-FFF2-40B4-BE49-F238E27FC236}">
                <a16:creationId xmlns:a16="http://schemas.microsoft.com/office/drawing/2014/main" id="{F70DD23C-B4DB-41D6-62E2-EF36FA3003B2}"/>
              </a:ext>
            </a:extLst>
          </p:cNvPr>
          <p:cNvSpPr txBox="1"/>
          <p:nvPr/>
        </p:nvSpPr>
        <p:spPr>
          <a:xfrm>
            <a:off x="357789" y="11484572"/>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Dual alert output </a:t>
            </a:r>
            <a:r>
              <a:rPr lang="en-IN" sz="2400" dirty="0"/>
              <a:t>→ visual warning banner + audio beep → advance driver warning</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point 1">
            <a:extLst>
              <a:ext uri="{FF2B5EF4-FFF2-40B4-BE49-F238E27FC236}">
                <a16:creationId xmlns:a16="http://schemas.microsoft.com/office/drawing/2014/main" id="{16CDAD11-2214-A2A0-94A7-905E9D03BD73}"/>
              </a:ext>
            </a:extLst>
          </p:cNvPr>
          <p:cNvSpPr txBox="1"/>
          <p:nvPr/>
        </p:nvSpPr>
        <p:spPr>
          <a:xfrm>
            <a:off x="10838220"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Real-time</a:t>
            </a:r>
            <a:r>
              <a:rPr lang="en-IN" sz="2400" dirty="0"/>
              <a:t> pothole detection using </a:t>
            </a:r>
            <a:r>
              <a:rPr lang="en-IN" sz="2400" b="1" dirty="0"/>
              <a:t>YOLOv4-Tiny</a:t>
            </a:r>
            <a:r>
              <a:rPr lang="en-IN" sz="2400" dirty="0"/>
              <a:t> (image, video, live feed) </a:t>
            </a:r>
          </a:p>
        </p:txBody>
      </p:sp>
      <p:pic>
        <p:nvPicPr>
          <p:cNvPr id="12" name="timestamp">
            <a:extLst>
              <a:ext uri="{FF2B5EF4-FFF2-40B4-BE49-F238E27FC236}">
                <a16:creationId xmlns:a16="http://schemas.microsoft.com/office/drawing/2014/main" id="{DD77B044-2677-F0D3-FC03-0761416041BF}"/>
              </a:ext>
            </a:extLst>
          </p:cNvPr>
          <p:cNvPicPr>
            <a:picLocks noChangeAspect="1"/>
          </p:cNvPicPr>
          <p:nvPr/>
        </p:nvPicPr>
        <p:blipFill>
          <a:blip r:embed="rId2">
            <a:extLst>
              <a:ext uri="{28A0092B-C50C-407E-A947-70E740481C1C}">
                <a14:useLocalDpi xmlns:a14="http://schemas.microsoft.com/office/drawing/2010/main" val="0"/>
              </a:ext>
            </a:extLst>
          </a:blip>
          <a:srcRect b="61523"/>
          <a:stretch>
            <a:fillRect/>
          </a:stretch>
        </p:blipFill>
        <p:spPr>
          <a:xfrm>
            <a:off x="156083" y="2793533"/>
            <a:ext cx="8687371" cy="2186226"/>
          </a:xfrm>
          <a:prstGeom prst="roundRect">
            <a:avLst>
              <a:gd name="adj" fmla="val 4845"/>
            </a:avLst>
          </a:prstGeom>
        </p:spPr>
      </p:pic>
      <p:pic>
        <p:nvPicPr>
          <p:cNvPr id="11" name="map">
            <a:extLst>
              <a:ext uri="{FF2B5EF4-FFF2-40B4-BE49-F238E27FC236}">
                <a16:creationId xmlns:a16="http://schemas.microsoft.com/office/drawing/2014/main" id="{A5180CDC-34F3-21A2-A965-4FC2B0F7A188}"/>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10412728" y="1738648"/>
            <a:ext cx="6826877" cy="3869305"/>
          </a:xfrm>
          <a:prstGeom prst="rect">
            <a:avLst/>
          </a:prstGeom>
        </p:spPr>
      </p:pic>
    </p:spTree>
    <p:extLst>
      <p:ext uri="{BB962C8B-B14F-4D97-AF65-F5344CB8AC3E}">
        <p14:creationId xmlns:p14="http://schemas.microsoft.com/office/powerpoint/2010/main" val="3348367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D5CCF-4B29-D621-6949-C24C4FB87802}"/>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6016B4C9-79EE-A209-9CC4-B7C29FD39573}"/>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7C95B115-3BBF-49C7-6192-F5E90BA05B9D}"/>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PROPOSED SOLUTION</a:t>
              </a:r>
            </a:p>
            <a:p>
              <a:endParaRPr lang="en-US" sz="2800" b="1" dirty="0">
                <a:solidFill>
                  <a:schemeClr val="bg1"/>
                </a:solidFill>
                <a:latin typeface="Times New Roman" panose="02020603050405020304" pitchFamily="18" charset="0"/>
                <a:cs typeface="Times New Roman" panose="02020603050405020304" pitchFamily="18" charset="0"/>
              </a:endParaRP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70E25D25-2640-F808-655B-EB948B65886F}"/>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2" name="point 2">
            <a:extLst>
              <a:ext uri="{FF2B5EF4-FFF2-40B4-BE49-F238E27FC236}">
                <a16:creationId xmlns:a16="http://schemas.microsoft.com/office/drawing/2014/main" id="{BF15FF19-93DB-5BA7-B89D-412BCD1BC878}"/>
              </a:ext>
            </a:extLst>
          </p:cNvPr>
          <p:cNvSpPr txBox="1"/>
          <p:nvPr/>
        </p:nvSpPr>
        <p:spPr>
          <a:xfrm>
            <a:off x="10602067"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Severity classification </a:t>
            </a:r>
            <a:r>
              <a:rPr lang="en-IN" sz="2400" dirty="0"/>
              <a:t>(Low/Medium/High) + GPS + timestamp logging → database </a:t>
            </a:r>
          </a:p>
        </p:txBody>
      </p:sp>
      <p:sp>
        <p:nvSpPr>
          <p:cNvPr id="3" name="point 3">
            <a:extLst>
              <a:ext uri="{FF2B5EF4-FFF2-40B4-BE49-F238E27FC236}">
                <a16:creationId xmlns:a16="http://schemas.microsoft.com/office/drawing/2014/main" id="{CD681D58-DEB5-90F0-65D8-60962C592951}"/>
              </a:ext>
            </a:extLst>
          </p:cNvPr>
          <p:cNvSpPr txBox="1"/>
          <p:nvPr/>
        </p:nvSpPr>
        <p:spPr>
          <a:xfrm>
            <a:off x="475866"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Live Map Dashboard</a:t>
            </a:r>
            <a:r>
              <a:rPr lang="en-IN" sz="2400" dirty="0"/>
              <a:t> (Streamlit + Folium) → tracks driver location in real time </a:t>
            </a:r>
          </a:p>
        </p:txBody>
      </p:sp>
      <p:sp>
        <p:nvSpPr>
          <p:cNvPr id="7" name="point 4">
            <a:extLst>
              <a:ext uri="{FF2B5EF4-FFF2-40B4-BE49-F238E27FC236}">
                <a16:creationId xmlns:a16="http://schemas.microsoft.com/office/drawing/2014/main" id="{F92EF6DF-06C5-A2C1-47B6-EB5A548C7126}"/>
              </a:ext>
            </a:extLst>
          </p:cNvPr>
          <p:cNvSpPr txBox="1"/>
          <p:nvPr/>
        </p:nvSpPr>
        <p:spPr>
          <a:xfrm>
            <a:off x="357789" y="9598690"/>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Haversine formula</a:t>
            </a:r>
            <a:r>
              <a:rPr lang="en-IN" sz="2400" dirty="0"/>
              <a:t> → calculates driver–pothole distance, triggers alert within safety radius </a:t>
            </a:r>
          </a:p>
        </p:txBody>
      </p:sp>
      <p:sp>
        <p:nvSpPr>
          <p:cNvPr id="8" name="point 5">
            <a:extLst>
              <a:ext uri="{FF2B5EF4-FFF2-40B4-BE49-F238E27FC236}">
                <a16:creationId xmlns:a16="http://schemas.microsoft.com/office/drawing/2014/main" id="{CB8EB0DC-02A9-E81F-5254-DAE9414B9D80}"/>
              </a:ext>
            </a:extLst>
          </p:cNvPr>
          <p:cNvSpPr txBox="1"/>
          <p:nvPr/>
        </p:nvSpPr>
        <p:spPr>
          <a:xfrm>
            <a:off x="357789" y="11484572"/>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Dual alert output </a:t>
            </a:r>
            <a:r>
              <a:rPr lang="en-IN" sz="2400" dirty="0"/>
              <a:t>→ visual warning banner + audio beep → advance driver warning</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point 1">
            <a:extLst>
              <a:ext uri="{FF2B5EF4-FFF2-40B4-BE49-F238E27FC236}">
                <a16:creationId xmlns:a16="http://schemas.microsoft.com/office/drawing/2014/main" id="{202340D5-EB66-B098-131F-5B3437B49EAA}"/>
              </a:ext>
            </a:extLst>
          </p:cNvPr>
          <p:cNvSpPr txBox="1"/>
          <p:nvPr/>
        </p:nvSpPr>
        <p:spPr>
          <a:xfrm>
            <a:off x="10838220"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Real-time</a:t>
            </a:r>
            <a:r>
              <a:rPr lang="en-IN" sz="2400" dirty="0"/>
              <a:t> pothole detection using </a:t>
            </a:r>
            <a:r>
              <a:rPr lang="en-IN" sz="2400" b="1" dirty="0"/>
              <a:t>YOLOv4-Tiny</a:t>
            </a:r>
            <a:r>
              <a:rPr lang="en-IN" sz="2400" dirty="0"/>
              <a:t> (image, video, live feed) </a:t>
            </a:r>
          </a:p>
        </p:txBody>
      </p:sp>
      <p:pic>
        <p:nvPicPr>
          <p:cNvPr id="11" name="Picture 10">
            <a:extLst>
              <a:ext uri="{FF2B5EF4-FFF2-40B4-BE49-F238E27FC236}">
                <a16:creationId xmlns:a16="http://schemas.microsoft.com/office/drawing/2014/main" id="{D7FF2918-DF13-4A9D-F786-B485B1AAB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8583" y="2054471"/>
            <a:ext cx="4803448" cy="3342968"/>
          </a:xfrm>
          <a:prstGeom prst="roundRect">
            <a:avLst>
              <a:gd name="adj" fmla="val 5445"/>
            </a:avLst>
          </a:prstGeom>
        </p:spPr>
      </p:pic>
      <p:pic>
        <p:nvPicPr>
          <p:cNvPr id="12" name="timestamp">
            <a:extLst>
              <a:ext uri="{FF2B5EF4-FFF2-40B4-BE49-F238E27FC236}">
                <a16:creationId xmlns:a16="http://schemas.microsoft.com/office/drawing/2014/main" id="{F041DDB7-EEE7-3CF7-BE16-04153A802C0D}"/>
              </a:ext>
            </a:extLst>
          </p:cNvPr>
          <p:cNvPicPr>
            <a:picLocks noChangeAspect="1"/>
          </p:cNvPicPr>
          <p:nvPr/>
        </p:nvPicPr>
        <p:blipFill>
          <a:blip r:embed="rId3">
            <a:extLst>
              <a:ext uri="{28A0092B-C50C-407E-A947-70E740481C1C}">
                <a14:useLocalDpi xmlns:a14="http://schemas.microsoft.com/office/drawing/2010/main" val="0"/>
              </a:ext>
            </a:extLst>
          </a:blip>
          <a:srcRect b="61523"/>
          <a:stretch>
            <a:fillRect/>
          </a:stretch>
        </p:blipFill>
        <p:spPr>
          <a:xfrm>
            <a:off x="194091" y="-2917569"/>
            <a:ext cx="8687371" cy="2186226"/>
          </a:xfrm>
          <a:prstGeom prst="roundRect">
            <a:avLst>
              <a:gd name="adj" fmla="val 4845"/>
            </a:avLst>
          </a:prstGeom>
        </p:spPr>
      </p:pic>
    </p:spTree>
    <p:extLst>
      <p:ext uri="{BB962C8B-B14F-4D97-AF65-F5344CB8AC3E}">
        <p14:creationId xmlns:p14="http://schemas.microsoft.com/office/powerpoint/2010/main" val="2361084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25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ppt_x"/>
                                          </p:val>
                                        </p:tav>
                                        <p:tav tm="100000">
                                          <p:val>
                                            <p:strVal val="#ppt_x"/>
                                          </p:val>
                                        </p:tav>
                                      </p:tavLst>
                                    </p:anim>
                                    <p:anim calcmode="lin" valueType="num">
                                      <p:cBhvr additive="base">
                                        <p:cTn id="8"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31000-952A-D2F1-207B-B67FAA0C7BF4}"/>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45408CB5-EDFE-9543-D3F0-01D9CCD273AF}"/>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1AFA2F26-4E64-5741-4811-75C88344F732}"/>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PROPOSED SOLUTION</a:t>
              </a:r>
            </a:p>
            <a:p>
              <a:endParaRPr lang="en-US" sz="2800" b="1" dirty="0">
                <a:solidFill>
                  <a:schemeClr val="bg1"/>
                </a:solidFill>
                <a:latin typeface="Times New Roman" panose="02020603050405020304" pitchFamily="18" charset="0"/>
                <a:cs typeface="Times New Roman" panose="02020603050405020304" pitchFamily="18" charset="0"/>
              </a:endParaRP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4EB263F4-BAA2-4B57-E3EC-9284C754451B}"/>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2" name="point 2">
            <a:extLst>
              <a:ext uri="{FF2B5EF4-FFF2-40B4-BE49-F238E27FC236}">
                <a16:creationId xmlns:a16="http://schemas.microsoft.com/office/drawing/2014/main" id="{5F11B1C1-6AA6-CD45-DD2F-5A72BBB5367B}"/>
              </a:ext>
            </a:extLst>
          </p:cNvPr>
          <p:cNvSpPr txBox="1"/>
          <p:nvPr/>
        </p:nvSpPr>
        <p:spPr>
          <a:xfrm>
            <a:off x="10602067"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Severity classification </a:t>
            </a:r>
            <a:r>
              <a:rPr lang="en-IN" sz="2400" dirty="0"/>
              <a:t>(Low/Medium/High) + GPS + timestamp logging → database </a:t>
            </a:r>
          </a:p>
        </p:txBody>
      </p:sp>
      <p:sp>
        <p:nvSpPr>
          <p:cNvPr id="3" name="point 3">
            <a:extLst>
              <a:ext uri="{FF2B5EF4-FFF2-40B4-BE49-F238E27FC236}">
                <a16:creationId xmlns:a16="http://schemas.microsoft.com/office/drawing/2014/main" id="{E7698845-46E4-2838-0A63-8F281F5DABAA}"/>
              </a:ext>
            </a:extLst>
          </p:cNvPr>
          <p:cNvSpPr txBox="1"/>
          <p:nvPr/>
        </p:nvSpPr>
        <p:spPr>
          <a:xfrm>
            <a:off x="10159127"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Live Map Dashboard</a:t>
            </a:r>
            <a:r>
              <a:rPr lang="en-IN" sz="2400" dirty="0"/>
              <a:t> (Streamlit + Folium) → tracks driver location in real time </a:t>
            </a:r>
          </a:p>
        </p:txBody>
      </p:sp>
      <p:sp>
        <p:nvSpPr>
          <p:cNvPr id="7" name="point 4">
            <a:extLst>
              <a:ext uri="{FF2B5EF4-FFF2-40B4-BE49-F238E27FC236}">
                <a16:creationId xmlns:a16="http://schemas.microsoft.com/office/drawing/2014/main" id="{E2D0280D-39B6-D902-F2FA-4A3AC5BD031B}"/>
              </a:ext>
            </a:extLst>
          </p:cNvPr>
          <p:cNvSpPr txBox="1"/>
          <p:nvPr/>
        </p:nvSpPr>
        <p:spPr>
          <a:xfrm>
            <a:off x="357789" y="4385742"/>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Haversine formula</a:t>
            </a:r>
            <a:r>
              <a:rPr lang="en-IN" sz="2400" dirty="0"/>
              <a:t> → calculates driver–pothole distance, triggers alert within safety radius </a:t>
            </a:r>
          </a:p>
        </p:txBody>
      </p:sp>
      <p:sp>
        <p:nvSpPr>
          <p:cNvPr id="8" name="point 5">
            <a:extLst>
              <a:ext uri="{FF2B5EF4-FFF2-40B4-BE49-F238E27FC236}">
                <a16:creationId xmlns:a16="http://schemas.microsoft.com/office/drawing/2014/main" id="{5C13770E-D865-AEDC-3322-3DA452489EE9}"/>
              </a:ext>
            </a:extLst>
          </p:cNvPr>
          <p:cNvSpPr txBox="1"/>
          <p:nvPr/>
        </p:nvSpPr>
        <p:spPr>
          <a:xfrm>
            <a:off x="357789" y="11484572"/>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Dual alert output </a:t>
            </a:r>
            <a:r>
              <a:rPr lang="en-IN" sz="2400" dirty="0"/>
              <a:t>→ visual warning banner + audio beep → advance driver warning</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point 1">
            <a:extLst>
              <a:ext uri="{FF2B5EF4-FFF2-40B4-BE49-F238E27FC236}">
                <a16:creationId xmlns:a16="http://schemas.microsoft.com/office/drawing/2014/main" id="{7BF8A162-5C41-3278-9062-1199A8188EE0}"/>
              </a:ext>
            </a:extLst>
          </p:cNvPr>
          <p:cNvSpPr txBox="1"/>
          <p:nvPr/>
        </p:nvSpPr>
        <p:spPr>
          <a:xfrm>
            <a:off x="10838220"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Real-time</a:t>
            </a:r>
            <a:r>
              <a:rPr lang="en-IN" sz="2400" dirty="0"/>
              <a:t> pothole detection using </a:t>
            </a:r>
            <a:r>
              <a:rPr lang="en-IN" sz="2400" b="1" dirty="0"/>
              <a:t>YOLOv4-Tiny</a:t>
            </a:r>
            <a:r>
              <a:rPr lang="en-IN" sz="2400" dirty="0"/>
              <a:t> (image, video, live feed) </a:t>
            </a:r>
          </a:p>
        </p:txBody>
      </p:sp>
      <p:pic>
        <p:nvPicPr>
          <p:cNvPr id="11" name="Picture 10">
            <a:extLst>
              <a:ext uri="{FF2B5EF4-FFF2-40B4-BE49-F238E27FC236}">
                <a16:creationId xmlns:a16="http://schemas.microsoft.com/office/drawing/2014/main" id="{0579690F-6C5D-FABE-5C73-4AB0A8E00157}"/>
              </a:ext>
            </a:extLst>
          </p:cNvPr>
          <p:cNvPicPr>
            <a:picLocks noChangeAspect="1"/>
          </p:cNvPicPr>
          <p:nvPr/>
        </p:nvPicPr>
        <p:blipFill>
          <a:blip r:embed="rId2">
            <a:extLst>
              <a:ext uri="{28A0092B-C50C-407E-A947-70E740481C1C}">
                <a14:useLocalDpi xmlns:a14="http://schemas.microsoft.com/office/drawing/2010/main" val="0"/>
              </a:ext>
            </a:extLst>
          </a:blip>
          <a:srcRect l="2711" t="30021" r="4061" b="5345"/>
          <a:stretch>
            <a:fillRect/>
          </a:stretch>
        </p:blipFill>
        <p:spPr>
          <a:xfrm>
            <a:off x="1410866" y="958209"/>
            <a:ext cx="6177805" cy="2980743"/>
          </a:xfrm>
          <a:prstGeom prst="roundRect">
            <a:avLst>
              <a:gd name="adj" fmla="val 5445"/>
            </a:avLst>
          </a:prstGeom>
        </p:spPr>
      </p:pic>
      <p:pic>
        <p:nvPicPr>
          <p:cNvPr id="10" name="Picture 9">
            <a:extLst>
              <a:ext uri="{FF2B5EF4-FFF2-40B4-BE49-F238E27FC236}">
                <a16:creationId xmlns:a16="http://schemas.microsoft.com/office/drawing/2014/main" id="{408E45F0-8D55-0030-0C54-A11B3D1672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8893" y="1091971"/>
            <a:ext cx="3979101" cy="2980743"/>
          </a:xfrm>
          <a:prstGeom prst="roundRect">
            <a:avLst>
              <a:gd name="adj" fmla="val 15094"/>
            </a:avLst>
          </a:prstGeom>
        </p:spPr>
      </p:pic>
    </p:spTree>
    <p:extLst>
      <p:ext uri="{BB962C8B-B14F-4D97-AF65-F5344CB8AC3E}">
        <p14:creationId xmlns:p14="http://schemas.microsoft.com/office/powerpoint/2010/main" val="3200573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750" fill="hold"/>
                                        <p:tgtEl>
                                          <p:spTgt spid="10"/>
                                        </p:tgtEl>
                                        <p:attrNameLst>
                                          <p:attrName>ppt_x</p:attrName>
                                        </p:attrNameLst>
                                      </p:cBhvr>
                                      <p:tavLst>
                                        <p:tav tm="0">
                                          <p:val>
                                            <p:strVal val="0-#ppt_w/2"/>
                                          </p:val>
                                        </p:tav>
                                        <p:tav tm="100000">
                                          <p:val>
                                            <p:strVal val="#ppt_x"/>
                                          </p:val>
                                        </p:tav>
                                      </p:tavLst>
                                    </p:anim>
                                    <p:anim calcmode="lin" valueType="num">
                                      <p:cBhvr additive="base">
                                        <p:cTn id="8" dur="75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D76A8-CFED-9E4D-7ACF-D58546346615}"/>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E9767380-89EB-82CF-3014-98B04FC5DE09}"/>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63A13C34-8990-4D14-2EA5-79817656B458}"/>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PROPOSED SOLUTION</a:t>
              </a:r>
            </a:p>
            <a:p>
              <a:endParaRPr lang="en-US" sz="2800" b="1" dirty="0">
                <a:solidFill>
                  <a:schemeClr val="bg1"/>
                </a:solidFill>
                <a:latin typeface="Times New Roman" panose="02020603050405020304" pitchFamily="18" charset="0"/>
                <a:cs typeface="Times New Roman" panose="02020603050405020304" pitchFamily="18" charset="0"/>
              </a:endParaRP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55FA2957-C2EA-4EF0-6D42-D4A15B5223CC}"/>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2" name="point 2">
            <a:extLst>
              <a:ext uri="{FF2B5EF4-FFF2-40B4-BE49-F238E27FC236}">
                <a16:creationId xmlns:a16="http://schemas.microsoft.com/office/drawing/2014/main" id="{AEDDA5B6-91AB-24A5-9294-827809EA63E5}"/>
              </a:ext>
            </a:extLst>
          </p:cNvPr>
          <p:cNvSpPr txBox="1"/>
          <p:nvPr/>
        </p:nvSpPr>
        <p:spPr>
          <a:xfrm>
            <a:off x="10602067"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Severity classification </a:t>
            </a:r>
            <a:r>
              <a:rPr lang="en-IN" sz="2400" dirty="0"/>
              <a:t>(Low/Medium/High) + GPS + timestamp logging → database </a:t>
            </a:r>
          </a:p>
        </p:txBody>
      </p:sp>
      <p:sp>
        <p:nvSpPr>
          <p:cNvPr id="3" name="point 3">
            <a:extLst>
              <a:ext uri="{FF2B5EF4-FFF2-40B4-BE49-F238E27FC236}">
                <a16:creationId xmlns:a16="http://schemas.microsoft.com/office/drawing/2014/main" id="{4EE7C130-E09C-9831-D0E8-CE5BA93FAEE9}"/>
              </a:ext>
            </a:extLst>
          </p:cNvPr>
          <p:cNvSpPr txBox="1"/>
          <p:nvPr/>
        </p:nvSpPr>
        <p:spPr>
          <a:xfrm>
            <a:off x="10159127"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Live Map Dashboard</a:t>
            </a:r>
            <a:r>
              <a:rPr lang="en-IN" sz="2400" dirty="0"/>
              <a:t> (Streamlit + Folium) → tracks driver location in real time </a:t>
            </a:r>
          </a:p>
        </p:txBody>
      </p:sp>
      <p:sp>
        <p:nvSpPr>
          <p:cNvPr id="7" name="point 4">
            <a:extLst>
              <a:ext uri="{FF2B5EF4-FFF2-40B4-BE49-F238E27FC236}">
                <a16:creationId xmlns:a16="http://schemas.microsoft.com/office/drawing/2014/main" id="{01185314-319D-E2A8-0112-6B06A9189445}"/>
              </a:ext>
            </a:extLst>
          </p:cNvPr>
          <p:cNvSpPr txBox="1"/>
          <p:nvPr/>
        </p:nvSpPr>
        <p:spPr>
          <a:xfrm>
            <a:off x="10159127" y="4667478"/>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Haversine formula</a:t>
            </a:r>
            <a:r>
              <a:rPr lang="en-IN" sz="2400" dirty="0"/>
              <a:t> → calculates driver–pothole distance, triggers alert within safety radius </a:t>
            </a:r>
          </a:p>
        </p:txBody>
      </p:sp>
      <p:sp>
        <p:nvSpPr>
          <p:cNvPr id="8" name="point 5">
            <a:extLst>
              <a:ext uri="{FF2B5EF4-FFF2-40B4-BE49-F238E27FC236}">
                <a16:creationId xmlns:a16="http://schemas.microsoft.com/office/drawing/2014/main" id="{2715D98E-EDA5-4303-BFB5-D13965CD25DF}"/>
              </a:ext>
            </a:extLst>
          </p:cNvPr>
          <p:cNvSpPr txBox="1"/>
          <p:nvPr/>
        </p:nvSpPr>
        <p:spPr>
          <a:xfrm>
            <a:off x="593942" y="4667477"/>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Dual alert output </a:t>
            </a:r>
            <a:r>
              <a:rPr lang="en-IN" sz="2400" dirty="0"/>
              <a:t>→ visual warning banner + audio beep → advance driver warning</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point 1">
            <a:extLst>
              <a:ext uri="{FF2B5EF4-FFF2-40B4-BE49-F238E27FC236}">
                <a16:creationId xmlns:a16="http://schemas.microsoft.com/office/drawing/2014/main" id="{94CA2DB7-2680-D78A-5FB0-ABCB079F5498}"/>
              </a:ext>
            </a:extLst>
          </p:cNvPr>
          <p:cNvSpPr txBox="1"/>
          <p:nvPr/>
        </p:nvSpPr>
        <p:spPr>
          <a:xfrm>
            <a:off x="10838220" y="676473"/>
            <a:ext cx="8405596" cy="830997"/>
          </a:xfrm>
          <a:prstGeom prst="rect">
            <a:avLst/>
          </a:prstGeom>
          <a:noFill/>
        </p:spPr>
        <p:txBody>
          <a:bodyPr wrap="square">
            <a:spAutoFit/>
          </a:bodyPr>
          <a:lstStyle/>
          <a:p>
            <a:pPr marL="342900" indent="-342900">
              <a:spcAft>
                <a:spcPts val="800"/>
              </a:spcAft>
              <a:buFont typeface="Wingdings" panose="05000000000000000000" pitchFamily="2" charset="2"/>
              <a:buChar char="v"/>
              <a:tabLst>
                <a:tab pos="4229100" algn="ctr"/>
              </a:tabLst>
            </a:pPr>
            <a:r>
              <a:rPr lang="en-IN" sz="2400" b="1" dirty="0"/>
              <a:t>Real-time</a:t>
            </a:r>
            <a:r>
              <a:rPr lang="en-IN" sz="2400" dirty="0"/>
              <a:t> pothole detection using </a:t>
            </a:r>
            <a:r>
              <a:rPr lang="en-IN" sz="2400" b="1" dirty="0"/>
              <a:t>YOLOv4-Tiny</a:t>
            </a:r>
            <a:r>
              <a:rPr lang="en-IN" sz="2400" dirty="0"/>
              <a:t> (image, video, live feed) </a:t>
            </a:r>
          </a:p>
        </p:txBody>
      </p:sp>
      <p:pic>
        <p:nvPicPr>
          <p:cNvPr id="11" name="Picture 10">
            <a:extLst>
              <a:ext uri="{FF2B5EF4-FFF2-40B4-BE49-F238E27FC236}">
                <a16:creationId xmlns:a16="http://schemas.microsoft.com/office/drawing/2014/main" id="{80935F6A-2A05-82AE-88BB-440F065B87F3}"/>
              </a:ext>
            </a:extLst>
          </p:cNvPr>
          <p:cNvPicPr>
            <a:picLocks noChangeAspect="1"/>
          </p:cNvPicPr>
          <p:nvPr/>
        </p:nvPicPr>
        <p:blipFill>
          <a:blip r:embed="rId2">
            <a:extLst>
              <a:ext uri="{28A0092B-C50C-407E-A947-70E740481C1C}">
                <a14:useLocalDpi xmlns:a14="http://schemas.microsoft.com/office/drawing/2010/main" val="0"/>
              </a:ext>
            </a:extLst>
          </a:blip>
          <a:srcRect l="3356" t="30021" r="40386" b="5345"/>
          <a:stretch>
            <a:fillRect/>
          </a:stretch>
        </p:blipFill>
        <p:spPr>
          <a:xfrm>
            <a:off x="5035447" y="1181603"/>
            <a:ext cx="3727938" cy="2980743"/>
          </a:xfrm>
          <a:prstGeom prst="roundRect">
            <a:avLst>
              <a:gd name="adj" fmla="val 12524"/>
            </a:avLst>
          </a:prstGeom>
        </p:spPr>
      </p:pic>
      <p:pic>
        <p:nvPicPr>
          <p:cNvPr id="12" name="Picture 11">
            <a:extLst>
              <a:ext uri="{FF2B5EF4-FFF2-40B4-BE49-F238E27FC236}">
                <a16:creationId xmlns:a16="http://schemas.microsoft.com/office/drawing/2014/main" id="{67A0A732-FAFE-58EB-9229-93074BC969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153" y="1205050"/>
            <a:ext cx="3979101" cy="2980743"/>
          </a:xfrm>
          <a:prstGeom prst="roundRect">
            <a:avLst>
              <a:gd name="adj" fmla="val 15094"/>
            </a:avLst>
          </a:prstGeom>
        </p:spPr>
      </p:pic>
    </p:spTree>
    <p:extLst>
      <p:ext uri="{BB962C8B-B14F-4D97-AF65-F5344CB8AC3E}">
        <p14:creationId xmlns:p14="http://schemas.microsoft.com/office/powerpoint/2010/main" val="2846774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02851-7D3A-DBD0-CAA8-1C552CC5AD64}"/>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A1074B77-081E-2256-5A51-FB3A0FCB7C91}"/>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AB9CBF73-A97D-F6EA-57A7-43555465BFB9}"/>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Live Demo</a:t>
              </a: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E2E5CC27-AFC4-EA36-A284-B6BFA0FD0502}"/>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9" name="TextBox 8">
            <a:extLst>
              <a:ext uri="{FF2B5EF4-FFF2-40B4-BE49-F238E27FC236}">
                <a16:creationId xmlns:a16="http://schemas.microsoft.com/office/drawing/2014/main" id="{B553E607-8CB1-CCC8-4F27-DB7F2F80707E}"/>
              </a:ext>
            </a:extLst>
          </p:cNvPr>
          <p:cNvSpPr txBox="1"/>
          <p:nvPr/>
        </p:nvSpPr>
        <p:spPr>
          <a:xfrm>
            <a:off x="460612" y="927168"/>
            <a:ext cx="4496936" cy="579967"/>
          </a:xfrm>
          <a:prstGeom prst="rect">
            <a:avLst/>
          </a:prstGeom>
          <a:noFill/>
        </p:spPr>
        <p:txBody>
          <a:bodyPr wrap="square">
            <a:spAutoFit/>
          </a:bodyPr>
          <a:lstStyle/>
          <a:p>
            <a:pPr>
              <a:lnSpc>
                <a:spcPct val="150000"/>
              </a:lnSpc>
              <a:spcAft>
                <a:spcPts val="800"/>
              </a:spcAft>
              <a:tabLst>
                <a:tab pos="4229100" algn="ctr"/>
              </a:tabLst>
            </a:pPr>
            <a:r>
              <a:rPr lang="en-IN" sz="24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Deployed app link:-</a:t>
            </a:r>
          </a:p>
        </p:txBody>
      </p:sp>
      <p:sp>
        <p:nvSpPr>
          <p:cNvPr id="2" name="TextBox 1">
            <a:extLst>
              <a:ext uri="{FF2B5EF4-FFF2-40B4-BE49-F238E27FC236}">
                <a16:creationId xmlns:a16="http://schemas.microsoft.com/office/drawing/2014/main" id="{F76F347C-1553-E19B-7634-666EE44C072D}"/>
              </a:ext>
            </a:extLst>
          </p:cNvPr>
          <p:cNvSpPr txBox="1"/>
          <p:nvPr/>
        </p:nvSpPr>
        <p:spPr>
          <a:xfrm>
            <a:off x="819598" y="1507135"/>
            <a:ext cx="6258535" cy="1583767"/>
          </a:xfrm>
          <a:prstGeom prst="rect">
            <a:avLst/>
          </a:prstGeom>
          <a:noFill/>
        </p:spPr>
        <p:txBody>
          <a:bodyPr wrap="square">
            <a:spAutoFit/>
          </a:bodyPr>
          <a:lstStyle/>
          <a:p>
            <a:pPr>
              <a:lnSpc>
                <a:spcPct val="150000"/>
              </a:lnSpc>
              <a:spcAft>
                <a:spcPts val="800"/>
              </a:spcAft>
              <a:tabLst>
                <a:tab pos="4229100" algn="ctr"/>
              </a:tabLst>
            </a:pPr>
            <a:r>
              <a:rPr lang="en-IN" sz="32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https://team7phd.streamlit.app/</a:t>
            </a:r>
            <a:endParaRPr lang="en-IN" sz="32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50000"/>
              </a:lnSpc>
              <a:spcAft>
                <a:spcPts val="800"/>
              </a:spcAft>
              <a:tabLst>
                <a:tab pos="4229100" algn="ctr"/>
              </a:tabLst>
            </a:pPr>
            <a:endParaRPr lang="en-IN" sz="3200" dirty="0">
              <a:solidFill>
                <a:schemeClr val="accent5">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51550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withEffect">
                                  <p:stCondLst>
                                    <p:cond delay="0"/>
                                  </p:stCondLst>
                                  <p:iterate type="lt">
                                    <p:tmPct val="4000"/>
                                  </p:iterate>
                                  <p:childTnLst>
                                    <p:set>
                                      <p:cBhvr override="childStyle">
                                        <p:cTn id="6" dur="1000" fill="hold"/>
                                        <p:tgtEl>
                                          <p:spTgt spid="2">
                                            <p:txEl>
                                              <p:pRg st="0" end="0"/>
                                            </p:txEl>
                                          </p:spTgt>
                                        </p:tgtEl>
                                        <p:attrNameLst>
                                          <p:attrName>style.textDecorationUnderline</p:attrName>
                                        </p:attrNameLst>
                                      </p:cBhvr>
                                      <p:to>
                                        <p:strVal val="true"/>
                                      </p:to>
                                    </p:set>
                                  </p:childTnLst>
                                </p:cTn>
                              </p:par>
                              <p:par>
                                <p:cTn id="7" presetID="26" presetClass="emph" presetSubtype="0" repeatCount="indefinite" fill="hold" grpId="1" nodeType="withEffect">
                                  <p:stCondLst>
                                    <p:cond delay="0"/>
                                  </p:stCondLst>
                                  <p:iterate type="lt">
                                    <p:tmPct val="0"/>
                                  </p:iterate>
                                  <p:childTnLst>
                                    <p:animEffect transition="out" filter="fade">
                                      <p:cBhvr>
                                        <p:cTn id="8" dur="1000" tmFilter="0, 0; .2, .5; .8, .5; 1, 0"/>
                                        <p:tgtEl>
                                          <p:spTgt spid="2">
                                            <p:txEl>
                                              <p:pRg st="0" end="0"/>
                                            </p:txEl>
                                          </p:spTgt>
                                        </p:tgtEl>
                                      </p:cBhvr>
                                    </p:animEffect>
                                    <p:animScale>
                                      <p:cBhvr>
                                        <p:cTn id="9" dur="500" autoRev="1" fill="hold"/>
                                        <p:tgtEl>
                                          <p:spTgt spid="2">
                                            <p:txEl>
                                              <p:pRg st="0" end="0"/>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2" grpId="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ACE42-6FE0-A5D1-FA5D-2976B58A44F6}"/>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79B70888-5A63-6D5D-F10D-DED773F9613B}"/>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B0AC9A5C-E01D-0775-2BDF-02F273D724E7}"/>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SYSTEM ARCHITECTURE</a:t>
              </a: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96B460F7-D9C6-25F7-CA5F-DDCDF7538CAF}"/>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2" name="Rectangle: Rounded Corners 1">
            <a:extLst>
              <a:ext uri="{FF2B5EF4-FFF2-40B4-BE49-F238E27FC236}">
                <a16:creationId xmlns:a16="http://schemas.microsoft.com/office/drawing/2014/main" id="{856F5BF5-21E2-8515-BFE2-726FF4615F18}"/>
              </a:ext>
            </a:extLst>
          </p:cNvPr>
          <p:cNvSpPr/>
          <p:nvPr/>
        </p:nvSpPr>
        <p:spPr>
          <a:xfrm>
            <a:off x="228680" y="1035152"/>
            <a:ext cx="1997375" cy="797168"/>
          </a:xfrm>
          <a:prstGeom prst="roundRect">
            <a:avLst>
              <a:gd name="adj" fmla="val 22000"/>
            </a:avLst>
          </a:prstGeom>
          <a:solidFill>
            <a:schemeClr val="accent2">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t>Input sources</a:t>
            </a:r>
          </a:p>
          <a:p>
            <a:pPr algn="ctr"/>
            <a:r>
              <a:rPr lang="en-IN" sz="1400" dirty="0"/>
              <a:t>Image, video, live feed</a:t>
            </a:r>
          </a:p>
        </p:txBody>
      </p:sp>
      <p:sp>
        <p:nvSpPr>
          <p:cNvPr id="3" name="Rectangle: Rounded Corners 2">
            <a:extLst>
              <a:ext uri="{FF2B5EF4-FFF2-40B4-BE49-F238E27FC236}">
                <a16:creationId xmlns:a16="http://schemas.microsoft.com/office/drawing/2014/main" id="{7F2F3E5A-8C73-8B58-B5A4-18E107708A90}"/>
              </a:ext>
            </a:extLst>
          </p:cNvPr>
          <p:cNvSpPr/>
          <p:nvPr/>
        </p:nvSpPr>
        <p:spPr>
          <a:xfrm>
            <a:off x="2962791" y="1035152"/>
            <a:ext cx="2712996" cy="797168"/>
          </a:xfrm>
          <a:prstGeom prst="roundRect">
            <a:avLst>
              <a:gd name="adj" fmla="val 22000"/>
            </a:avLst>
          </a:prstGeom>
          <a:solidFill>
            <a:schemeClr val="accent5">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t>YOLOv4-Tiny detector</a:t>
            </a:r>
          </a:p>
          <a:p>
            <a:pPr algn="ctr"/>
            <a:r>
              <a:rPr lang="en-IN" sz="1400" dirty="0"/>
              <a:t>Real-time pothole detection</a:t>
            </a:r>
          </a:p>
        </p:txBody>
      </p:sp>
      <p:sp>
        <p:nvSpPr>
          <p:cNvPr id="7" name="Rectangle: Rounded Corners 6">
            <a:extLst>
              <a:ext uri="{FF2B5EF4-FFF2-40B4-BE49-F238E27FC236}">
                <a16:creationId xmlns:a16="http://schemas.microsoft.com/office/drawing/2014/main" id="{2620A614-4F9B-2FFD-9A17-E754DA91EB46}"/>
              </a:ext>
            </a:extLst>
          </p:cNvPr>
          <p:cNvSpPr/>
          <p:nvPr/>
        </p:nvSpPr>
        <p:spPr>
          <a:xfrm>
            <a:off x="6176370" y="1035152"/>
            <a:ext cx="2587015" cy="797168"/>
          </a:xfrm>
          <a:prstGeom prst="roundRect">
            <a:avLst>
              <a:gd name="adj" fmla="val 22000"/>
            </a:avLst>
          </a:prstGeom>
          <a:solidFill>
            <a:schemeClr val="accent5">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t>Severity Classification</a:t>
            </a:r>
          </a:p>
          <a:p>
            <a:pPr algn="ctr"/>
            <a:r>
              <a:rPr lang="en-IN" sz="1400" dirty="0"/>
              <a:t>Low, medium, high</a:t>
            </a:r>
          </a:p>
        </p:txBody>
      </p:sp>
      <p:sp>
        <p:nvSpPr>
          <p:cNvPr id="8" name="Rectangle: Rounded Corners 7">
            <a:extLst>
              <a:ext uri="{FF2B5EF4-FFF2-40B4-BE49-F238E27FC236}">
                <a16:creationId xmlns:a16="http://schemas.microsoft.com/office/drawing/2014/main" id="{0DF1BB11-DE23-3C88-13FB-8A8A311E9516}"/>
              </a:ext>
            </a:extLst>
          </p:cNvPr>
          <p:cNvSpPr/>
          <p:nvPr/>
        </p:nvSpPr>
        <p:spPr>
          <a:xfrm>
            <a:off x="228680" y="2478162"/>
            <a:ext cx="2407840" cy="797168"/>
          </a:xfrm>
          <a:prstGeom prst="roundRect">
            <a:avLst>
              <a:gd name="adj" fmla="val 22000"/>
            </a:avLst>
          </a:prstGeom>
          <a:solidFill>
            <a:schemeClr val="accent6">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t>GPS + database log</a:t>
            </a:r>
          </a:p>
          <a:p>
            <a:pPr algn="ctr"/>
            <a:r>
              <a:rPr lang="en-IN" sz="1400" dirty="0"/>
              <a:t>Coordinates, timestamps</a:t>
            </a:r>
          </a:p>
        </p:txBody>
      </p:sp>
      <p:sp>
        <p:nvSpPr>
          <p:cNvPr id="10" name="Rectangle: Rounded Corners 9">
            <a:extLst>
              <a:ext uri="{FF2B5EF4-FFF2-40B4-BE49-F238E27FC236}">
                <a16:creationId xmlns:a16="http://schemas.microsoft.com/office/drawing/2014/main" id="{6F9B0C07-F578-85CA-102C-CED9C0FD095E}"/>
              </a:ext>
            </a:extLst>
          </p:cNvPr>
          <p:cNvSpPr/>
          <p:nvPr/>
        </p:nvSpPr>
        <p:spPr>
          <a:xfrm>
            <a:off x="3143271" y="2481141"/>
            <a:ext cx="2407840" cy="797168"/>
          </a:xfrm>
          <a:prstGeom prst="roundRect">
            <a:avLst>
              <a:gd name="adj" fmla="val 22000"/>
            </a:avLst>
          </a:prstGeom>
          <a:solidFill>
            <a:schemeClr val="accent6">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t>Live map dashboard</a:t>
            </a:r>
          </a:p>
          <a:p>
            <a:pPr algn="ctr"/>
            <a:r>
              <a:rPr lang="en-IN" sz="1400" dirty="0"/>
              <a:t>Haversine distance check</a:t>
            </a:r>
          </a:p>
        </p:txBody>
      </p:sp>
      <p:sp>
        <p:nvSpPr>
          <p:cNvPr id="11" name="Rectangle: Rounded Corners 10">
            <a:extLst>
              <a:ext uri="{FF2B5EF4-FFF2-40B4-BE49-F238E27FC236}">
                <a16:creationId xmlns:a16="http://schemas.microsoft.com/office/drawing/2014/main" id="{455B4737-3E6A-24F2-6F72-371D4D7E14D5}"/>
              </a:ext>
            </a:extLst>
          </p:cNvPr>
          <p:cNvSpPr/>
          <p:nvPr/>
        </p:nvSpPr>
        <p:spPr>
          <a:xfrm>
            <a:off x="6109015" y="2478162"/>
            <a:ext cx="2712996" cy="797168"/>
          </a:xfrm>
          <a:prstGeom prst="roundRect">
            <a:avLst>
              <a:gd name="adj" fmla="val 22000"/>
            </a:avLst>
          </a:prstGeom>
          <a:solidFill>
            <a:schemeClr val="accent4">
              <a:lumMod val="20000"/>
              <a:lumOff val="80000"/>
            </a:schemeClr>
          </a:solid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t>Driver alert</a:t>
            </a:r>
          </a:p>
          <a:p>
            <a:pPr algn="ctr"/>
            <a:r>
              <a:rPr lang="en-IN" sz="1400" dirty="0"/>
              <a:t>Visual banner + audio beep</a:t>
            </a:r>
          </a:p>
        </p:txBody>
      </p:sp>
      <p:cxnSp>
        <p:nvCxnSpPr>
          <p:cNvPr id="13" name="Straight Arrow Connector 12">
            <a:extLst>
              <a:ext uri="{FF2B5EF4-FFF2-40B4-BE49-F238E27FC236}">
                <a16:creationId xmlns:a16="http://schemas.microsoft.com/office/drawing/2014/main" id="{22A2E8CF-D3F2-589A-83FB-283ADDC5BB95}"/>
              </a:ext>
            </a:extLst>
          </p:cNvPr>
          <p:cNvCxnSpPr>
            <a:cxnSpLocks/>
            <a:stCxn id="2" idx="3"/>
            <a:endCxn id="3" idx="1"/>
          </p:cNvCxnSpPr>
          <p:nvPr/>
        </p:nvCxnSpPr>
        <p:spPr>
          <a:xfrm>
            <a:off x="2226055" y="1433736"/>
            <a:ext cx="736736" cy="0"/>
          </a:xfrm>
          <a:prstGeom prst="straightConnector1">
            <a:avLst/>
          </a:prstGeom>
          <a:ln w="38100">
            <a:solidFill>
              <a:schemeClr val="accent1">
                <a:lumMod val="75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6B1D1D32-94BA-BCDF-5BC8-DA3BCEBCB6E3}"/>
              </a:ext>
            </a:extLst>
          </p:cNvPr>
          <p:cNvCxnSpPr>
            <a:cxnSpLocks/>
            <a:stCxn id="8" idx="3"/>
            <a:endCxn id="10" idx="1"/>
          </p:cNvCxnSpPr>
          <p:nvPr/>
        </p:nvCxnSpPr>
        <p:spPr>
          <a:xfrm>
            <a:off x="2636520" y="2876746"/>
            <a:ext cx="506751" cy="2979"/>
          </a:xfrm>
          <a:prstGeom prst="straightConnector1">
            <a:avLst/>
          </a:prstGeom>
          <a:ln w="38100">
            <a:solidFill>
              <a:schemeClr val="accent1">
                <a:lumMod val="75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7C3E0EF7-D8F2-0A2E-C888-4CDF5E81E810}"/>
              </a:ext>
            </a:extLst>
          </p:cNvPr>
          <p:cNvCxnSpPr>
            <a:cxnSpLocks/>
            <a:stCxn id="3" idx="3"/>
            <a:endCxn id="7" idx="1"/>
          </p:cNvCxnSpPr>
          <p:nvPr/>
        </p:nvCxnSpPr>
        <p:spPr>
          <a:xfrm>
            <a:off x="5675787" y="1433736"/>
            <a:ext cx="500583" cy="0"/>
          </a:xfrm>
          <a:prstGeom prst="straightConnector1">
            <a:avLst/>
          </a:prstGeom>
          <a:ln w="38100">
            <a:solidFill>
              <a:schemeClr val="accent1">
                <a:lumMod val="75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17A0C95B-7162-731E-9542-E67CB59656D6}"/>
              </a:ext>
            </a:extLst>
          </p:cNvPr>
          <p:cNvCxnSpPr>
            <a:cxnSpLocks/>
            <a:stCxn id="10" idx="3"/>
            <a:endCxn id="11" idx="1"/>
          </p:cNvCxnSpPr>
          <p:nvPr/>
        </p:nvCxnSpPr>
        <p:spPr>
          <a:xfrm flipV="1">
            <a:off x="5551111" y="2876746"/>
            <a:ext cx="557904" cy="2979"/>
          </a:xfrm>
          <a:prstGeom prst="straightConnector1">
            <a:avLst/>
          </a:prstGeom>
          <a:ln w="38100">
            <a:solidFill>
              <a:schemeClr val="accent1">
                <a:lumMod val="75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0" name="Connector: Elbow 39">
            <a:extLst>
              <a:ext uri="{FF2B5EF4-FFF2-40B4-BE49-F238E27FC236}">
                <a16:creationId xmlns:a16="http://schemas.microsoft.com/office/drawing/2014/main" id="{9012FFD6-94E7-15C7-4C86-3AF58554B8DE}"/>
              </a:ext>
            </a:extLst>
          </p:cNvPr>
          <p:cNvCxnSpPr>
            <a:cxnSpLocks/>
            <a:stCxn id="7" idx="2"/>
            <a:endCxn id="8" idx="0"/>
          </p:cNvCxnSpPr>
          <p:nvPr/>
        </p:nvCxnSpPr>
        <p:spPr>
          <a:xfrm rot="5400000">
            <a:off x="4128318" y="-863398"/>
            <a:ext cx="645842" cy="603727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0C39E7F-68F9-AFD2-CF3B-9A2FE1AF584A}"/>
              </a:ext>
            </a:extLst>
          </p:cNvPr>
          <p:cNvSpPr txBox="1"/>
          <p:nvPr/>
        </p:nvSpPr>
        <p:spPr>
          <a:xfrm>
            <a:off x="7995647" y="4682232"/>
            <a:ext cx="1003891" cy="1077218"/>
          </a:xfrm>
          <a:prstGeom prst="rect">
            <a:avLst/>
          </a:prstGeom>
          <a:noFill/>
        </p:spPr>
        <p:txBody>
          <a:bodyPr wrap="square" rtlCol="0">
            <a:spAutoFit/>
          </a:bodyPr>
          <a:lstStyle/>
          <a:p>
            <a:r>
              <a:rPr lang="en-IN" sz="1600" dirty="0">
                <a:solidFill>
                  <a:schemeClr val="bg1">
                    <a:lumMod val="65000"/>
                  </a:schemeClr>
                </a:solidFill>
              </a:rPr>
              <a:t>Input </a:t>
            </a:r>
          </a:p>
          <a:p>
            <a:r>
              <a:rPr lang="en-IN" sz="1600" dirty="0">
                <a:solidFill>
                  <a:schemeClr val="bg1">
                    <a:lumMod val="65000"/>
                  </a:schemeClr>
                </a:solidFill>
              </a:rPr>
              <a:t>Detection </a:t>
            </a:r>
          </a:p>
          <a:p>
            <a:r>
              <a:rPr lang="en-IN" sz="1600" dirty="0">
                <a:solidFill>
                  <a:schemeClr val="bg1">
                    <a:lumMod val="65000"/>
                  </a:schemeClr>
                </a:solidFill>
              </a:rPr>
              <a:t>Mapping </a:t>
            </a:r>
          </a:p>
          <a:p>
            <a:r>
              <a:rPr lang="en-IN" sz="1600" dirty="0">
                <a:solidFill>
                  <a:schemeClr val="bg1">
                    <a:lumMod val="65000"/>
                  </a:schemeClr>
                </a:solidFill>
              </a:rPr>
              <a:t>Alert</a:t>
            </a:r>
          </a:p>
        </p:txBody>
      </p:sp>
      <p:sp>
        <p:nvSpPr>
          <p:cNvPr id="43" name="Oval 42">
            <a:extLst>
              <a:ext uri="{FF2B5EF4-FFF2-40B4-BE49-F238E27FC236}">
                <a16:creationId xmlns:a16="http://schemas.microsoft.com/office/drawing/2014/main" id="{89884C95-CD80-D3FD-AF1A-10C54711EEDC}"/>
              </a:ext>
            </a:extLst>
          </p:cNvPr>
          <p:cNvSpPr/>
          <p:nvPr/>
        </p:nvSpPr>
        <p:spPr>
          <a:xfrm>
            <a:off x="7936635" y="4810760"/>
            <a:ext cx="118023" cy="10668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FF2A9137-FD01-B98C-CDDE-B28611F4CC86}"/>
              </a:ext>
            </a:extLst>
          </p:cNvPr>
          <p:cNvSpPr/>
          <p:nvPr/>
        </p:nvSpPr>
        <p:spPr>
          <a:xfrm>
            <a:off x="7936635" y="5045968"/>
            <a:ext cx="118023" cy="10668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194611EA-7887-8B12-4615-0FAE0291D264}"/>
              </a:ext>
            </a:extLst>
          </p:cNvPr>
          <p:cNvSpPr/>
          <p:nvPr/>
        </p:nvSpPr>
        <p:spPr>
          <a:xfrm>
            <a:off x="7936635" y="5281176"/>
            <a:ext cx="118023" cy="106680"/>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780B2C2A-A9F6-5E31-F0F9-4BC9BDF016F0}"/>
              </a:ext>
            </a:extLst>
          </p:cNvPr>
          <p:cNvSpPr/>
          <p:nvPr/>
        </p:nvSpPr>
        <p:spPr>
          <a:xfrm>
            <a:off x="7936635" y="5516384"/>
            <a:ext cx="118023" cy="106680"/>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7087976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2">
                                            <p:bg/>
                                          </p:spTgt>
                                        </p:tgtEl>
                                        <p:attrNameLst>
                                          <p:attrName>style.visibility</p:attrName>
                                        </p:attrNameLst>
                                      </p:cBhvr>
                                      <p:to>
                                        <p:strVal val="visible"/>
                                      </p:to>
                                    </p:set>
                                    <p:animEffect transition="in" filter="fade">
                                      <p:cBhvr>
                                        <p:cTn id="7" dur="250"/>
                                        <p:tgtEl>
                                          <p:spTgt spid="2">
                                            <p:bg/>
                                          </p:spTgt>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250"/>
                                        <p:tgtEl>
                                          <p:spTgt spid="2">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250"/>
                                        <p:tgtEl>
                                          <p:spTgt spid="2">
                                            <p:txEl>
                                              <p:pRg st="1" end="1"/>
                                            </p:txEl>
                                          </p:spTgt>
                                        </p:tgtEl>
                                      </p:cBhvr>
                                    </p:animEffect>
                                  </p:childTnLst>
                                </p:cTn>
                              </p:par>
                            </p:childTnLst>
                          </p:cTn>
                        </p:par>
                        <p:par>
                          <p:cTn id="15" fill="hold">
                            <p:stCondLst>
                              <p:cond delay="750"/>
                            </p:stCondLst>
                            <p:childTnLst>
                              <p:par>
                                <p:cTn id="16" presetID="22" presetClass="entr" presetSubtype="8"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par>
                                <p:cTn id="19" presetID="10" presetClass="entr" presetSubtype="0" fill="hold" grpId="0" nodeType="withEffect">
                                  <p:stCondLst>
                                    <p:cond delay="250"/>
                                  </p:stCondLst>
                                  <p:childTnLst>
                                    <p:set>
                                      <p:cBhvr>
                                        <p:cTn id="20" dur="1" fill="hold">
                                          <p:stCondLst>
                                            <p:cond delay="0"/>
                                          </p:stCondLst>
                                        </p:cTn>
                                        <p:tgtEl>
                                          <p:spTgt spid="3">
                                            <p:bg/>
                                          </p:spTgt>
                                        </p:tgtEl>
                                        <p:attrNameLst>
                                          <p:attrName>style.visibility</p:attrName>
                                        </p:attrNameLst>
                                      </p:cBhvr>
                                      <p:to>
                                        <p:strVal val="visible"/>
                                      </p:to>
                                    </p:set>
                                    <p:animEffect transition="in" filter="fade">
                                      <p:cBhvr>
                                        <p:cTn id="21" dur="250"/>
                                        <p:tgtEl>
                                          <p:spTgt spid="3">
                                            <p:bg/>
                                          </p:spTgt>
                                        </p:tgtEl>
                                      </p:cBhvr>
                                    </p:animEffect>
                                  </p:childTnLst>
                                </p:cTn>
                              </p:par>
                              <p:par>
                                <p:cTn id="22" presetID="10" presetClass="entr" presetSubtype="0" fill="hold" grpId="0" nodeType="withEffect">
                                  <p:stCondLst>
                                    <p:cond delay="25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fade">
                                      <p:cBhvr>
                                        <p:cTn id="24" dur="250"/>
                                        <p:tgtEl>
                                          <p:spTgt spid="3">
                                            <p:txEl>
                                              <p:pRg st="0" end="0"/>
                                            </p:txEl>
                                          </p:spTgt>
                                        </p:tgtEl>
                                      </p:cBhvr>
                                    </p:animEffect>
                                  </p:childTnLst>
                                </p:cTn>
                              </p:par>
                            </p:childTnLst>
                          </p:cTn>
                        </p:par>
                        <p:par>
                          <p:cTn id="25" fill="hold">
                            <p:stCondLst>
                              <p:cond delay="1250"/>
                            </p:stCondLst>
                            <p:childTnLst>
                              <p:par>
                                <p:cTn id="26" presetID="10" presetClass="entr" presetSubtype="0" fill="hold" grpId="0" nodeType="after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250"/>
                                        <p:tgtEl>
                                          <p:spTgt spid="3">
                                            <p:txEl>
                                              <p:pRg st="1" end="1"/>
                                            </p:txEl>
                                          </p:spTgt>
                                        </p:tgtEl>
                                      </p:cBhvr>
                                    </p:animEffect>
                                  </p:childTnLst>
                                </p:cTn>
                              </p:par>
                              <p:par>
                                <p:cTn id="29" presetID="42" presetClass="entr" presetSubtype="0" fill="hold" grpId="0" nodeType="withEffect">
                                  <p:stCondLst>
                                    <p:cond delay="25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1000"/>
                                        <p:tgtEl>
                                          <p:spTgt spid="42">
                                            <p:txEl>
                                              <p:pRg st="0" end="0"/>
                                            </p:txEl>
                                          </p:spTgt>
                                        </p:tgtEl>
                                      </p:cBhvr>
                                    </p:animEffect>
                                    <p:anim calcmode="lin" valueType="num">
                                      <p:cBhvr>
                                        <p:cTn id="32"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42">
                                            <p:txEl>
                                              <p:pRg st="0" end="0"/>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250"/>
                                  </p:stCondLst>
                                  <p:childTnLst>
                                    <p:set>
                                      <p:cBhvr>
                                        <p:cTn id="35" dur="1" fill="hold">
                                          <p:stCondLst>
                                            <p:cond delay="0"/>
                                          </p:stCondLst>
                                        </p:cTn>
                                        <p:tgtEl>
                                          <p:spTgt spid="42">
                                            <p:txEl>
                                              <p:pRg st="1" end="1"/>
                                            </p:txEl>
                                          </p:spTgt>
                                        </p:tgtEl>
                                        <p:attrNameLst>
                                          <p:attrName>style.visibility</p:attrName>
                                        </p:attrNameLst>
                                      </p:cBhvr>
                                      <p:to>
                                        <p:strVal val="visible"/>
                                      </p:to>
                                    </p:set>
                                    <p:animEffect transition="in" filter="fade">
                                      <p:cBhvr>
                                        <p:cTn id="36" dur="1000"/>
                                        <p:tgtEl>
                                          <p:spTgt spid="42">
                                            <p:txEl>
                                              <p:pRg st="1" end="1"/>
                                            </p:txEl>
                                          </p:spTgt>
                                        </p:tgtEl>
                                      </p:cBhvr>
                                    </p:animEffect>
                                    <p:anim calcmode="lin" valueType="num">
                                      <p:cBhvr>
                                        <p:cTn id="37" dur="1000" fill="hold"/>
                                        <p:tgtEl>
                                          <p:spTgt spid="42">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42">
                                            <p:txEl>
                                              <p:pRg st="1" end="1"/>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250"/>
                                  </p:stCondLst>
                                  <p:childTnLst>
                                    <p:set>
                                      <p:cBhvr>
                                        <p:cTn id="40" dur="1" fill="hold">
                                          <p:stCondLst>
                                            <p:cond delay="0"/>
                                          </p:stCondLst>
                                        </p:cTn>
                                        <p:tgtEl>
                                          <p:spTgt spid="42">
                                            <p:txEl>
                                              <p:pRg st="2" end="2"/>
                                            </p:txEl>
                                          </p:spTgt>
                                        </p:tgtEl>
                                        <p:attrNameLst>
                                          <p:attrName>style.visibility</p:attrName>
                                        </p:attrNameLst>
                                      </p:cBhvr>
                                      <p:to>
                                        <p:strVal val="visible"/>
                                      </p:to>
                                    </p:set>
                                    <p:animEffect transition="in" filter="fade">
                                      <p:cBhvr>
                                        <p:cTn id="41" dur="1000"/>
                                        <p:tgtEl>
                                          <p:spTgt spid="42">
                                            <p:txEl>
                                              <p:pRg st="2" end="2"/>
                                            </p:txEl>
                                          </p:spTgt>
                                        </p:tgtEl>
                                      </p:cBhvr>
                                    </p:animEffect>
                                    <p:anim calcmode="lin" valueType="num">
                                      <p:cBhvr>
                                        <p:cTn id="42" dur="1000" fill="hold"/>
                                        <p:tgtEl>
                                          <p:spTgt spid="42">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42">
                                            <p:txEl>
                                              <p:pRg st="2" end="2"/>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250"/>
                                  </p:stCondLst>
                                  <p:childTnLst>
                                    <p:set>
                                      <p:cBhvr>
                                        <p:cTn id="45" dur="1" fill="hold">
                                          <p:stCondLst>
                                            <p:cond delay="0"/>
                                          </p:stCondLst>
                                        </p:cTn>
                                        <p:tgtEl>
                                          <p:spTgt spid="42">
                                            <p:txEl>
                                              <p:pRg st="3" end="3"/>
                                            </p:txEl>
                                          </p:spTgt>
                                        </p:tgtEl>
                                        <p:attrNameLst>
                                          <p:attrName>style.visibility</p:attrName>
                                        </p:attrNameLst>
                                      </p:cBhvr>
                                      <p:to>
                                        <p:strVal val="visible"/>
                                      </p:to>
                                    </p:set>
                                    <p:animEffect transition="in" filter="fade">
                                      <p:cBhvr>
                                        <p:cTn id="46" dur="1000"/>
                                        <p:tgtEl>
                                          <p:spTgt spid="42">
                                            <p:txEl>
                                              <p:pRg st="3" end="3"/>
                                            </p:txEl>
                                          </p:spTgt>
                                        </p:tgtEl>
                                      </p:cBhvr>
                                    </p:animEffect>
                                    <p:anim calcmode="lin" valueType="num">
                                      <p:cBhvr>
                                        <p:cTn id="47" dur="1000" fill="hold"/>
                                        <p:tgtEl>
                                          <p:spTgt spid="42">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42">
                                            <p:txEl>
                                              <p:pRg st="3" end="3"/>
                                            </p:txEl>
                                          </p:spTgt>
                                        </p:tgtEl>
                                        <p:attrNameLst>
                                          <p:attrName>ppt_y</p:attrName>
                                        </p:attrNameLst>
                                      </p:cBhvr>
                                      <p:tavLst>
                                        <p:tav tm="0">
                                          <p:val>
                                            <p:strVal val="#ppt_y+.1"/>
                                          </p:val>
                                        </p:tav>
                                        <p:tav tm="100000">
                                          <p:val>
                                            <p:strVal val="#ppt_y"/>
                                          </p:val>
                                        </p:tav>
                                      </p:tavLst>
                                    </p:anim>
                                  </p:childTnLst>
                                </p:cTn>
                              </p:par>
                              <p:par>
                                <p:cTn id="49" presetID="2" presetClass="entr" presetSubtype="4" fill="hold" grpId="0" nodeType="withEffect">
                                  <p:stCondLst>
                                    <p:cond delay="25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fill="hold"/>
                                        <p:tgtEl>
                                          <p:spTgt spid="43"/>
                                        </p:tgtEl>
                                        <p:attrNameLst>
                                          <p:attrName>ppt_x</p:attrName>
                                        </p:attrNameLst>
                                      </p:cBhvr>
                                      <p:tavLst>
                                        <p:tav tm="0">
                                          <p:val>
                                            <p:strVal val="#ppt_x"/>
                                          </p:val>
                                        </p:tav>
                                        <p:tav tm="100000">
                                          <p:val>
                                            <p:strVal val="#ppt_x"/>
                                          </p:val>
                                        </p:tav>
                                      </p:tavLst>
                                    </p:anim>
                                    <p:anim calcmode="lin" valueType="num">
                                      <p:cBhvr additive="base">
                                        <p:cTn id="52" dur="500" fill="hold"/>
                                        <p:tgtEl>
                                          <p:spTgt spid="4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250"/>
                                  </p:stCondLst>
                                  <p:childTnLst>
                                    <p:set>
                                      <p:cBhvr>
                                        <p:cTn id="54" dur="1" fill="hold">
                                          <p:stCondLst>
                                            <p:cond delay="0"/>
                                          </p:stCondLst>
                                        </p:cTn>
                                        <p:tgtEl>
                                          <p:spTgt spid="46">
                                            <p:bg/>
                                          </p:spTgt>
                                        </p:tgtEl>
                                        <p:attrNameLst>
                                          <p:attrName>style.visibility</p:attrName>
                                        </p:attrNameLst>
                                      </p:cBhvr>
                                      <p:to>
                                        <p:strVal val="visible"/>
                                      </p:to>
                                    </p:set>
                                    <p:anim calcmode="lin" valueType="num">
                                      <p:cBhvr additive="base">
                                        <p:cTn id="55" dur="500" fill="hold"/>
                                        <p:tgtEl>
                                          <p:spTgt spid="46">
                                            <p:bg/>
                                          </p:spTgt>
                                        </p:tgtEl>
                                        <p:attrNameLst>
                                          <p:attrName>ppt_x</p:attrName>
                                        </p:attrNameLst>
                                      </p:cBhvr>
                                      <p:tavLst>
                                        <p:tav tm="0">
                                          <p:val>
                                            <p:strVal val="#ppt_x"/>
                                          </p:val>
                                        </p:tav>
                                        <p:tav tm="100000">
                                          <p:val>
                                            <p:strVal val="#ppt_x"/>
                                          </p:val>
                                        </p:tav>
                                      </p:tavLst>
                                    </p:anim>
                                    <p:anim calcmode="lin" valueType="num">
                                      <p:cBhvr additive="base">
                                        <p:cTn id="56" dur="500" fill="hold"/>
                                        <p:tgtEl>
                                          <p:spTgt spid="46">
                                            <p:bg/>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nodePh="1">
                                  <p:stCondLst>
                                    <p:cond delay="250"/>
                                  </p:stCondLst>
                                  <p:endCondLst>
                                    <p:cond evt="begin" delay="0">
                                      <p:tn val="57"/>
                                    </p:cond>
                                  </p:endCondLst>
                                  <p:childTnLst>
                                    <p:set>
                                      <p:cBhvr>
                                        <p:cTn id="58" dur="1" fill="hold">
                                          <p:stCondLst>
                                            <p:cond delay="0"/>
                                          </p:stCondLst>
                                        </p:cTn>
                                        <p:tgtEl>
                                          <p:spTgt spid="46">
                                            <p:txEl>
                                              <p:pRg st="0" end="0"/>
                                            </p:txEl>
                                          </p:spTgt>
                                        </p:tgtEl>
                                        <p:attrNameLst>
                                          <p:attrName>style.visibility</p:attrName>
                                        </p:attrNameLst>
                                      </p:cBhvr>
                                      <p:to>
                                        <p:strVal val="visible"/>
                                      </p:to>
                                    </p:set>
                                    <p:anim calcmode="lin" valueType="num">
                                      <p:cBhvr additive="base">
                                        <p:cTn id="59"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250"/>
                                  </p:stCondLst>
                                  <p:childTnLst>
                                    <p:set>
                                      <p:cBhvr>
                                        <p:cTn id="62" dur="1" fill="hold">
                                          <p:stCondLst>
                                            <p:cond delay="0"/>
                                          </p:stCondLst>
                                        </p:cTn>
                                        <p:tgtEl>
                                          <p:spTgt spid="47">
                                            <p:bg/>
                                          </p:spTgt>
                                        </p:tgtEl>
                                        <p:attrNameLst>
                                          <p:attrName>style.visibility</p:attrName>
                                        </p:attrNameLst>
                                      </p:cBhvr>
                                      <p:to>
                                        <p:strVal val="visible"/>
                                      </p:to>
                                    </p:set>
                                    <p:anim calcmode="lin" valueType="num">
                                      <p:cBhvr additive="base">
                                        <p:cTn id="63" dur="500" fill="hold"/>
                                        <p:tgtEl>
                                          <p:spTgt spid="47">
                                            <p:bg/>
                                          </p:spTgt>
                                        </p:tgtEl>
                                        <p:attrNameLst>
                                          <p:attrName>ppt_x</p:attrName>
                                        </p:attrNameLst>
                                      </p:cBhvr>
                                      <p:tavLst>
                                        <p:tav tm="0">
                                          <p:val>
                                            <p:strVal val="#ppt_x"/>
                                          </p:val>
                                        </p:tav>
                                        <p:tav tm="100000">
                                          <p:val>
                                            <p:strVal val="#ppt_x"/>
                                          </p:val>
                                        </p:tav>
                                      </p:tavLst>
                                    </p:anim>
                                    <p:anim calcmode="lin" valueType="num">
                                      <p:cBhvr additive="base">
                                        <p:cTn id="64" dur="500" fill="hold"/>
                                        <p:tgtEl>
                                          <p:spTgt spid="47">
                                            <p:bg/>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nodePh="1">
                                  <p:stCondLst>
                                    <p:cond delay="250"/>
                                  </p:stCondLst>
                                  <p:endCondLst>
                                    <p:cond evt="begin" delay="0">
                                      <p:tn val="65"/>
                                    </p:cond>
                                  </p:endCondLst>
                                  <p:childTnLst>
                                    <p:set>
                                      <p:cBhvr>
                                        <p:cTn id="66" dur="1" fill="hold">
                                          <p:stCondLst>
                                            <p:cond delay="0"/>
                                          </p:stCondLst>
                                        </p:cTn>
                                        <p:tgtEl>
                                          <p:spTgt spid="47">
                                            <p:txEl>
                                              <p:pRg st="0" end="0"/>
                                            </p:txEl>
                                          </p:spTgt>
                                        </p:tgtEl>
                                        <p:attrNameLst>
                                          <p:attrName>style.visibility</p:attrName>
                                        </p:attrNameLst>
                                      </p:cBhvr>
                                      <p:to>
                                        <p:strVal val="visible"/>
                                      </p:to>
                                    </p:set>
                                    <p:anim calcmode="lin" valueType="num">
                                      <p:cBhvr additive="base">
                                        <p:cTn id="67"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250"/>
                                  </p:stCondLst>
                                  <p:childTnLst>
                                    <p:set>
                                      <p:cBhvr>
                                        <p:cTn id="70" dur="1" fill="hold">
                                          <p:stCondLst>
                                            <p:cond delay="0"/>
                                          </p:stCondLst>
                                        </p:cTn>
                                        <p:tgtEl>
                                          <p:spTgt spid="48">
                                            <p:bg/>
                                          </p:spTgt>
                                        </p:tgtEl>
                                        <p:attrNameLst>
                                          <p:attrName>style.visibility</p:attrName>
                                        </p:attrNameLst>
                                      </p:cBhvr>
                                      <p:to>
                                        <p:strVal val="visible"/>
                                      </p:to>
                                    </p:set>
                                    <p:anim calcmode="lin" valueType="num">
                                      <p:cBhvr additive="base">
                                        <p:cTn id="71" dur="500" fill="hold"/>
                                        <p:tgtEl>
                                          <p:spTgt spid="48">
                                            <p:bg/>
                                          </p:spTgt>
                                        </p:tgtEl>
                                        <p:attrNameLst>
                                          <p:attrName>ppt_x</p:attrName>
                                        </p:attrNameLst>
                                      </p:cBhvr>
                                      <p:tavLst>
                                        <p:tav tm="0">
                                          <p:val>
                                            <p:strVal val="#ppt_x"/>
                                          </p:val>
                                        </p:tav>
                                        <p:tav tm="100000">
                                          <p:val>
                                            <p:strVal val="#ppt_x"/>
                                          </p:val>
                                        </p:tav>
                                      </p:tavLst>
                                    </p:anim>
                                    <p:anim calcmode="lin" valueType="num">
                                      <p:cBhvr additive="base">
                                        <p:cTn id="72" dur="500" fill="hold"/>
                                        <p:tgtEl>
                                          <p:spTgt spid="48">
                                            <p:bg/>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nodePh="1">
                                  <p:stCondLst>
                                    <p:cond delay="250"/>
                                  </p:stCondLst>
                                  <p:endCondLst>
                                    <p:cond evt="begin" delay="0">
                                      <p:tn val="73"/>
                                    </p:cond>
                                  </p:endCondLst>
                                  <p:childTnLst>
                                    <p:set>
                                      <p:cBhvr>
                                        <p:cTn id="74" dur="1" fill="hold">
                                          <p:stCondLst>
                                            <p:cond delay="0"/>
                                          </p:stCondLst>
                                        </p:cTn>
                                        <p:tgtEl>
                                          <p:spTgt spid="48">
                                            <p:txEl>
                                              <p:pRg st="0" end="0"/>
                                            </p:txEl>
                                          </p:spTgt>
                                        </p:tgtEl>
                                        <p:attrNameLst>
                                          <p:attrName>style.visibility</p:attrName>
                                        </p:attrNameLst>
                                      </p:cBhvr>
                                      <p:to>
                                        <p:strVal val="visible"/>
                                      </p:to>
                                    </p:set>
                                    <p:anim calcmode="lin" valueType="num">
                                      <p:cBhvr additive="base">
                                        <p:cTn id="75"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48">
                                            <p:txEl>
                                              <p:pRg st="0" end="0"/>
                                            </p:txEl>
                                          </p:spTgt>
                                        </p:tgtEl>
                                        <p:attrNameLst>
                                          <p:attrName>ppt_y</p:attrName>
                                        </p:attrNameLst>
                                      </p:cBhvr>
                                      <p:tavLst>
                                        <p:tav tm="0">
                                          <p:val>
                                            <p:strVal val="1+#ppt_h/2"/>
                                          </p:val>
                                        </p:tav>
                                        <p:tav tm="100000">
                                          <p:val>
                                            <p:strVal val="#ppt_y"/>
                                          </p:val>
                                        </p:tav>
                                      </p:tavLst>
                                    </p:anim>
                                  </p:childTnLst>
                                </p:cTn>
                              </p:par>
                            </p:childTnLst>
                          </p:cTn>
                        </p:par>
                        <p:par>
                          <p:cTn id="77" fill="hold">
                            <p:stCondLst>
                              <p:cond delay="2500"/>
                            </p:stCondLst>
                            <p:childTnLst>
                              <p:par>
                                <p:cTn id="78" presetID="22" presetClass="entr" presetSubtype="8" fill="hold" nodeType="after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wipe(left)">
                                      <p:cBhvr>
                                        <p:cTn id="80" dur="500"/>
                                        <p:tgtEl>
                                          <p:spTgt spid="16"/>
                                        </p:tgtEl>
                                      </p:cBhvr>
                                    </p:animEffect>
                                  </p:childTnLst>
                                </p:cTn>
                              </p:par>
                              <p:par>
                                <p:cTn id="81" presetID="10" presetClass="entr" presetSubtype="0" fill="hold" grpId="0" nodeType="withEffect">
                                  <p:stCondLst>
                                    <p:cond delay="250"/>
                                  </p:stCondLst>
                                  <p:childTnLst>
                                    <p:set>
                                      <p:cBhvr>
                                        <p:cTn id="82" dur="1" fill="hold">
                                          <p:stCondLst>
                                            <p:cond delay="0"/>
                                          </p:stCondLst>
                                        </p:cTn>
                                        <p:tgtEl>
                                          <p:spTgt spid="7">
                                            <p:bg/>
                                          </p:spTgt>
                                        </p:tgtEl>
                                        <p:attrNameLst>
                                          <p:attrName>style.visibility</p:attrName>
                                        </p:attrNameLst>
                                      </p:cBhvr>
                                      <p:to>
                                        <p:strVal val="visible"/>
                                      </p:to>
                                    </p:set>
                                    <p:animEffect transition="in" filter="fade">
                                      <p:cBhvr>
                                        <p:cTn id="83" dur="250"/>
                                        <p:tgtEl>
                                          <p:spTgt spid="7">
                                            <p:bg/>
                                          </p:spTgt>
                                        </p:tgtEl>
                                      </p:cBhvr>
                                    </p:animEffect>
                                  </p:childTnLst>
                                </p:cTn>
                              </p:par>
                              <p:par>
                                <p:cTn id="84" presetID="10" presetClass="entr" presetSubtype="0" fill="hold" grpId="0" nodeType="withEffect">
                                  <p:stCondLst>
                                    <p:cond delay="250"/>
                                  </p:stCondLst>
                                  <p:childTnLst>
                                    <p:set>
                                      <p:cBhvr>
                                        <p:cTn id="85" dur="1" fill="hold">
                                          <p:stCondLst>
                                            <p:cond delay="0"/>
                                          </p:stCondLst>
                                        </p:cTn>
                                        <p:tgtEl>
                                          <p:spTgt spid="7">
                                            <p:txEl>
                                              <p:pRg st="0" end="0"/>
                                            </p:txEl>
                                          </p:spTgt>
                                        </p:tgtEl>
                                        <p:attrNameLst>
                                          <p:attrName>style.visibility</p:attrName>
                                        </p:attrNameLst>
                                      </p:cBhvr>
                                      <p:to>
                                        <p:strVal val="visible"/>
                                      </p:to>
                                    </p:set>
                                    <p:animEffect transition="in" filter="fade">
                                      <p:cBhvr>
                                        <p:cTn id="86" dur="250"/>
                                        <p:tgtEl>
                                          <p:spTgt spid="7">
                                            <p:txEl>
                                              <p:pRg st="0" end="0"/>
                                            </p:txEl>
                                          </p:spTgt>
                                        </p:tgtEl>
                                      </p:cBhvr>
                                    </p:animEffect>
                                  </p:childTnLst>
                                </p:cTn>
                              </p:par>
                            </p:childTnLst>
                          </p:cTn>
                        </p:par>
                        <p:par>
                          <p:cTn id="87" fill="hold">
                            <p:stCondLst>
                              <p:cond delay="3000"/>
                            </p:stCondLst>
                            <p:childTnLst>
                              <p:par>
                                <p:cTn id="88" presetID="10" presetClass="entr" presetSubtype="0" fill="hold" grpId="0" nodeType="afterEffect">
                                  <p:stCondLst>
                                    <p:cond delay="0"/>
                                  </p:stCondLst>
                                  <p:childTnLst>
                                    <p:set>
                                      <p:cBhvr>
                                        <p:cTn id="89" dur="1" fill="hold">
                                          <p:stCondLst>
                                            <p:cond delay="0"/>
                                          </p:stCondLst>
                                        </p:cTn>
                                        <p:tgtEl>
                                          <p:spTgt spid="7">
                                            <p:txEl>
                                              <p:pRg st="1" end="1"/>
                                            </p:txEl>
                                          </p:spTgt>
                                        </p:tgtEl>
                                        <p:attrNameLst>
                                          <p:attrName>style.visibility</p:attrName>
                                        </p:attrNameLst>
                                      </p:cBhvr>
                                      <p:to>
                                        <p:strVal val="visible"/>
                                      </p:to>
                                    </p:set>
                                    <p:animEffect transition="in" filter="fade">
                                      <p:cBhvr>
                                        <p:cTn id="90" dur="250"/>
                                        <p:tgtEl>
                                          <p:spTgt spid="7">
                                            <p:txEl>
                                              <p:pRg st="1" end="1"/>
                                            </p:txEl>
                                          </p:spTgt>
                                        </p:tgtEl>
                                      </p:cBhvr>
                                    </p:animEffect>
                                  </p:childTnLst>
                                </p:cTn>
                              </p:par>
                            </p:childTnLst>
                          </p:cTn>
                        </p:par>
                        <p:par>
                          <p:cTn id="91" fill="hold">
                            <p:stCondLst>
                              <p:cond delay="3250"/>
                            </p:stCondLst>
                            <p:childTnLst>
                              <p:par>
                                <p:cTn id="92" presetID="22" presetClass="entr" presetSubtype="2" fill="hold" nodeType="after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wipe(right)">
                                      <p:cBhvr>
                                        <p:cTn id="94" dur="500"/>
                                        <p:tgtEl>
                                          <p:spTgt spid="40"/>
                                        </p:tgtEl>
                                      </p:cBhvr>
                                    </p:animEffect>
                                  </p:childTnLst>
                                </p:cTn>
                              </p:par>
                              <p:par>
                                <p:cTn id="95" presetID="10" presetClass="entr" presetSubtype="0" fill="hold" grpId="0" nodeType="withEffect">
                                  <p:stCondLst>
                                    <p:cond delay="250"/>
                                  </p:stCondLst>
                                  <p:childTnLst>
                                    <p:set>
                                      <p:cBhvr>
                                        <p:cTn id="96" dur="1" fill="hold">
                                          <p:stCondLst>
                                            <p:cond delay="0"/>
                                          </p:stCondLst>
                                        </p:cTn>
                                        <p:tgtEl>
                                          <p:spTgt spid="8">
                                            <p:bg/>
                                          </p:spTgt>
                                        </p:tgtEl>
                                        <p:attrNameLst>
                                          <p:attrName>style.visibility</p:attrName>
                                        </p:attrNameLst>
                                      </p:cBhvr>
                                      <p:to>
                                        <p:strVal val="visible"/>
                                      </p:to>
                                    </p:set>
                                    <p:animEffect transition="in" filter="fade">
                                      <p:cBhvr>
                                        <p:cTn id="97" dur="250"/>
                                        <p:tgtEl>
                                          <p:spTgt spid="8">
                                            <p:bg/>
                                          </p:spTgt>
                                        </p:tgtEl>
                                      </p:cBhvr>
                                    </p:animEffect>
                                  </p:childTnLst>
                                </p:cTn>
                              </p:par>
                              <p:par>
                                <p:cTn id="98" presetID="10" presetClass="entr" presetSubtype="0" fill="hold" grpId="0" nodeType="withEffect">
                                  <p:stCondLst>
                                    <p:cond delay="250"/>
                                  </p:stCondLst>
                                  <p:childTnLst>
                                    <p:set>
                                      <p:cBhvr>
                                        <p:cTn id="99" dur="1" fill="hold">
                                          <p:stCondLst>
                                            <p:cond delay="0"/>
                                          </p:stCondLst>
                                        </p:cTn>
                                        <p:tgtEl>
                                          <p:spTgt spid="8">
                                            <p:txEl>
                                              <p:pRg st="0" end="0"/>
                                            </p:txEl>
                                          </p:spTgt>
                                        </p:tgtEl>
                                        <p:attrNameLst>
                                          <p:attrName>style.visibility</p:attrName>
                                        </p:attrNameLst>
                                      </p:cBhvr>
                                      <p:to>
                                        <p:strVal val="visible"/>
                                      </p:to>
                                    </p:set>
                                    <p:animEffect transition="in" filter="fade">
                                      <p:cBhvr>
                                        <p:cTn id="100" dur="250"/>
                                        <p:tgtEl>
                                          <p:spTgt spid="8">
                                            <p:txEl>
                                              <p:pRg st="0" end="0"/>
                                            </p:txEl>
                                          </p:spTgt>
                                        </p:tgtEl>
                                      </p:cBhvr>
                                    </p:animEffect>
                                  </p:childTnLst>
                                </p:cTn>
                              </p:par>
                            </p:childTnLst>
                          </p:cTn>
                        </p:par>
                        <p:par>
                          <p:cTn id="101" fill="hold">
                            <p:stCondLst>
                              <p:cond delay="3750"/>
                            </p:stCondLst>
                            <p:childTnLst>
                              <p:par>
                                <p:cTn id="102" presetID="10" presetClass="entr" presetSubtype="0" fill="hold" grpId="0" nodeType="afterEffect">
                                  <p:stCondLst>
                                    <p:cond delay="0"/>
                                  </p:stCondLst>
                                  <p:childTnLst>
                                    <p:set>
                                      <p:cBhvr>
                                        <p:cTn id="103" dur="1" fill="hold">
                                          <p:stCondLst>
                                            <p:cond delay="0"/>
                                          </p:stCondLst>
                                        </p:cTn>
                                        <p:tgtEl>
                                          <p:spTgt spid="8">
                                            <p:txEl>
                                              <p:pRg st="1" end="1"/>
                                            </p:txEl>
                                          </p:spTgt>
                                        </p:tgtEl>
                                        <p:attrNameLst>
                                          <p:attrName>style.visibility</p:attrName>
                                        </p:attrNameLst>
                                      </p:cBhvr>
                                      <p:to>
                                        <p:strVal val="visible"/>
                                      </p:to>
                                    </p:set>
                                    <p:animEffect transition="in" filter="fade">
                                      <p:cBhvr>
                                        <p:cTn id="104" dur="250"/>
                                        <p:tgtEl>
                                          <p:spTgt spid="8">
                                            <p:txEl>
                                              <p:pRg st="1" end="1"/>
                                            </p:txEl>
                                          </p:spTgt>
                                        </p:tgtEl>
                                      </p:cBhvr>
                                    </p:animEffect>
                                  </p:childTnLst>
                                </p:cTn>
                              </p:par>
                            </p:childTnLst>
                          </p:cTn>
                        </p:par>
                        <p:par>
                          <p:cTn id="105" fill="hold">
                            <p:stCondLst>
                              <p:cond delay="4000"/>
                            </p:stCondLst>
                            <p:childTnLst>
                              <p:par>
                                <p:cTn id="106" presetID="22" presetClass="entr" presetSubtype="8" fill="hold" nodeType="afterEffect">
                                  <p:stCondLst>
                                    <p:cond delay="0"/>
                                  </p:stCondLst>
                                  <p:childTnLst>
                                    <p:set>
                                      <p:cBhvr>
                                        <p:cTn id="107" dur="1" fill="hold">
                                          <p:stCondLst>
                                            <p:cond delay="0"/>
                                          </p:stCondLst>
                                        </p:cTn>
                                        <p:tgtEl>
                                          <p:spTgt spid="15"/>
                                        </p:tgtEl>
                                        <p:attrNameLst>
                                          <p:attrName>style.visibility</p:attrName>
                                        </p:attrNameLst>
                                      </p:cBhvr>
                                      <p:to>
                                        <p:strVal val="visible"/>
                                      </p:to>
                                    </p:set>
                                    <p:animEffect transition="in" filter="wipe(left)">
                                      <p:cBhvr>
                                        <p:cTn id="108" dur="500"/>
                                        <p:tgtEl>
                                          <p:spTgt spid="15"/>
                                        </p:tgtEl>
                                      </p:cBhvr>
                                    </p:animEffect>
                                  </p:childTnLst>
                                </p:cTn>
                              </p:par>
                            </p:childTnLst>
                          </p:cTn>
                        </p:par>
                        <p:par>
                          <p:cTn id="109" fill="hold">
                            <p:stCondLst>
                              <p:cond delay="4500"/>
                            </p:stCondLst>
                            <p:childTnLst>
                              <p:par>
                                <p:cTn id="110" presetID="22" presetClass="entr" presetSubtype="8" fill="hold" grpId="0" nodeType="afterEffect">
                                  <p:stCondLst>
                                    <p:cond delay="0"/>
                                  </p:stCondLst>
                                  <p:childTnLst>
                                    <p:set>
                                      <p:cBhvr>
                                        <p:cTn id="111" dur="1" fill="hold">
                                          <p:stCondLst>
                                            <p:cond delay="0"/>
                                          </p:stCondLst>
                                        </p:cTn>
                                        <p:tgtEl>
                                          <p:spTgt spid="10">
                                            <p:bg/>
                                          </p:spTgt>
                                        </p:tgtEl>
                                        <p:attrNameLst>
                                          <p:attrName>style.visibility</p:attrName>
                                        </p:attrNameLst>
                                      </p:cBhvr>
                                      <p:to>
                                        <p:strVal val="visible"/>
                                      </p:to>
                                    </p:set>
                                    <p:animEffect transition="in" filter="wipe(left)">
                                      <p:cBhvr>
                                        <p:cTn id="112" dur="500"/>
                                        <p:tgtEl>
                                          <p:spTgt spid="10">
                                            <p:bg/>
                                          </p:spTgt>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10">
                                            <p:txEl>
                                              <p:pRg st="0" end="0"/>
                                            </p:txEl>
                                          </p:spTgt>
                                        </p:tgtEl>
                                        <p:attrNameLst>
                                          <p:attrName>style.visibility</p:attrName>
                                        </p:attrNameLst>
                                      </p:cBhvr>
                                      <p:to>
                                        <p:strVal val="visible"/>
                                      </p:to>
                                    </p:set>
                                    <p:animEffect transition="in" filter="wipe(left)">
                                      <p:cBhvr>
                                        <p:cTn id="115" dur="500"/>
                                        <p:tgtEl>
                                          <p:spTgt spid="10">
                                            <p:txEl>
                                              <p:pRg st="0" end="0"/>
                                            </p:txEl>
                                          </p:spTgt>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10">
                                            <p:txEl>
                                              <p:pRg st="1" end="1"/>
                                            </p:txEl>
                                          </p:spTgt>
                                        </p:tgtEl>
                                        <p:attrNameLst>
                                          <p:attrName>style.visibility</p:attrName>
                                        </p:attrNameLst>
                                      </p:cBhvr>
                                      <p:to>
                                        <p:strVal val="visible"/>
                                      </p:to>
                                    </p:set>
                                    <p:animEffect transition="in" filter="wipe(left)">
                                      <p:cBhvr>
                                        <p:cTn id="118" dur="500"/>
                                        <p:tgtEl>
                                          <p:spTgt spid="10">
                                            <p:txEl>
                                              <p:pRg st="1" end="1"/>
                                            </p:txEl>
                                          </p:spTgt>
                                        </p:tgtEl>
                                      </p:cBhvr>
                                    </p:animEffect>
                                  </p:childTnLst>
                                </p:cTn>
                              </p:par>
                            </p:childTnLst>
                          </p:cTn>
                        </p:par>
                        <p:par>
                          <p:cTn id="119" fill="hold">
                            <p:stCondLst>
                              <p:cond delay="5000"/>
                            </p:stCondLst>
                            <p:childTnLst>
                              <p:par>
                                <p:cTn id="120" presetID="22" presetClass="entr" presetSubtype="8" fill="hold" nodeType="afterEffect">
                                  <p:stCondLst>
                                    <p:cond delay="0"/>
                                  </p:stCondLst>
                                  <p:childTnLst>
                                    <p:set>
                                      <p:cBhvr>
                                        <p:cTn id="121" dur="1" fill="hold">
                                          <p:stCondLst>
                                            <p:cond delay="0"/>
                                          </p:stCondLst>
                                        </p:cTn>
                                        <p:tgtEl>
                                          <p:spTgt spid="18"/>
                                        </p:tgtEl>
                                        <p:attrNameLst>
                                          <p:attrName>style.visibility</p:attrName>
                                        </p:attrNameLst>
                                      </p:cBhvr>
                                      <p:to>
                                        <p:strVal val="visible"/>
                                      </p:to>
                                    </p:set>
                                    <p:animEffect transition="in" filter="wipe(left)">
                                      <p:cBhvr>
                                        <p:cTn id="122" dur="500"/>
                                        <p:tgtEl>
                                          <p:spTgt spid="18"/>
                                        </p:tgtEl>
                                      </p:cBhvr>
                                    </p:animEffect>
                                  </p:childTnLst>
                                </p:cTn>
                              </p:par>
                              <p:par>
                                <p:cTn id="123" presetID="10" presetClass="entr" presetSubtype="0" fill="hold" grpId="0" nodeType="withEffect">
                                  <p:stCondLst>
                                    <p:cond delay="250"/>
                                  </p:stCondLst>
                                  <p:childTnLst>
                                    <p:set>
                                      <p:cBhvr>
                                        <p:cTn id="124" dur="1" fill="hold">
                                          <p:stCondLst>
                                            <p:cond delay="0"/>
                                          </p:stCondLst>
                                        </p:cTn>
                                        <p:tgtEl>
                                          <p:spTgt spid="11">
                                            <p:bg/>
                                          </p:spTgt>
                                        </p:tgtEl>
                                        <p:attrNameLst>
                                          <p:attrName>style.visibility</p:attrName>
                                        </p:attrNameLst>
                                      </p:cBhvr>
                                      <p:to>
                                        <p:strVal val="visible"/>
                                      </p:to>
                                    </p:set>
                                    <p:animEffect transition="in" filter="fade">
                                      <p:cBhvr>
                                        <p:cTn id="125" dur="250"/>
                                        <p:tgtEl>
                                          <p:spTgt spid="11">
                                            <p:bg/>
                                          </p:spTgt>
                                        </p:tgtEl>
                                      </p:cBhvr>
                                    </p:animEffect>
                                  </p:childTnLst>
                                </p:cTn>
                              </p:par>
                              <p:par>
                                <p:cTn id="126" presetID="10" presetClass="entr" presetSubtype="0" fill="hold" grpId="0" nodeType="withEffect">
                                  <p:stCondLst>
                                    <p:cond delay="250"/>
                                  </p:stCondLst>
                                  <p:childTnLst>
                                    <p:set>
                                      <p:cBhvr>
                                        <p:cTn id="127" dur="1" fill="hold">
                                          <p:stCondLst>
                                            <p:cond delay="0"/>
                                          </p:stCondLst>
                                        </p:cTn>
                                        <p:tgtEl>
                                          <p:spTgt spid="11">
                                            <p:txEl>
                                              <p:pRg st="0" end="0"/>
                                            </p:txEl>
                                          </p:spTgt>
                                        </p:tgtEl>
                                        <p:attrNameLst>
                                          <p:attrName>style.visibility</p:attrName>
                                        </p:attrNameLst>
                                      </p:cBhvr>
                                      <p:to>
                                        <p:strVal val="visible"/>
                                      </p:to>
                                    </p:set>
                                    <p:animEffect transition="in" filter="fade">
                                      <p:cBhvr>
                                        <p:cTn id="128" dur="250"/>
                                        <p:tgtEl>
                                          <p:spTgt spid="11">
                                            <p:txEl>
                                              <p:pRg st="0" end="0"/>
                                            </p:txEl>
                                          </p:spTgt>
                                        </p:tgtEl>
                                      </p:cBhvr>
                                    </p:animEffect>
                                  </p:childTnLst>
                                </p:cTn>
                              </p:par>
                            </p:childTnLst>
                          </p:cTn>
                        </p:par>
                        <p:par>
                          <p:cTn id="129" fill="hold">
                            <p:stCondLst>
                              <p:cond delay="5500"/>
                            </p:stCondLst>
                            <p:childTnLst>
                              <p:par>
                                <p:cTn id="130" presetID="10" presetClass="entr" presetSubtype="0" fill="hold" grpId="0" nodeType="afterEffect">
                                  <p:stCondLst>
                                    <p:cond delay="0"/>
                                  </p:stCondLst>
                                  <p:childTnLst>
                                    <p:set>
                                      <p:cBhvr>
                                        <p:cTn id="131" dur="1" fill="hold">
                                          <p:stCondLst>
                                            <p:cond delay="0"/>
                                          </p:stCondLst>
                                        </p:cTn>
                                        <p:tgtEl>
                                          <p:spTgt spid="11">
                                            <p:txEl>
                                              <p:pRg st="1" end="1"/>
                                            </p:txEl>
                                          </p:spTgt>
                                        </p:tgtEl>
                                        <p:attrNameLst>
                                          <p:attrName>style.visibility</p:attrName>
                                        </p:attrNameLst>
                                      </p:cBhvr>
                                      <p:to>
                                        <p:strVal val="visible"/>
                                      </p:to>
                                    </p:set>
                                    <p:animEffect transition="in" filter="fade">
                                      <p:cBhvr>
                                        <p:cTn id="132" dur="25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3" grpId="0" uiExpand="1" build="p" animBg="1"/>
      <p:bldP spid="7" grpId="0" uiExpand="1" build="p" animBg="1"/>
      <p:bldP spid="8" grpId="0" uiExpand="1" build="p" animBg="1"/>
      <p:bldP spid="10" grpId="0" uiExpand="1" build="allAtOnce" animBg="1"/>
      <p:bldP spid="11" grpId="0" uiExpand="1" build="p" animBg="1"/>
      <p:bldP spid="42" grpId="0" build="allAtOnce"/>
      <p:bldP spid="43" grpId="0" animBg="1"/>
      <p:bldP spid="46" grpId="0" uiExpand="1" build="allAtOnce" animBg="1"/>
      <p:bldP spid="47" grpId="0" build="allAtOnce" animBg="1"/>
      <p:bldP spid="48" grpId="0" build="allAtOnce"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52E27-6131-DA6C-B0D9-2AA810504A1F}"/>
            </a:ext>
          </a:extLst>
        </p:cNvPr>
        <p:cNvGrpSpPr/>
        <p:nvPr/>
      </p:nvGrpSpPr>
      <p:grpSpPr>
        <a:xfrm>
          <a:off x="0" y="0"/>
          <a:ext cx="0" cy="0"/>
          <a:chOff x="0" y="0"/>
          <a:chExt cx="0" cy="0"/>
        </a:xfrm>
      </p:grpSpPr>
      <p:grpSp>
        <p:nvGrpSpPr>
          <p:cNvPr id="4" name="Group 28">
            <a:extLst>
              <a:ext uri="{FF2B5EF4-FFF2-40B4-BE49-F238E27FC236}">
                <a16:creationId xmlns:a16="http://schemas.microsoft.com/office/drawing/2014/main" id="{26E1396E-6E58-C903-A2AF-6DE2B672BC82}"/>
              </a:ext>
            </a:extLst>
          </p:cNvPr>
          <p:cNvGrpSpPr/>
          <p:nvPr/>
        </p:nvGrpSpPr>
        <p:grpSpPr>
          <a:xfrm>
            <a:off x="0" y="78191"/>
            <a:ext cx="8999538" cy="598282"/>
            <a:chOff x="0" y="-38100"/>
            <a:chExt cx="4355842" cy="444500"/>
          </a:xfrm>
        </p:grpSpPr>
        <p:sp>
          <p:nvSpPr>
            <p:cNvPr id="5" name="Freeform 29">
              <a:extLst>
                <a:ext uri="{FF2B5EF4-FFF2-40B4-BE49-F238E27FC236}">
                  <a16:creationId xmlns:a16="http://schemas.microsoft.com/office/drawing/2014/main" id="{9183BBFB-0002-A298-9FEF-27005A412508}"/>
                </a:ext>
              </a:extLst>
            </p:cNvPr>
            <p:cNvSpPr/>
            <p:nvPr/>
          </p:nvSpPr>
          <p:spPr>
            <a:xfrm>
              <a:off x="0" y="0"/>
              <a:ext cx="4355842" cy="406400"/>
            </a:xfrm>
            <a:prstGeom prst="rect">
              <a:avLst/>
            </a:prstGeom>
            <a:gradFill rotWithShape="1">
              <a:gsLst>
                <a:gs pos="0">
                  <a:srgbClr val="042882">
                    <a:alpha val="100000"/>
                  </a:srgbClr>
                </a:gs>
                <a:gs pos="100000">
                  <a:srgbClr val="2A83D0">
                    <a:alpha val="100000"/>
                  </a:srgbClr>
                </a:gs>
              </a:gsLst>
              <a:lin ang="0"/>
            </a:gradFill>
          </p:spPr>
          <p:txBody>
            <a:bodyPr lIns="270000"/>
            <a:lstStyle/>
            <a:p>
              <a:r>
                <a:rPr lang="en-US" sz="2800" b="1" dirty="0">
                  <a:solidFill>
                    <a:schemeClr val="bg1"/>
                  </a:solidFill>
                  <a:latin typeface="Times New Roman" panose="02020603050405020304" pitchFamily="18" charset="0"/>
                  <a:cs typeface="Times New Roman" panose="02020603050405020304" pitchFamily="18" charset="0"/>
                </a:rPr>
                <a:t>CONCLUSION &amp; FUTURE SCOPE</a:t>
              </a: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TextBox 30">
              <a:extLst>
                <a:ext uri="{FF2B5EF4-FFF2-40B4-BE49-F238E27FC236}">
                  <a16:creationId xmlns:a16="http://schemas.microsoft.com/office/drawing/2014/main" id="{AC81BC52-0571-13D8-35F4-3C7652A48AFC}"/>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grpSp>
        <p:nvGrpSpPr>
          <p:cNvPr id="11" name="Group 10">
            <a:extLst>
              <a:ext uri="{FF2B5EF4-FFF2-40B4-BE49-F238E27FC236}">
                <a16:creationId xmlns:a16="http://schemas.microsoft.com/office/drawing/2014/main" id="{91FF6B4E-0232-287C-B2E1-A887B79B39F0}"/>
              </a:ext>
            </a:extLst>
          </p:cNvPr>
          <p:cNvGrpSpPr/>
          <p:nvPr/>
        </p:nvGrpSpPr>
        <p:grpSpPr>
          <a:xfrm>
            <a:off x="377550" y="1207261"/>
            <a:ext cx="8008283" cy="1786229"/>
            <a:chOff x="377550" y="739152"/>
            <a:chExt cx="8008283" cy="1786229"/>
          </a:xfrm>
        </p:grpSpPr>
        <p:sp>
          <p:nvSpPr>
            <p:cNvPr id="2" name="TextBox 1">
              <a:extLst>
                <a:ext uri="{FF2B5EF4-FFF2-40B4-BE49-F238E27FC236}">
                  <a16:creationId xmlns:a16="http://schemas.microsoft.com/office/drawing/2014/main" id="{4EE07736-4C15-A240-0443-8638F649E33F}"/>
                </a:ext>
              </a:extLst>
            </p:cNvPr>
            <p:cNvSpPr txBox="1"/>
            <p:nvPr/>
          </p:nvSpPr>
          <p:spPr>
            <a:xfrm>
              <a:off x="377550" y="1325052"/>
              <a:ext cx="8008283" cy="1200329"/>
            </a:xfrm>
            <a:prstGeom prst="rect">
              <a:avLst/>
            </a:prstGeom>
            <a:noFill/>
          </p:spPr>
          <p:txBody>
            <a:bodyPr wrap="none" rtlCol="0">
              <a:spAutoFit/>
            </a:bodyPr>
            <a:lstStyle/>
            <a:p>
              <a:pPr marL="285750" indent="-285750">
                <a:buFont typeface="Wingdings" panose="05000000000000000000" pitchFamily="2" charset="2"/>
                <a:buChar char="v"/>
              </a:pPr>
              <a:r>
                <a:rPr lang="en-IN" dirty="0"/>
                <a:t>Real-time pothole detection achieved using YOLOv4-Tiny → fast + accurate </a:t>
              </a:r>
            </a:p>
            <a:p>
              <a:pPr marL="285750" indent="-285750">
                <a:buFont typeface="Wingdings" panose="05000000000000000000" pitchFamily="2" charset="2"/>
                <a:buChar char="v"/>
              </a:pPr>
              <a:r>
                <a:rPr lang="en-IN" dirty="0"/>
                <a:t>Severity-based classification + GPS logging → structured geospatial database </a:t>
              </a:r>
            </a:p>
            <a:p>
              <a:pPr marL="285750" indent="-285750">
                <a:buFont typeface="Wingdings" panose="05000000000000000000" pitchFamily="2" charset="2"/>
                <a:buChar char="v"/>
              </a:pPr>
              <a:r>
                <a:rPr lang="en-IN" dirty="0"/>
                <a:t>Live map dashboard + Haversine-based alerts → effective driver warning system </a:t>
              </a:r>
            </a:p>
            <a:p>
              <a:pPr marL="285750" indent="-285750">
                <a:buFont typeface="Wingdings" panose="05000000000000000000" pitchFamily="2" charset="2"/>
                <a:buChar char="v"/>
              </a:pPr>
              <a:r>
                <a:rPr lang="en-IN" dirty="0"/>
                <a:t>Solution proves low-cost, scalable, and deployable for real-world road safety</a:t>
              </a:r>
            </a:p>
          </p:txBody>
        </p:sp>
        <p:sp>
          <p:nvSpPr>
            <p:cNvPr id="3" name="TextBox 2">
              <a:extLst>
                <a:ext uri="{FF2B5EF4-FFF2-40B4-BE49-F238E27FC236}">
                  <a16:creationId xmlns:a16="http://schemas.microsoft.com/office/drawing/2014/main" id="{53E3FB84-C347-1C0B-B808-9E112B9485DF}"/>
                </a:ext>
              </a:extLst>
            </p:cNvPr>
            <p:cNvSpPr txBox="1"/>
            <p:nvPr/>
          </p:nvSpPr>
          <p:spPr>
            <a:xfrm>
              <a:off x="377550" y="739152"/>
              <a:ext cx="1806905" cy="523220"/>
            </a:xfrm>
            <a:prstGeom prst="rect">
              <a:avLst/>
            </a:prstGeom>
            <a:noFill/>
          </p:spPr>
          <p:txBody>
            <a:bodyPr wrap="none" rtlCol="0">
              <a:spAutoFit/>
            </a:bodyPr>
            <a:lstStyle/>
            <a:p>
              <a:r>
                <a:rPr lang="en-IN" sz="2800" b="1" dirty="0">
                  <a:solidFill>
                    <a:schemeClr val="accent1">
                      <a:lumMod val="75000"/>
                    </a:schemeClr>
                  </a:solidFill>
                </a:rPr>
                <a:t>Conclusion</a:t>
              </a:r>
            </a:p>
          </p:txBody>
        </p:sp>
      </p:grpSp>
      <p:grpSp>
        <p:nvGrpSpPr>
          <p:cNvPr id="10" name="Group 9">
            <a:extLst>
              <a:ext uri="{FF2B5EF4-FFF2-40B4-BE49-F238E27FC236}">
                <a16:creationId xmlns:a16="http://schemas.microsoft.com/office/drawing/2014/main" id="{A81545D6-3501-7E37-CB2F-D775FAC643FC}"/>
              </a:ext>
            </a:extLst>
          </p:cNvPr>
          <p:cNvGrpSpPr/>
          <p:nvPr/>
        </p:nvGrpSpPr>
        <p:grpSpPr>
          <a:xfrm>
            <a:off x="377550" y="3408421"/>
            <a:ext cx="8008283" cy="1783658"/>
            <a:chOff x="377550" y="2650740"/>
            <a:chExt cx="8008283" cy="1783658"/>
          </a:xfrm>
        </p:grpSpPr>
        <p:sp>
          <p:nvSpPr>
            <p:cNvPr id="7" name="TextBox 6">
              <a:extLst>
                <a:ext uri="{FF2B5EF4-FFF2-40B4-BE49-F238E27FC236}">
                  <a16:creationId xmlns:a16="http://schemas.microsoft.com/office/drawing/2014/main" id="{45D43752-138E-DDA7-0027-448394962FE6}"/>
                </a:ext>
              </a:extLst>
            </p:cNvPr>
            <p:cNvSpPr txBox="1"/>
            <p:nvPr/>
          </p:nvSpPr>
          <p:spPr>
            <a:xfrm>
              <a:off x="377550" y="3234069"/>
              <a:ext cx="8008283" cy="1200329"/>
            </a:xfrm>
            <a:prstGeom prst="rect">
              <a:avLst/>
            </a:prstGeom>
            <a:noFill/>
          </p:spPr>
          <p:txBody>
            <a:bodyPr wrap="square" rtlCol="0">
              <a:spAutoFit/>
            </a:bodyPr>
            <a:lstStyle/>
            <a:p>
              <a:pPr marL="285750" indent="-285750">
                <a:buFont typeface="Wingdings" panose="05000000000000000000" pitchFamily="2" charset="2"/>
                <a:buChar char="v"/>
              </a:pPr>
              <a:r>
                <a:rPr lang="en-IN" b="1" dirty="0"/>
                <a:t>Material cost calculator</a:t>
              </a:r>
              <a:r>
                <a:rPr lang="en-IN" dirty="0"/>
                <a:t> → estimate repair material (asphalt/bitumen) quantity + cost based on pothole size/severity </a:t>
              </a:r>
            </a:p>
            <a:p>
              <a:pPr marL="285750" indent="-285750">
                <a:buFont typeface="Wingdings" panose="05000000000000000000" pitchFamily="2" charset="2"/>
                <a:buChar char="v"/>
              </a:pPr>
              <a:r>
                <a:rPr lang="en-IN" dirty="0"/>
                <a:t>Integration with </a:t>
              </a:r>
              <a:r>
                <a:rPr lang="en-IN" b="1" dirty="0"/>
                <a:t>government/municipal complaint portals</a:t>
              </a:r>
              <a:r>
                <a:rPr lang="en-IN" dirty="0"/>
                <a:t> → auto-report severe potholes for repair</a:t>
              </a:r>
            </a:p>
          </p:txBody>
        </p:sp>
        <p:sp>
          <p:nvSpPr>
            <p:cNvPr id="8" name="TextBox 7">
              <a:extLst>
                <a:ext uri="{FF2B5EF4-FFF2-40B4-BE49-F238E27FC236}">
                  <a16:creationId xmlns:a16="http://schemas.microsoft.com/office/drawing/2014/main" id="{3E29CCAE-488F-B531-E5AC-B4ABCB882498}"/>
                </a:ext>
              </a:extLst>
            </p:cNvPr>
            <p:cNvSpPr txBox="1"/>
            <p:nvPr/>
          </p:nvSpPr>
          <p:spPr>
            <a:xfrm>
              <a:off x="377550" y="2650740"/>
              <a:ext cx="2131353" cy="523220"/>
            </a:xfrm>
            <a:prstGeom prst="rect">
              <a:avLst/>
            </a:prstGeom>
            <a:noFill/>
          </p:spPr>
          <p:txBody>
            <a:bodyPr wrap="none" rtlCol="0">
              <a:spAutoFit/>
            </a:bodyPr>
            <a:lstStyle/>
            <a:p>
              <a:r>
                <a:rPr lang="en-IN" sz="2800" b="1" dirty="0">
                  <a:solidFill>
                    <a:schemeClr val="accent1">
                      <a:lumMod val="75000"/>
                    </a:schemeClr>
                  </a:solidFill>
                </a:rPr>
                <a:t>Future Scope</a:t>
              </a:r>
            </a:p>
          </p:txBody>
        </p:sp>
      </p:grpSp>
    </p:spTree>
    <p:extLst>
      <p:ext uri="{BB962C8B-B14F-4D97-AF65-F5344CB8AC3E}">
        <p14:creationId xmlns:p14="http://schemas.microsoft.com/office/powerpoint/2010/main" val="109370273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2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15F47A66-6A16-A2DA-4391-046F577EDC5F}"/>
              </a:ext>
            </a:extLst>
          </p:cNvPr>
          <p:cNvSpPr txBox="1"/>
          <p:nvPr/>
        </p:nvSpPr>
        <p:spPr>
          <a:xfrm>
            <a:off x="2591385" y="4602949"/>
            <a:ext cx="3816768" cy="1156501"/>
          </a:xfrm>
          <a:prstGeom prst="rect">
            <a:avLst/>
          </a:prstGeom>
        </p:spPr>
        <p:txBody>
          <a:bodyPr wrap="square" lIns="0" tIns="0" rIns="0" bIns="0" rtlCol="0" anchor="t">
            <a:spAutoFit/>
          </a:bodyPr>
          <a:lstStyle/>
          <a:p>
            <a:pPr algn="ctr">
              <a:lnSpc>
                <a:spcPts val="10517"/>
              </a:lnSpc>
            </a:pPr>
            <a:r>
              <a:rPr lang="en-US" sz="4921" b="1" dirty="0">
                <a:solidFill>
                  <a:srgbClr val="0D358D"/>
                </a:solidFill>
                <a:latin typeface="Arial" panose="020B0604020202020204" pitchFamily="34" charset="0"/>
                <a:ea typeface="Aileron Ultra-Bold"/>
                <a:cs typeface="Arial" panose="020B0604020202020204" pitchFamily="34" charset="0"/>
                <a:sym typeface="Aileron Ultra-Bold"/>
              </a:rPr>
              <a:t>Thank You</a:t>
            </a:r>
          </a:p>
        </p:txBody>
      </p:sp>
    </p:spTree>
    <p:extLst>
      <p:ext uri="{BB962C8B-B14F-4D97-AF65-F5344CB8AC3E}">
        <p14:creationId xmlns:p14="http://schemas.microsoft.com/office/powerpoint/2010/main" val="1882378288"/>
      </p:ext>
    </p:extLst>
  </p:cSld>
  <p:clrMapOvr>
    <a:masterClrMapping/>
  </p:clrMapOvr>
  <mc:AlternateContent xmlns:mc="http://schemas.openxmlformats.org/markup-compatibility/2006" xmlns:p14="http://schemas.microsoft.com/office/powerpoint/2010/main">
    <mc:Choice Requires="p14">
      <p:transition p14:dur="10" advClick="0" advTm="1000"/>
    </mc:Choice>
    <mc:Fallback xmlns="">
      <p:transition advClick="0" advTm="1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4946A-74FA-28B9-B508-1159F3940A7A}"/>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218A4D17-4FBB-3835-5488-E1382FF42610}"/>
              </a:ext>
            </a:extLst>
          </p:cNvPr>
          <p:cNvSpPr txBox="1"/>
          <p:nvPr/>
        </p:nvSpPr>
        <p:spPr>
          <a:xfrm>
            <a:off x="210157" y="2256154"/>
            <a:ext cx="8579224" cy="1346522"/>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0517"/>
              </a:lnSpc>
            </a:pPr>
            <a:r>
              <a:rPr lang="en-US" sz="11500" b="1" dirty="0">
                <a:solidFill>
                  <a:srgbClr val="0D358D"/>
                </a:solidFill>
                <a:latin typeface="Arial" panose="020B0604020202020204" pitchFamily="34" charset="0"/>
                <a:ea typeface="Aileron Ultra-Bold"/>
                <a:cs typeface="Arial" panose="020B0604020202020204" pitchFamily="34" charset="0"/>
                <a:sym typeface="Aileron Ultra-Bold"/>
              </a:rPr>
              <a:t>Thank You</a:t>
            </a:r>
          </a:p>
        </p:txBody>
      </p:sp>
    </p:spTree>
    <p:extLst>
      <p:ext uri="{BB962C8B-B14F-4D97-AF65-F5344CB8AC3E}">
        <p14:creationId xmlns:p14="http://schemas.microsoft.com/office/powerpoint/2010/main" val="2692037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715</TotalTime>
  <Words>1406</Words>
  <Application>Microsoft Office PowerPoint</Application>
  <PresentationFormat>Custom</PresentationFormat>
  <Paragraphs>151</Paragraphs>
  <Slides>19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Century</vt:lpstr>
      <vt:lpstr>Engravers MT</vt:lpstr>
      <vt:lpstr>High Tower Text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Dixit</dc:creator>
  <cp:lastModifiedBy>Akarsh Singh</cp:lastModifiedBy>
  <cp:revision>20</cp:revision>
  <dcterms:created xsi:type="dcterms:W3CDTF">2026-07-09T06:40:22Z</dcterms:created>
  <dcterms:modified xsi:type="dcterms:W3CDTF">2026-07-14T07:44:06Z</dcterms:modified>
</cp:coreProperties>
</file>